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3" r:id="rId9"/>
    <p:sldId id="265" r:id="rId10"/>
    <p:sldId id="262" r:id="rId11"/>
    <p:sldId id="267" r:id="rId12"/>
    <p:sldId id="264" r:id="rId13"/>
    <p:sldId id="268" r:id="rId14"/>
    <p:sldId id="271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B5F02-D1F5-4A8C-9E16-879D2FAAE6D2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8E338-237A-4FD6-91E8-AE3330CCA9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1433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0081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26403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3062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91365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7352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519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60344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31674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1218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3733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9979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504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faelrav8770/ABD-E-J-26.git" TargetMode="External"/><Relationship Id="rId7" Type="http://schemas.openxmlformats.org/officeDocument/2006/relationships/hyperlink" Target="https://www.dongee.com/tutoriales/arquitectura-de-sistemas-gestores-de-bases-de-datos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virtual.itca.edu.sv/Mediadores/dbd/u2/11_arquitectura_del_sgbd.html" TargetMode="External"/><Relationship Id="rId5" Type="http://schemas.openxmlformats.org/officeDocument/2006/relationships/hyperlink" Target="https://naps.com.mx/blog/arquitectura-de-un-sistema-gestor-de-bases-de-datos/" TargetMode="External"/><Relationship Id="rId4" Type="http://schemas.openxmlformats.org/officeDocument/2006/relationships/hyperlink" Target="https://www.hostinger.com/mx/tutoriales/sgb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13792C0E-56A4-038E-25C8-41619E973B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1815" y="510540"/>
            <a:ext cx="5303520" cy="5836920"/>
          </a:xfrm>
          <a:prstGeom prst="rect">
            <a:avLst/>
          </a:prstGeom>
          <a:noFill/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76F1C2F9-DDFC-CBF2-E48A-E64DE4A37D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45905" y="46990"/>
            <a:ext cx="2301875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03E3447-738B-D8B1-B47D-8EBA647E114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7495" y="46990"/>
            <a:ext cx="1516380" cy="10896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29E7C584-C5C9-2730-50A7-5B38CB386E43}"/>
              </a:ext>
            </a:extLst>
          </p:cNvPr>
          <p:cNvSpPr txBox="1"/>
          <p:nvPr/>
        </p:nvSpPr>
        <p:spPr>
          <a:xfrm>
            <a:off x="1943100" y="374015"/>
            <a:ext cx="7124700" cy="799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TECNOLÓGICO NACIONAL DE MÉXICO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UNIDAD ACADÉMICA VENUSTIANO CARRANZA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4A9E771-2CE9-85CC-E1A4-169697077E49}"/>
              </a:ext>
            </a:extLst>
          </p:cNvPr>
          <p:cNvSpPr txBox="1"/>
          <p:nvPr/>
        </p:nvSpPr>
        <p:spPr>
          <a:xfrm>
            <a:off x="2550694" y="1329363"/>
            <a:ext cx="6096000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INGENIERÍA EN SISTEMAS COMPUTACIONALES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FA8327A-BF41-1978-27AD-7942D85077F5}"/>
              </a:ext>
            </a:extLst>
          </p:cNvPr>
          <p:cNvSpPr txBox="1"/>
          <p:nvPr/>
        </p:nvSpPr>
        <p:spPr>
          <a:xfrm>
            <a:off x="2550694" y="1824715"/>
            <a:ext cx="6517106" cy="119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ADMINISTRACION DE BASE DE DATOS 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2.1 –PRESENTACION ELECTRONICA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C3F20D4B-4AB8-951E-96AB-E5F9938AB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276835"/>
              </p:ext>
            </p:extLst>
          </p:nvPr>
        </p:nvGraphicFramePr>
        <p:xfrm>
          <a:off x="3249461" y="3714744"/>
          <a:ext cx="4505960" cy="762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3511045433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val="220619771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SEMESTRE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SEXTO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48842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NOMBRE DEL ALUMNO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MATRICULA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20187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Rafael Aquino Villanueva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231260073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394392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2BBA4D31-60C9-991B-3D34-3585F8C8348E}"/>
              </a:ext>
            </a:extLst>
          </p:cNvPr>
          <p:cNvSpPr txBox="1"/>
          <p:nvPr/>
        </p:nvSpPr>
        <p:spPr>
          <a:xfrm>
            <a:off x="4010525" y="3048181"/>
            <a:ext cx="2983833" cy="1165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PRESENTA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2284A4D-D83A-881E-63B3-639ACAB1ACB4}"/>
              </a:ext>
            </a:extLst>
          </p:cNvPr>
          <p:cNvSpPr txBox="1"/>
          <p:nvPr/>
        </p:nvSpPr>
        <p:spPr>
          <a:xfrm>
            <a:off x="2550694" y="4809176"/>
            <a:ext cx="6096000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b="1" kern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DOCENTE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ING. FRANCISCO JAVIER MINGO VELAZQUEZ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669DBE5-FAF1-35CF-08F0-D08353CB1B1B}"/>
              </a:ext>
            </a:extLst>
          </p:cNvPr>
          <p:cNvSpPr txBox="1"/>
          <p:nvPr/>
        </p:nvSpPr>
        <p:spPr>
          <a:xfrm>
            <a:off x="1793875" y="6265557"/>
            <a:ext cx="7812505" cy="107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26 </a:t>
            </a:r>
            <a:r>
              <a:rPr lang="es-MX" sz="2000" b="1" ker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 ABRIL </a:t>
            </a:r>
            <a:r>
              <a:rPr lang="es-MX" sz="20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 2026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VENUSTIANO CARRANZA, CHIAPAS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01011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44E9CF4-07C1-589A-D8E6-5D98A29AAC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0"/>
            <a:ext cx="4419600" cy="66294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84CBC850-8110-4627-1367-7008B731064F}"/>
              </a:ext>
            </a:extLst>
          </p:cNvPr>
          <p:cNvSpPr txBox="1"/>
          <p:nvPr/>
        </p:nvSpPr>
        <p:spPr>
          <a:xfrm>
            <a:off x="990600" y="912614"/>
            <a:ext cx="6522720" cy="131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accent1"/>
                </a:solidFill>
                <a:latin typeface="+mj-lt"/>
                <a:ea typeface="+mj-ea"/>
                <a:cs typeface="+mj-cs"/>
                <a:sym typeface="Arimo"/>
              </a:rPr>
              <a:t>Arquitectura</a:t>
            </a:r>
            <a:r>
              <a:rPr lang="en-US" sz="4400" b="1" dirty="0">
                <a:solidFill>
                  <a:schemeClr val="accent1"/>
                </a:solidFill>
                <a:latin typeface="+mj-lt"/>
                <a:ea typeface="+mj-ea"/>
                <a:cs typeface="+mj-cs"/>
                <a:sym typeface="Arimo"/>
              </a:rPr>
              <a:t> e </a:t>
            </a:r>
            <a:r>
              <a:rPr lang="en-US" sz="4400" b="1" dirty="0" err="1">
                <a:solidFill>
                  <a:schemeClr val="accent1"/>
                </a:solidFill>
                <a:latin typeface="+mj-lt"/>
                <a:ea typeface="+mj-ea"/>
                <a:cs typeface="+mj-cs"/>
                <a:sym typeface="Arimo"/>
              </a:rPr>
              <a:t>Instalación</a:t>
            </a:r>
            <a:r>
              <a:rPr lang="en-US" sz="4400" b="1" dirty="0">
                <a:solidFill>
                  <a:schemeClr val="accent1"/>
                </a:solidFill>
                <a:latin typeface="+mj-lt"/>
                <a:ea typeface="+mj-ea"/>
                <a:cs typeface="+mj-cs"/>
                <a:sym typeface="Arimo"/>
              </a:rPr>
              <a:t> de un SGBD</a:t>
            </a:r>
            <a:endParaRPr lang="es-MX" sz="44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8E0D566-9902-D2A7-5764-EA39CAD66385}"/>
              </a:ext>
            </a:extLst>
          </p:cNvPr>
          <p:cNvSpPr txBox="1"/>
          <p:nvPr/>
        </p:nvSpPr>
        <p:spPr>
          <a:xfrm>
            <a:off x="990599" y="3105834"/>
            <a:ext cx="65227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/>
              <a:t>Los Sistemas Gestores de Bases de Datos permiten almacenar y administrar información de manera eficiente.</a:t>
            </a:r>
          </a:p>
        </p:txBody>
      </p:sp>
    </p:spTree>
    <p:extLst>
      <p:ext uri="{BB962C8B-B14F-4D97-AF65-F5344CB8AC3E}">
        <p14:creationId xmlns:p14="http://schemas.microsoft.com/office/powerpoint/2010/main" val="577296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BB87C2-24F6-4D91-EA1B-DC41C96C9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INTRODUCCION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B47065-8929-D234-2149-B3C389108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s-MX" dirty="0"/>
              <a:t>Los datos son un recurso clave en los sistemas modernos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dirty="0"/>
              <a:t>Los SGBD permiten almacenar, organizar y administrar información de forma eficiente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dirty="0"/>
              <a:t> Se utilizan en entornos empresariales, aplicaciones y servicios digitales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dirty="0"/>
              <a:t>Aseguran la integridad, seguridad y disponibilidad de los datos</a:t>
            </a:r>
          </a:p>
        </p:txBody>
      </p:sp>
    </p:spTree>
    <p:extLst>
      <p:ext uri="{BB962C8B-B14F-4D97-AF65-F5344CB8AC3E}">
        <p14:creationId xmlns:p14="http://schemas.microsoft.com/office/powerpoint/2010/main" val="631736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31421-DD58-25D1-37BB-6ADA5D8B7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justificación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13233B-FBD6-B1B5-A397-5252A1E35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s-MX" dirty="0"/>
              <a:t>El estudio de los SGBD es importante porque permite comprender cómo se almacenan y gestionan los datos en sistemas modernos.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s-MX" dirty="0"/>
              <a:t>Esta actividad fortalece los conocimientos sobre su arquitectura, instalación y configuración, aspectos clave para garantizar la seguridad y el buen funcionamiento de la información en entornos reales.</a:t>
            </a:r>
          </a:p>
        </p:txBody>
      </p:sp>
    </p:spTree>
    <p:extLst>
      <p:ext uri="{BB962C8B-B14F-4D97-AF65-F5344CB8AC3E}">
        <p14:creationId xmlns:p14="http://schemas.microsoft.com/office/powerpoint/2010/main" val="3843822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DFCB149-4238-EC7A-55C5-B504EFA45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b="1" dirty="0">
                <a:solidFill>
                  <a:schemeClr val="accent1"/>
                </a:solidFill>
              </a:rPr>
              <a:t>¿</a:t>
            </a:r>
            <a:r>
              <a:rPr b="1" dirty="0" err="1">
                <a:solidFill>
                  <a:schemeClr val="accent1"/>
                </a:solidFill>
              </a:rPr>
              <a:t>Qué</a:t>
            </a:r>
            <a:r>
              <a:rPr b="1" dirty="0">
                <a:solidFill>
                  <a:schemeClr val="accent1"/>
                </a:solidFill>
              </a:rPr>
              <a:t> es un SGBD?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85C92C1-4376-4058-CFC1-59956F6E0A0C}"/>
              </a:ext>
            </a:extLst>
          </p:cNvPr>
          <p:cNvSpPr txBox="1"/>
          <p:nvPr/>
        </p:nvSpPr>
        <p:spPr>
          <a:xfrm>
            <a:off x="579120" y="1743551"/>
            <a:ext cx="6782972" cy="3924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499"/>
              </a:lnSpc>
            </a:pPr>
            <a:r>
              <a:rPr lang="en-US" sz="2800" dirty="0">
                <a:sym typeface="Poppins"/>
              </a:rPr>
              <a:t>Un </a:t>
            </a:r>
            <a:r>
              <a:rPr lang="en-US" sz="2800" dirty="0">
                <a:sym typeface="Poppins Bold"/>
              </a:rPr>
              <a:t>Sistema Gestor de Bases de Datos (SGBD)</a:t>
            </a:r>
            <a:r>
              <a:rPr lang="en-US" sz="2800" dirty="0">
                <a:sym typeface="Poppins"/>
              </a:rPr>
              <a:t> es un software </a:t>
            </a:r>
            <a:r>
              <a:rPr lang="en-US" sz="2800" dirty="0" err="1">
                <a:sym typeface="Poppins"/>
              </a:rPr>
              <a:t>especializado</a:t>
            </a:r>
            <a:r>
              <a:rPr lang="en-US" sz="2800" dirty="0">
                <a:sym typeface="Poppins"/>
              </a:rPr>
              <a:t> que </a:t>
            </a:r>
            <a:r>
              <a:rPr lang="en-US" sz="2800" dirty="0" err="1">
                <a:sym typeface="Poppins"/>
              </a:rPr>
              <a:t>permite</a:t>
            </a:r>
            <a:r>
              <a:rPr lang="en-US" sz="2800" dirty="0">
                <a:sym typeface="Poppins"/>
              </a:rPr>
              <a:t> </a:t>
            </a:r>
            <a:r>
              <a:rPr lang="en-US" sz="2800" dirty="0" err="1">
                <a:sym typeface="Poppins"/>
              </a:rPr>
              <a:t>crear</a:t>
            </a:r>
            <a:r>
              <a:rPr lang="en-US" sz="2800" dirty="0">
                <a:sym typeface="Poppins"/>
              </a:rPr>
              <a:t>, </a:t>
            </a:r>
            <a:r>
              <a:rPr lang="en-US" sz="2800" dirty="0" err="1">
                <a:sym typeface="Poppins"/>
              </a:rPr>
              <a:t>gestionar</a:t>
            </a:r>
            <a:r>
              <a:rPr lang="en-US" sz="2800" dirty="0">
                <a:sym typeface="Poppins"/>
              </a:rPr>
              <a:t> y </a:t>
            </a:r>
            <a:r>
              <a:rPr lang="en-US" sz="2800" dirty="0" err="1">
                <a:sym typeface="Poppins"/>
              </a:rPr>
              <a:t>administrar</a:t>
            </a:r>
            <a:r>
              <a:rPr lang="en-US" sz="2800" dirty="0">
                <a:sym typeface="Poppins"/>
              </a:rPr>
              <a:t> bases de </a:t>
            </a:r>
            <a:r>
              <a:rPr lang="en-US" sz="2800" dirty="0" err="1">
                <a:sym typeface="Poppins"/>
              </a:rPr>
              <a:t>datos</a:t>
            </a:r>
            <a:r>
              <a:rPr lang="en-US" sz="2800" dirty="0">
                <a:sym typeface="Poppins"/>
              </a:rPr>
              <a:t> de </a:t>
            </a:r>
            <a:r>
              <a:rPr lang="en-US" sz="2800" dirty="0" err="1">
                <a:sym typeface="Poppins"/>
              </a:rPr>
              <a:t>manera</a:t>
            </a:r>
            <a:r>
              <a:rPr lang="en-US" sz="2800" dirty="0">
                <a:sym typeface="Poppins"/>
              </a:rPr>
              <a:t> </a:t>
            </a:r>
            <a:r>
              <a:rPr lang="en-US" sz="2800" dirty="0" err="1">
                <a:sym typeface="Poppins"/>
              </a:rPr>
              <a:t>eficiente</a:t>
            </a:r>
            <a:r>
              <a:rPr lang="en-US" sz="2800" dirty="0">
                <a:sym typeface="Poppins"/>
              </a:rPr>
              <a:t> y </a:t>
            </a:r>
            <a:r>
              <a:rPr lang="en-US" sz="2800" dirty="0" err="1">
                <a:sym typeface="Poppins"/>
              </a:rPr>
              <a:t>segura</a:t>
            </a:r>
            <a:r>
              <a:rPr lang="en-US" sz="2800" dirty="0">
                <a:sym typeface="Poppins"/>
              </a:rPr>
              <a:t>.</a:t>
            </a:r>
          </a:p>
          <a:p>
            <a:pPr algn="just">
              <a:lnSpc>
                <a:spcPts val="2499"/>
              </a:lnSpc>
            </a:pPr>
            <a:r>
              <a:rPr lang="en-US" sz="2800" dirty="0">
                <a:sym typeface="Poppins"/>
              </a:rPr>
              <a:t>Su </a:t>
            </a:r>
            <a:r>
              <a:rPr lang="en-US" sz="2800" dirty="0" err="1">
                <a:sym typeface="Poppins"/>
              </a:rPr>
              <a:t>función</a:t>
            </a:r>
            <a:r>
              <a:rPr lang="en-US" sz="2800" dirty="0">
                <a:sym typeface="Poppins"/>
              </a:rPr>
              <a:t> principal es </a:t>
            </a:r>
            <a:r>
              <a:rPr lang="en-US" sz="2800" dirty="0" err="1">
                <a:sym typeface="Poppins"/>
              </a:rPr>
              <a:t>actuar</a:t>
            </a:r>
            <a:r>
              <a:rPr lang="en-US" sz="2800" dirty="0">
                <a:sym typeface="Poppins"/>
              </a:rPr>
              <a:t> como </a:t>
            </a:r>
            <a:r>
              <a:rPr lang="en-US" sz="2800" dirty="0" err="1">
                <a:sym typeface="Poppins Bold"/>
              </a:rPr>
              <a:t>interfaz</a:t>
            </a:r>
            <a:r>
              <a:rPr lang="en-US" sz="2800" dirty="0">
                <a:sym typeface="Poppins Bold"/>
              </a:rPr>
              <a:t> entre </a:t>
            </a:r>
            <a:r>
              <a:rPr lang="en-US" sz="2800" dirty="0" err="1">
                <a:sym typeface="Poppins Bold"/>
              </a:rPr>
              <a:t>los</a:t>
            </a:r>
            <a:r>
              <a:rPr lang="en-US" sz="2800" dirty="0">
                <a:sym typeface="Poppins Bold"/>
              </a:rPr>
              <a:t> </a:t>
            </a:r>
            <a:r>
              <a:rPr lang="en-US" sz="2800" dirty="0" err="1">
                <a:sym typeface="Poppins Bold"/>
              </a:rPr>
              <a:t>usuarios</a:t>
            </a:r>
            <a:r>
              <a:rPr lang="en-US" sz="2800" dirty="0">
                <a:sym typeface="Poppins Bold"/>
              </a:rPr>
              <a:t> y </a:t>
            </a:r>
            <a:r>
              <a:rPr lang="en-US" sz="2800" dirty="0" err="1">
                <a:sym typeface="Poppins Bold"/>
              </a:rPr>
              <a:t>los</a:t>
            </a:r>
            <a:r>
              <a:rPr lang="en-US" sz="2800" dirty="0">
                <a:sym typeface="Poppins Bold"/>
              </a:rPr>
              <a:t> </a:t>
            </a:r>
            <a:r>
              <a:rPr lang="en-US" sz="2800" dirty="0" err="1">
                <a:sym typeface="Poppins Bold"/>
              </a:rPr>
              <a:t>datos</a:t>
            </a:r>
            <a:r>
              <a:rPr lang="en-US" sz="2800" dirty="0">
                <a:sym typeface="Poppins"/>
              </a:rPr>
              <a:t>, </a:t>
            </a:r>
            <a:r>
              <a:rPr lang="en-US" sz="2800" dirty="0" err="1">
                <a:sym typeface="Poppins"/>
              </a:rPr>
              <a:t>garantizando</a:t>
            </a:r>
            <a:r>
              <a:rPr lang="en-US" sz="2800" dirty="0">
                <a:sym typeface="Poppins"/>
              </a:rPr>
              <a:t> la </a:t>
            </a:r>
            <a:r>
              <a:rPr lang="en-US" sz="2800" dirty="0" err="1">
                <a:sym typeface="Poppins"/>
              </a:rPr>
              <a:t>integridad</a:t>
            </a:r>
            <a:r>
              <a:rPr lang="en-US" sz="2800" dirty="0">
                <a:sym typeface="Poppins"/>
              </a:rPr>
              <a:t>, </a:t>
            </a:r>
            <a:r>
              <a:rPr lang="en-US" sz="2800" dirty="0" err="1">
                <a:sym typeface="Poppins"/>
              </a:rPr>
              <a:t>consistencia</a:t>
            </a:r>
            <a:r>
              <a:rPr lang="en-US" sz="2800" dirty="0">
                <a:sym typeface="Poppins"/>
              </a:rPr>
              <a:t> y </a:t>
            </a:r>
            <a:r>
              <a:rPr lang="en-US" sz="2800" dirty="0" err="1">
                <a:sym typeface="Poppins"/>
              </a:rPr>
              <a:t>disponibilidad</a:t>
            </a:r>
            <a:r>
              <a:rPr lang="en-US" sz="2800" dirty="0">
                <a:sym typeface="Poppins"/>
              </a:rPr>
              <a:t> de la </a:t>
            </a:r>
            <a:r>
              <a:rPr lang="en-US" sz="2800" dirty="0" err="1">
                <a:sym typeface="Poppins"/>
              </a:rPr>
              <a:t>información</a:t>
            </a:r>
            <a:r>
              <a:rPr lang="en-US" sz="2800" dirty="0">
                <a:sym typeface="Poppins"/>
              </a:rPr>
              <a:t> </a:t>
            </a:r>
            <a:r>
              <a:rPr lang="en-US" sz="2800" dirty="0" err="1">
                <a:sym typeface="Poppins"/>
              </a:rPr>
              <a:t>almacenada</a:t>
            </a:r>
            <a:r>
              <a:rPr lang="en-US" sz="2800" dirty="0">
                <a:sym typeface="Poppins"/>
              </a:rPr>
              <a:t>.</a:t>
            </a:r>
          </a:p>
          <a:p>
            <a:pPr algn="just">
              <a:lnSpc>
                <a:spcPts val="2499"/>
              </a:lnSpc>
            </a:pPr>
            <a:r>
              <a:rPr lang="en-US" sz="2800" dirty="0">
                <a:sym typeface="Poppins"/>
              </a:rPr>
              <a:t>hasta en </a:t>
            </a:r>
            <a:r>
              <a:rPr lang="en-US" sz="2800" dirty="0" err="1">
                <a:sym typeface="Poppins"/>
              </a:rPr>
              <a:t>sistemas</a:t>
            </a:r>
            <a:r>
              <a:rPr lang="en-US" sz="2800" dirty="0">
                <a:sym typeface="Poppins"/>
              </a:rPr>
              <a:t> </a:t>
            </a:r>
            <a:r>
              <a:rPr lang="en-US" sz="2800" dirty="0" err="1">
                <a:sym typeface="Poppins"/>
              </a:rPr>
              <a:t>empresariales</a:t>
            </a:r>
            <a:r>
              <a:rPr lang="en-US" sz="2800" dirty="0">
                <a:sym typeface="Poppins"/>
              </a:rPr>
              <a:t> </a:t>
            </a:r>
            <a:r>
              <a:rPr lang="en-US" sz="2800" dirty="0" err="1">
                <a:sym typeface="Poppins"/>
              </a:rPr>
              <a:t>complejos</a:t>
            </a:r>
            <a:r>
              <a:rPr lang="en-US" sz="2800" dirty="0">
                <a:sym typeface="Poppins"/>
              </a:rPr>
              <a:t> que </a:t>
            </a:r>
            <a:r>
              <a:rPr lang="en-US" sz="2800" dirty="0" err="1">
                <a:sym typeface="Poppins"/>
              </a:rPr>
              <a:t>manejan</a:t>
            </a:r>
            <a:r>
              <a:rPr lang="en-US" sz="2800" dirty="0">
                <a:sym typeface="Poppins"/>
              </a:rPr>
              <a:t> terabytes de </a:t>
            </a:r>
            <a:r>
              <a:rPr lang="en-US" sz="2800" dirty="0" err="1">
                <a:sym typeface="Poppins"/>
              </a:rPr>
              <a:t>información</a:t>
            </a:r>
            <a:r>
              <a:rPr lang="en-US" sz="2800" dirty="0">
                <a:sym typeface="Poppins"/>
              </a:rPr>
              <a:t> y </a:t>
            </a:r>
            <a:r>
              <a:rPr lang="en-US" sz="2800" dirty="0" err="1">
                <a:sym typeface="Poppins"/>
              </a:rPr>
              <a:t>los</a:t>
            </a:r>
            <a:r>
              <a:rPr lang="en-US" sz="2800" dirty="0">
                <a:sym typeface="Poppins"/>
              </a:rPr>
              <a:t> mas </a:t>
            </a:r>
            <a:r>
              <a:rPr lang="en-US" sz="2800" dirty="0" err="1">
                <a:sym typeface="Poppins"/>
              </a:rPr>
              <a:t>usados</a:t>
            </a:r>
            <a:r>
              <a:rPr lang="en-US" sz="2800" dirty="0">
                <a:sym typeface="Poppins"/>
              </a:rPr>
              <a:t> son </a:t>
            </a:r>
            <a:r>
              <a:rPr lang="es-MX" sz="2800" dirty="0"/>
              <a:t>MySQL, PostgreSQL, Oracle</a:t>
            </a:r>
            <a:endParaRPr lang="en-US" sz="2800" dirty="0">
              <a:sym typeface="Poppins"/>
            </a:endParaRPr>
          </a:p>
          <a:p>
            <a:pPr algn="l">
              <a:lnSpc>
                <a:spcPts val="2499"/>
              </a:lnSpc>
            </a:pPr>
            <a:endParaRPr lang="en-US" sz="1800" dirty="0">
              <a:solidFill>
                <a:srgbClr val="6E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21B42E59-5094-F4BA-C06E-046D1D8172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13" t="34797" r="32329" b="38645"/>
          <a:stretch>
            <a:fillRect/>
          </a:stretch>
        </p:blipFill>
        <p:spPr>
          <a:xfrm>
            <a:off x="7760677" y="2378412"/>
            <a:ext cx="1549791" cy="182880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750F1E45-FEBD-93D5-4DAD-5D5C152C3E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334" t="69914" r="31795" b="6227"/>
          <a:stretch>
            <a:fillRect/>
          </a:stretch>
        </p:blipFill>
        <p:spPr>
          <a:xfrm>
            <a:off x="7760677" y="4546952"/>
            <a:ext cx="1594338" cy="1636224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AE2625F5-186A-2CDE-2BE0-E8FF6CB376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051" r="27436" b="70940"/>
          <a:stretch>
            <a:fillRect/>
          </a:stretch>
        </p:blipFill>
        <p:spPr>
          <a:xfrm>
            <a:off x="7748565" y="462576"/>
            <a:ext cx="1561904" cy="1680529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8831F247-32BE-7A02-8E0C-5955FB6D1B3D}"/>
              </a:ext>
            </a:extLst>
          </p:cNvPr>
          <p:cNvSpPr txBox="1"/>
          <p:nvPr/>
        </p:nvSpPr>
        <p:spPr>
          <a:xfrm>
            <a:off x="9189720" y="2646588"/>
            <a:ext cx="2679896" cy="988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562"/>
              </a:lnSpc>
            </a:pPr>
            <a:r>
              <a:rPr lang="en-US" sz="2600" dirty="0">
                <a:latin typeface="+mj-lt"/>
                <a:cs typeface="Poppins"/>
                <a:sym typeface="Poppins"/>
              </a:rPr>
              <a:t>Control de </a:t>
            </a:r>
            <a:r>
              <a:rPr lang="en-US" sz="2600" dirty="0" err="1">
                <a:latin typeface="+mj-lt"/>
                <a:cs typeface="Poppins"/>
                <a:sym typeface="Poppins"/>
              </a:rPr>
              <a:t>acceso</a:t>
            </a:r>
            <a:r>
              <a:rPr lang="en-US" sz="2600" dirty="0">
                <a:latin typeface="+mj-lt"/>
                <a:cs typeface="Poppins"/>
                <a:sym typeface="Poppins"/>
              </a:rPr>
              <a:t> y </a:t>
            </a:r>
            <a:r>
              <a:rPr lang="en-US" sz="2600" dirty="0" err="1">
                <a:latin typeface="+mj-lt"/>
                <a:cs typeface="Poppins"/>
                <a:sym typeface="Poppins"/>
              </a:rPr>
              <a:t>permisos</a:t>
            </a:r>
            <a:endParaRPr lang="en-US" sz="2600" dirty="0">
              <a:latin typeface="+mj-lt"/>
              <a:cs typeface="Poppins"/>
              <a:sym typeface="Poppins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B6FBC88-1606-F427-DFB7-F83FE5783A55}"/>
              </a:ext>
            </a:extLst>
          </p:cNvPr>
          <p:cNvSpPr txBox="1"/>
          <p:nvPr/>
        </p:nvSpPr>
        <p:spPr>
          <a:xfrm>
            <a:off x="9189720" y="1148646"/>
            <a:ext cx="2484120" cy="526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lnSpc>
                <a:spcPts val="3562"/>
              </a:lnSpc>
              <a:buNone/>
            </a:pPr>
            <a:r>
              <a:rPr lang="en-US" sz="2600" dirty="0" err="1">
                <a:latin typeface="+mj-lt"/>
                <a:cs typeface="Poppins"/>
              </a:rPr>
              <a:t>Almacenamiento</a:t>
            </a:r>
            <a:endParaRPr lang="es-MX" sz="2600" dirty="0">
              <a:latin typeface="+mj-lt"/>
              <a:cs typeface="Poppins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1B533F5-B787-A6A6-614E-8692F3FE806C}"/>
              </a:ext>
            </a:extLst>
          </p:cNvPr>
          <p:cNvSpPr txBox="1"/>
          <p:nvPr/>
        </p:nvSpPr>
        <p:spPr>
          <a:xfrm>
            <a:off x="9310468" y="4733292"/>
            <a:ext cx="2844019" cy="1449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562"/>
              </a:lnSpc>
            </a:pPr>
            <a:r>
              <a:rPr lang="en-US" sz="2600" dirty="0" err="1">
                <a:latin typeface="+mj-lt"/>
                <a:cs typeface="Poppins"/>
                <a:sym typeface="Poppins"/>
              </a:rPr>
              <a:t>Copias</a:t>
            </a:r>
            <a:r>
              <a:rPr lang="en-US" sz="2600" dirty="0">
                <a:latin typeface="+mj-lt"/>
                <a:cs typeface="Poppins"/>
                <a:sym typeface="Poppins"/>
              </a:rPr>
              <a:t> de </a:t>
            </a:r>
            <a:r>
              <a:rPr lang="en-US" sz="2600" dirty="0" err="1">
                <a:latin typeface="+mj-lt"/>
                <a:cs typeface="Poppins"/>
                <a:sym typeface="Poppins"/>
              </a:rPr>
              <a:t>seguridad</a:t>
            </a:r>
            <a:r>
              <a:rPr lang="en-US" sz="2600" dirty="0">
                <a:latin typeface="+mj-lt"/>
                <a:cs typeface="Poppins"/>
                <a:sym typeface="Poppins"/>
              </a:rPr>
              <a:t>  y </a:t>
            </a:r>
            <a:r>
              <a:rPr lang="en-US" sz="2600" dirty="0" err="1">
                <a:latin typeface="+mj-lt"/>
                <a:cs typeface="Poppins"/>
                <a:sym typeface="Poppins"/>
              </a:rPr>
              <a:t>recuperación</a:t>
            </a:r>
            <a:endParaRPr lang="en-US" sz="2600" dirty="0">
              <a:latin typeface="+mj-lt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079390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0">
            <a:extLst>
              <a:ext uri="{FF2B5EF4-FFF2-40B4-BE49-F238E27FC236}">
                <a16:creationId xmlns:a16="http://schemas.microsoft.com/office/drawing/2014/main" id="{E2577796-87B5-C08F-2FD4-B2223859DD1E}"/>
              </a:ext>
            </a:extLst>
          </p:cNvPr>
          <p:cNvSpPr txBox="1"/>
          <p:nvPr/>
        </p:nvSpPr>
        <p:spPr>
          <a:xfrm>
            <a:off x="691217" y="279921"/>
            <a:ext cx="10809566" cy="8318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24"/>
              </a:lnSpc>
            </a:pPr>
            <a:r>
              <a:rPr lang="en-US" sz="4400" b="1" dirty="0" err="1">
                <a:solidFill>
                  <a:schemeClr val="accent1"/>
                </a:solidFill>
                <a:latin typeface="+mj-lt"/>
                <a:ea typeface="+mj-ea"/>
                <a:cs typeface="+mj-cs"/>
                <a:sym typeface="Arimo"/>
              </a:rPr>
              <a:t>Arquitectura</a:t>
            </a:r>
            <a:r>
              <a:rPr lang="en-US" sz="4400" b="1" dirty="0">
                <a:solidFill>
                  <a:schemeClr val="accent1"/>
                </a:solidFill>
                <a:latin typeface="+mj-lt"/>
                <a:ea typeface="+mj-ea"/>
                <a:cs typeface="+mj-cs"/>
                <a:sym typeface="Arimo"/>
              </a:rPr>
              <a:t> del SGBD: </a:t>
            </a:r>
            <a:r>
              <a:rPr lang="en-US" sz="4400" b="1" dirty="0" err="1">
                <a:solidFill>
                  <a:schemeClr val="accent1"/>
                </a:solidFill>
                <a:latin typeface="+mj-lt"/>
                <a:ea typeface="+mj-ea"/>
                <a:cs typeface="+mj-cs"/>
                <a:sym typeface="Arimo"/>
              </a:rPr>
              <a:t>Componentes</a:t>
            </a:r>
            <a:r>
              <a:rPr lang="en-US" sz="4400" b="1" dirty="0">
                <a:solidFill>
                  <a:schemeClr val="accent1"/>
                </a:solidFill>
                <a:latin typeface="+mj-lt"/>
                <a:ea typeface="+mj-ea"/>
                <a:cs typeface="+mj-cs"/>
                <a:sym typeface="Arimo"/>
              </a:rPr>
              <a:t> </a:t>
            </a:r>
            <a:r>
              <a:rPr lang="en-US" sz="4400" b="1" dirty="0" err="1">
                <a:solidFill>
                  <a:schemeClr val="accent1"/>
                </a:solidFill>
                <a:latin typeface="+mj-lt"/>
                <a:ea typeface="+mj-ea"/>
                <a:cs typeface="+mj-cs"/>
                <a:sym typeface="Arimo"/>
              </a:rPr>
              <a:t>Principales</a:t>
            </a:r>
            <a:endParaRPr lang="en-US" sz="4400" b="1" dirty="0">
              <a:solidFill>
                <a:schemeClr val="accent1"/>
              </a:solidFill>
              <a:latin typeface="+mj-lt"/>
              <a:ea typeface="+mj-ea"/>
              <a:cs typeface="+mj-cs"/>
              <a:sym typeface="Arimo"/>
            </a:endParaRPr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3C0AF3B1-80A8-DAF8-E2A7-46F4C5F5F327}"/>
              </a:ext>
            </a:extLst>
          </p:cNvPr>
          <p:cNvSpPr txBox="1"/>
          <p:nvPr/>
        </p:nvSpPr>
        <p:spPr>
          <a:xfrm>
            <a:off x="691217" y="1418572"/>
            <a:ext cx="10941340" cy="655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99"/>
              </a:lnSpc>
            </a:pPr>
            <a:r>
              <a:rPr lang="en-US" sz="2800" dirty="0">
                <a:sym typeface="Poppins"/>
              </a:rPr>
              <a:t>La </a:t>
            </a:r>
            <a:r>
              <a:rPr lang="en-US" sz="2800" dirty="0" err="1">
                <a:sym typeface="Poppins"/>
              </a:rPr>
              <a:t>arquitectura</a:t>
            </a:r>
            <a:r>
              <a:rPr lang="en-US" sz="2800" dirty="0">
                <a:sym typeface="Poppins"/>
              </a:rPr>
              <a:t> de un SGBD se </a:t>
            </a:r>
            <a:r>
              <a:rPr lang="en-US" sz="2800" dirty="0" err="1">
                <a:sym typeface="Poppins"/>
              </a:rPr>
              <a:t>compone</a:t>
            </a:r>
            <a:r>
              <a:rPr lang="en-US" sz="2800" dirty="0">
                <a:sym typeface="Poppins"/>
              </a:rPr>
              <a:t> de </a:t>
            </a:r>
            <a:r>
              <a:rPr lang="en-US" sz="2800" dirty="0" err="1">
                <a:sym typeface="Poppins"/>
              </a:rPr>
              <a:t>varios</a:t>
            </a:r>
            <a:r>
              <a:rPr lang="en-US" sz="2800" dirty="0">
                <a:sym typeface="Poppins"/>
              </a:rPr>
              <a:t> </a:t>
            </a:r>
            <a:r>
              <a:rPr lang="en-US" sz="2800" dirty="0" err="1">
                <a:sym typeface="Poppins"/>
              </a:rPr>
              <a:t>módulos</a:t>
            </a:r>
            <a:r>
              <a:rPr lang="en-US" sz="2800" dirty="0">
                <a:sym typeface="Poppins"/>
              </a:rPr>
              <a:t> que </a:t>
            </a:r>
            <a:r>
              <a:rPr lang="en-US" sz="2800" dirty="0" err="1">
                <a:sym typeface="Poppins"/>
              </a:rPr>
              <a:t>trabajan</a:t>
            </a:r>
            <a:r>
              <a:rPr lang="en-US" sz="2800" dirty="0">
                <a:sym typeface="Poppins"/>
              </a:rPr>
              <a:t> de forma </a:t>
            </a:r>
            <a:r>
              <a:rPr lang="en-US" sz="2800" dirty="0" err="1">
                <a:sym typeface="Poppins"/>
              </a:rPr>
              <a:t>coordinada</a:t>
            </a:r>
            <a:r>
              <a:rPr lang="en-US" sz="2800" dirty="0">
                <a:sym typeface="Poppins"/>
              </a:rPr>
              <a:t> para </a:t>
            </a:r>
            <a:r>
              <a:rPr lang="en-US" sz="2800" dirty="0" err="1">
                <a:sym typeface="Poppins"/>
              </a:rPr>
              <a:t>gestionar</a:t>
            </a:r>
            <a:r>
              <a:rPr lang="en-US" sz="2800" dirty="0">
                <a:sym typeface="Poppins"/>
              </a:rPr>
              <a:t> </a:t>
            </a:r>
            <a:r>
              <a:rPr lang="en-US" sz="2800" dirty="0" err="1">
                <a:sym typeface="Poppins"/>
              </a:rPr>
              <a:t>los</a:t>
            </a:r>
            <a:r>
              <a:rPr lang="en-US" sz="2800" dirty="0">
                <a:sym typeface="Poppins"/>
              </a:rPr>
              <a:t> </a:t>
            </a:r>
            <a:r>
              <a:rPr lang="en-US" sz="2800" dirty="0" err="1">
                <a:sym typeface="Poppins"/>
              </a:rPr>
              <a:t>datos</a:t>
            </a:r>
            <a:r>
              <a:rPr lang="en-US" sz="2800" dirty="0">
                <a:sym typeface="Poppins"/>
              </a:rPr>
              <a:t> de </a:t>
            </a:r>
            <a:r>
              <a:rPr lang="en-US" sz="2800" dirty="0" err="1">
                <a:sym typeface="Poppins"/>
              </a:rPr>
              <a:t>manera</a:t>
            </a:r>
            <a:r>
              <a:rPr lang="en-US" sz="2800" dirty="0">
                <a:sym typeface="Poppins"/>
              </a:rPr>
              <a:t> </a:t>
            </a:r>
            <a:r>
              <a:rPr lang="en-US" sz="2800" dirty="0" err="1">
                <a:sym typeface="Poppins"/>
              </a:rPr>
              <a:t>eficiente</a:t>
            </a:r>
            <a:r>
              <a:rPr lang="en-US" sz="2800" dirty="0">
                <a:sym typeface="Poppins"/>
              </a:rPr>
              <a:t> y </a:t>
            </a:r>
            <a:r>
              <a:rPr lang="en-US" sz="2800" dirty="0" err="1">
                <a:sym typeface="Poppins"/>
              </a:rPr>
              <a:t>segura</a:t>
            </a:r>
            <a:r>
              <a:rPr lang="en-US" sz="2800" dirty="0">
                <a:sym typeface="Poppins"/>
              </a:rPr>
              <a:t>.</a:t>
            </a:r>
          </a:p>
        </p:txBody>
      </p:sp>
      <p:sp>
        <p:nvSpPr>
          <p:cNvPr id="21" name="TextBox 14">
            <a:extLst>
              <a:ext uri="{FF2B5EF4-FFF2-40B4-BE49-F238E27FC236}">
                <a16:creationId xmlns:a16="http://schemas.microsoft.com/office/drawing/2014/main" id="{2D5CFD55-9955-1E69-D3F1-76922C9995D0}"/>
              </a:ext>
            </a:extLst>
          </p:cNvPr>
          <p:cNvSpPr txBox="1"/>
          <p:nvPr/>
        </p:nvSpPr>
        <p:spPr>
          <a:xfrm>
            <a:off x="691217" y="2167052"/>
            <a:ext cx="3645398" cy="441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2"/>
              </a:lnSpc>
            </a:pPr>
            <a:r>
              <a:rPr lang="en-US" sz="2800" dirty="0" err="1">
                <a:sym typeface="Arimo"/>
              </a:rPr>
              <a:t>Interfaz</a:t>
            </a:r>
            <a:r>
              <a:rPr lang="en-US" sz="2800" dirty="0">
                <a:sym typeface="Arimo"/>
              </a:rPr>
              <a:t> de </a:t>
            </a:r>
            <a:r>
              <a:rPr lang="en-US" sz="2800" dirty="0" err="1">
                <a:sym typeface="Arimo"/>
              </a:rPr>
              <a:t>Usuario</a:t>
            </a:r>
            <a:endParaRPr lang="en-US" sz="2800" dirty="0">
              <a:sym typeface="Arimo"/>
            </a:endParaRPr>
          </a:p>
        </p:txBody>
      </p:sp>
      <p:sp>
        <p:nvSpPr>
          <p:cNvPr id="22" name="TextBox 15">
            <a:extLst>
              <a:ext uri="{FF2B5EF4-FFF2-40B4-BE49-F238E27FC236}">
                <a16:creationId xmlns:a16="http://schemas.microsoft.com/office/drawing/2014/main" id="{4ABD6B46-65F0-9329-14E3-E5571C533865}"/>
              </a:ext>
            </a:extLst>
          </p:cNvPr>
          <p:cNvSpPr txBox="1"/>
          <p:nvPr/>
        </p:nvSpPr>
        <p:spPr>
          <a:xfrm>
            <a:off x="691217" y="2606543"/>
            <a:ext cx="8590064" cy="308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99"/>
              </a:lnSpc>
            </a:pPr>
            <a:r>
              <a:rPr lang="en-US" sz="2000" dirty="0" err="1">
                <a:latin typeface="Calibri (Cuerpo)"/>
                <a:ea typeface="Poppins"/>
                <a:cs typeface="Poppins"/>
                <a:sym typeface="Poppins"/>
              </a:rPr>
              <a:t>Aplicaciones</a:t>
            </a:r>
            <a:r>
              <a:rPr lang="en-US" sz="2000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latin typeface="Calibri (Cuerpo)"/>
                <a:ea typeface="Poppins"/>
                <a:cs typeface="Poppins"/>
                <a:sym typeface="Poppins"/>
              </a:rPr>
              <a:t>cliente</a:t>
            </a:r>
            <a:r>
              <a:rPr lang="en-US" sz="2000" dirty="0">
                <a:latin typeface="Calibri (Cuerpo)"/>
                <a:ea typeface="Poppins"/>
                <a:cs typeface="Poppins"/>
                <a:sym typeface="Poppins"/>
              </a:rPr>
              <a:t> y </a:t>
            </a:r>
            <a:r>
              <a:rPr lang="en-US" sz="2000" dirty="0" err="1">
                <a:latin typeface="Calibri (Cuerpo)"/>
                <a:ea typeface="Poppins"/>
                <a:cs typeface="Poppins"/>
                <a:sym typeface="Poppins"/>
              </a:rPr>
              <a:t>herramientas</a:t>
            </a:r>
            <a:r>
              <a:rPr lang="en-US" sz="2000" dirty="0">
                <a:latin typeface="Calibri (Cuerpo)"/>
                <a:ea typeface="Poppins"/>
                <a:cs typeface="Poppins"/>
                <a:sym typeface="Poppins"/>
              </a:rPr>
              <a:t> de </a:t>
            </a:r>
            <a:r>
              <a:rPr lang="en-US" sz="2000" dirty="0" err="1">
                <a:latin typeface="Calibri (Cuerpo)"/>
                <a:ea typeface="Poppins"/>
                <a:cs typeface="Poppins"/>
                <a:sym typeface="Poppins"/>
              </a:rPr>
              <a:t>administración</a:t>
            </a:r>
            <a:endParaRPr lang="en-US" sz="2000" dirty="0">
              <a:latin typeface="Calibri (Cuerpo)"/>
              <a:ea typeface="Poppins"/>
              <a:cs typeface="Poppins"/>
              <a:sym typeface="Poppins"/>
            </a:endParaRPr>
          </a:p>
        </p:txBody>
      </p:sp>
      <p:sp>
        <p:nvSpPr>
          <p:cNvPr id="23" name="TextBox 18">
            <a:extLst>
              <a:ext uri="{FF2B5EF4-FFF2-40B4-BE49-F238E27FC236}">
                <a16:creationId xmlns:a16="http://schemas.microsoft.com/office/drawing/2014/main" id="{66D975C6-8340-8389-1CB6-3C7B50656AAC}"/>
              </a:ext>
            </a:extLst>
          </p:cNvPr>
          <p:cNvSpPr txBox="1"/>
          <p:nvPr/>
        </p:nvSpPr>
        <p:spPr>
          <a:xfrm>
            <a:off x="3077775" y="3286949"/>
            <a:ext cx="4239758" cy="4385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2"/>
              </a:lnSpc>
            </a:pPr>
            <a:r>
              <a:rPr lang="en-US" sz="2812" dirty="0" err="1">
                <a:latin typeface="Calibri (Cuerpo)"/>
                <a:ea typeface="Arimo"/>
                <a:cs typeface="Arimo"/>
                <a:sym typeface="Arimo"/>
              </a:rPr>
              <a:t>Procesador</a:t>
            </a:r>
            <a:r>
              <a:rPr lang="en-US" sz="2812" dirty="0"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2812" dirty="0" err="1">
                <a:latin typeface="Arimo"/>
                <a:ea typeface="Arimo"/>
                <a:cs typeface="Arimo"/>
                <a:sym typeface="Arimo"/>
              </a:rPr>
              <a:t>Consultas</a:t>
            </a:r>
            <a:endParaRPr lang="en-US" sz="2812" dirty="0"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4" name="TextBox 19">
            <a:extLst>
              <a:ext uri="{FF2B5EF4-FFF2-40B4-BE49-F238E27FC236}">
                <a16:creationId xmlns:a16="http://schemas.microsoft.com/office/drawing/2014/main" id="{56CBEF69-3F3F-CE17-C977-4DF9260A4F66}"/>
              </a:ext>
            </a:extLst>
          </p:cNvPr>
          <p:cNvSpPr txBox="1"/>
          <p:nvPr/>
        </p:nvSpPr>
        <p:spPr>
          <a:xfrm>
            <a:off x="3077775" y="3796027"/>
            <a:ext cx="5687182" cy="311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99"/>
              </a:lnSpc>
            </a:pPr>
            <a:r>
              <a:rPr lang="en-US" sz="2000" dirty="0">
                <a:latin typeface="Calibri (Cuerpo)"/>
                <a:ea typeface="Poppins"/>
                <a:cs typeface="Poppins"/>
                <a:sym typeface="Poppins"/>
              </a:rPr>
              <a:t>Analiza</a:t>
            </a: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00" dirty="0" err="1">
                <a:latin typeface="Poppins"/>
                <a:ea typeface="Poppins"/>
                <a:cs typeface="Poppins"/>
                <a:sym typeface="Poppins"/>
              </a:rPr>
              <a:t>optimiza</a:t>
            </a: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00" dirty="0" err="1">
                <a:latin typeface="Poppins"/>
                <a:ea typeface="Poppins"/>
                <a:cs typeface="Poppins"/>
                <a:sym typeface="Poppins"/>
              </a:rPr>
              <a:t>ejecuta</a:t>
            </a: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latin typeface="Poppins"/>
                <a:ea typeface="Poppins"/>
                <a:cs typeface="Poppins"/>
                <a:sym typeface="Poppins"/>
              </a:rPr>
              <a:t>comandos</a:t>
            </a: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 SQL</a:t>
            </a:r>
          </a:p>
        </p:txBody>
      </p:sp>
      <p:sp>
        <p:nvSpPr>
          <p:cNvPr id="25" name="TextBox 22">
            <a:extLst>
              <a:ext uri="{FF2B5EF4-FFF2-40B4-BE49-F238E27FC236}">
                <a16:creationId xmlns:a16="http://schemas.microsoft.com/office/drawing/2014/main" id="{C325DC54-A67D-6748-A612-F08CFBCBFD23}"/>
              </a:ext>
            </a:extLst>
          </p:cNvPr>
          <p:cNvSpPr txBox="1"/>
          <p:nvPr/>
        </p:nvSpPr>
        <p:spPr>
          <a:xfrm>
            <a:off x="4845902" y="4579512"/>
            <a:ext cx="4310805" cy="4385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2"/>
              </a:lnSpc>
            </a:pPr>
            <a:r>
              <a:rPr lang="en-US" sz="2812" dirty="0">
                <a:latin typeface="Calibri (Cuerpo)"/>
                <a:ea typeface="Arimo"/>
                <a:cs typeface="Arimo"/>
                <a:sym typeface="Arimo"/>
              </a:rPr>
              <a:t>Motor de </a:t>
            </a:r>
            <a:r>
              <a:rPr lang="en-US" sz="2812" dirty="0" err="1">
                <a:latin typeface="Calibri (Cuerpo)"/>
                <a:ea typeface="Arimo"/>
                <a:cs typeface="Arimo"/>
                <a:sym typeface="Arimo"/>
              </a:rPr>
              <a:t>Almacenamiento</a:t>
            </a:r>
            <a:endParaRPr lang="en-US" sz="2812" dirty="0">
              <a:latin typeface="Calibri (Cuerpo)"/>
              <a:ea typeface="Arimo"/>
              <a:cs typeface="Arimo"/>
              <a:sym typeface="Arimo"/>
            </a:endParaRPr>
          </a:p>
        </p:txBody>
      </p:sp>
      <p:sp>
        <p:nvSpPr>
          <p:cNvPr id="26" name="TextBox 23">
            <a:extLst>
              <a:ext uri="{FF2B5EF4-FFF2-40B4-BE49-F238E27FC236}">
                <a16:creationId xmlns:a16="http://schemas.microsoft.com/office/drawing/2014/main" id="{5F1F438B-4220-C35D-2249-5A1F9EFCEDE6}"/>
              </a:ext>
            </a:extLst>
          </p:cNvPr>
          <p:cNvSpPr txBox="1"/>
          <p:nvPr/>
        </p:nvSpPr>
        <p:spPr>
          <a:xfrm>
            <a:off x="4982996" y="5045397"/>
            <a:ext cx="3781961" cy="308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99"/>
              </a:lnSpc>
            </a:pPr>
            <a:r>
              <a:rPr lang="en-US" sz="2000" dirty="0" err="1">
                <a:latin typeface="Calibri (Cuerpo)"/>
                <a:ea typeface="Poppins"/>
                <a:cs typeface="Poppins"/>
                <a:sym typeface="Poppins"/>
              </a:rPr>
              <a:t>Gestiona</a:t>
            </a:r>
            <a:r>
              <a:rPr lang="en-US" sz="2000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latin typeface="Calibri (Cuerpo)"/>
                <a:ea typeface="Poppins"/>
                <a:cs typeface="Poppins"/>
                <a:sym typeface="Poppins"/>
              </a:rPr>
              <a:t>lectura</a:t>
            </a:r>
            <a:r>
              <a:rPr lang="en-US" sz="2000" dirty="0">
                <a:latin typeface="Calibri (Cuerpo)"/>
                <a:ea typeface="Poppins"/>
                <a:cs typeface="Poppins"/>
                <a:sym typeface="Poppins"/>
              </a:rPr>
              <a:t> y </a:t>
            </a:r>
            <a:r>
              <a:rPr lang="en-US" sz="2000" dirty="0" err="1">
                <a:latin typeface="Calibri (Cuerpo)"/>
                <a:ea typeface="Poppins"/>
                <a:cs typeface="Poppins"/>
                <a:sym typeface="Poppins"/>
              </a:rPr>
              <a:t>escritura</a:t>
            </a:r>
            <a:r>
              <a:rPr lang="en-US" sz="2000" dirty="0">
                <a:latin typeface="Calibri (Cuerpo)"/>
                <a:ea typeface="Poppins"/>
                <a:cs typeface="Poppins"/>
                <a:sym typeface="Poppins"/>
              </a:rPr>
              <a:t> en disco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6BBAE4-8702-C0FB-5663-E2F319EC1E79}"/>
              </a:ext>
            </a:extLst>
          </p:cNvPr>
          <p:cNvSpPr txBox="1"/>
          <p:nvPr/>
        </p:nvSpPr>
        <p:spPr>
          <a:xfrm>
            <a:off x="7896967" y="5828882"/>
            <a:ext cx="3603815" cy="441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2"/>
              </a:lnSpc>
            </a:pPr>
            <a:r>
              <a:rPr lang="en-US" sz="2812" dirty="0" err="1">
                <a:latin typeface="Calibri (Cuerpo)"/>
                <a:ea typeface="Arimo"/>
                <a:cs typeface="Arimo"/>
                <a:sym typeface="Arimo"/>
              </a:rPr>
              <a:t>Módulo</a:t>
            </a:r>
            <a:r>
              <a:rPr lang="en-US" sz="2812" dirty="0">
                <a:latin typeface="Calibri (Cuerpo)"/>
                <a:ea typeface="Arimo"/>
                <a:cs typeface="Arimo"/>
                <a:sym typeface="Arimo"/>
              </a:rPr>
              <a:t> de </a:t>
            </a:r>
            <a:r>
              <a:rPr lang="en-US" sz="2812" dirty="0" err="1">
                <a:latin typeface="Calibri (Cuerpo)"/>
                <a:ea typeface="Arimo"/>
                <a:cs typeface="Arimo"/>
                <a:sym typeface="Arimo"/>
              </a:rPr>
              <a:t>Seguridad</a:t>
            </a:r>
            <a:endParaRPr lang="en-US" sz="2812" dirty="0">
              <a:latin typeface="Calibri (Cuerpo)"/>
              <a:ea typeface="Arimo"/>
              <a:cs typeface="Arimo"/>
              <a:sym typeface="Arimo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6DD1CE-6EB0-2DCC-1EC6-DABBF7C09C44}"/>
              </a:ext>
            </a:extLst>
          </p:cNvPr>
          <p:cNvSpPr txBox="1"/>
          <p:nvPr/>
        </p:nvSpPr>
        <p:spPr>
          <a:xfrm>
            <a:off x="7896968" y="6377455"/>
            <a:ext cx="4059680" cy="308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99"/>
              </a:lnSpc>
            </a:pPr>
            <a:r>
              <a:rPr lang="en-US" sz="2000" dirty="0">
                <a:latin typeface="Calibri (Cuerpo)"/>
                <a:ea typeface="Poppins"/>
                <a:cs typeface="Poppins"/>
                <a:sym typeface="Poppins"/>
              </a:rPr>
              <a:t>Control de </a:t>
            </a:r>
            <a:r>
              <a:rPr lang="en-US" sz="2000" dirty="0" err="1">
                <a:latin typeface="Calibri (Cuerpo)"/>
                <a:ea typeface="Poppins"/>
                <a:cs typeface="Poppins"/>
                <a:sym typeface="Poppins"/>
              </a:rPr>
              <a:t>accesos</a:t>
            </a:r>
            <a:r>
              <a:rPr lang="en-US" sz="2000" dirty="0">
                <a:latin typeface="Calibri (Cuerpo)"/>
                <a:ea typeface="Poppins"/>
                <a:cs typeface="Poppins"/>
                <a:sym typeface="Poppins"/>
              </a:rPr>
              <a:t> y </a:t>
            </a:r>
            <a:r>
              <a:rPr lang="en-US" sz="2000" dirty="0" err="1">
                <a:latin typeface="Calibri (Cuerpo)"/>
                <a:ea typeface="Poppins"/>
                <a:cs typeface="Poppins"/>
                <a:sym typeface="Poppins"/>
              </a:rPr>
              <a:t>autenticación</a:t>
            </a:r>
            <a:endParaRPr lang="en-US" sz="2000" dirty="0">
              <a:latin typeface="Calibri (Cuerpo)"/>
              <a:ea typeface="Poppins"/>
              <a:cs typeface="Poppins"/>
              <a:sym typeface="Poppin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0013EF-B15B-1A24-D48A-376E2CEECEB4}"/>
              </a:ext>
            </a:extLst>
          </p:cNvPr>
          <p:cNvSpPr txBox="1"/>
          <p:nvPr/>
        </p:nvSpPr>
        <p:spPr>
          <a:xfrm>
            <a:off x="294065" y="5556960"/>
            <a:ext cx="6053726" cy="9376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99"/>
              </a:lnSpc>
            </a:pP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Cada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componente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cumple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funciones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específicas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,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pero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trabaja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de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manera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integrada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para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proporcionar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un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servicio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robusto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y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eficiente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de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gestión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de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datos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05639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8">
            <a:extLst>
              <a:ext uri="{FF2B5EF4-FFF2-40B4-BE49-F238E27FC236}">
                <a16:creationId xmlns:a16="http://schemas.microsoft.com/office/drawing/2014/main" id="{9FB4FDC9-59C9-0FDB-98F6-BE4B65CDB01E}"/>
              </a:ext>
            </a:extLst>
          </p:cNvPr>
          <p:cNvGrpSpPr/>
          <p:nvPr/>
        </p:nvGrpSpPr>
        <p:grpSpPr>
          <a:xfrm>
            <a:off x="6059415" y="1674472"/>
            <a:ext cx="5457927" cy="873919"/>
            <a:chOff x="0" y="0"/>
            <a:chExt cx="10915853" cy="1747838"/>
          </a:xfrm>
          <a:blipFill>
            <a:blip r:embed="rId2"/>
            <a:tile tx="0" ty="0" sx="100000" sy="100000" flip="none" algn="tl"/>
          </a:blipFill>
        </p:grpSpPr>
        <p:sp>
          <p:nvSpPr>
            <p:cNvPr id="55" name="Freeform 9">
              <a:extLst>
                <a:ext uri="{FF2B5EF4-FFF2-40B4-BE49-F238E27FC236}">
                  <a16:creationId xmlns:a16="http://schemas.microsoft.com/office/drawing/2014/main" id="{4A71B221-088A-F43C-BD20-1986931E2800}"/>
                </a:ext>
              </a:extLst>
            </p:cNvPr>
            <p:cNvSpPr/>
            <p:nvPr/>
          </p:nvSpPr>
          <p:spPr>
            <a:xfrm>
              <a:off x="12700" y="12700"/>
              <a:ext cx="10890504" cy="1722374"/>
            </a:xfrm>
            <a:custGeom>
              <a:avLst/>
              <a:gdLst/>
              <a:ahLst/>
              <a:cxnLst/>
              <a:rect l="l" t="t" r="r" b="b"/>
              <a:pathLst>
                <a:path w="10890504" h="1722374">
                  <a:moveTo>
                    <a:pt x="0" y="374015"/>
                  </a:moveTo>
                  <a:cubicBezTo>
                    <a:pt x="0" y="167513"/>
                    <a:pt x="169545" y="0"/>
                    <a:pt x="378714" y="0"/>
                  </a:cubicBezTo>
                  <a:lnTo>
                    <a:pt x="10511790" y="0"/>
                  </a:lnTo>
                  <a:cubicBezTo>
                    <a:pt x="10720959" y="0"/>
                    <a:pt x="10890504" y="167513"/>
                    <a:pt x="10890504" y="374015"/>
                  </a:cubicBezTo>
                  <a:lnTo>
                    <a:pt x="10890504" y="1348359"/>
                  </a:lnTo>
                  <a:cubicBezTo>
                    <a:pt x="10890504" y="1554988"/>
                    <a:pt x="10720959" y="1722374"/>
                    <a:pt x="10511790" y="1722374"/>
                  </a:cubicBezTo>
                  <a:lnTo>
                    <a:pt x="378714" y="1722374"/>
                  </a:lnTo>
                  <a:cubicBezTo>
                    <a:pt x="169545" y="1722374"/>
                    <a:pt x="0" y="1554988"/>
                    <a:pt x="0" y="1348359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  <p:sp>
          <p:nvSpPr>
            <p:cNvPr id="56" name="Freeform 10">
              <a:extLst>
                <a:ext uri="{FF2B5EF4-FFF2-40B4-BE49-F238E27FC236}">
                  <a16:creationId xmlns:a16="http://schemas.microsoft.com/office/drawing/2014/main" id="{07595810-613C-B0D5-588B-C0D4BB50B383}"/>
                </a:ext>
              </a:extLst>
            </p:cNvPr>
            <p:cNvSpPr/>
            <p:nvPr/>
          </p:nvSpPr>
          <p:spPr>
            <a:xfrm>
              <a:off x="0" y="0"/>
              <a:ext cx="10915904" cy="1747774"/>
            </a:xfrm>
            <a:custGeom>
              <a:avLst/>
              <a:gdLst/>
              <a:ahLst/>
              <a:cxnLst/>
              <a:rect l="l" t="t" r="r" b="b"/>
              <a:pathLst>
                <a:path w="10915904" h="1747774">
                  <a:moveTo>
                    <a:pt x="0" y="386715"/>
                  </a:moveTo>
                  <a:cubicBezTo>
                    <a:pt x="0" y="172974"/>
                    <a:pt x="175387" y="0"/>
                    <a:pt x="391414" y="0"/>
                  </a:cubicBezTo>
                  <a:lnTo>
                    <a:pt x="10524490" y="0"/>
                  </a:lnTo>
                  <a:lnTo>
                    <a:pt x="10524490" y="12700"/>
                  </a:lnTo>
                  <a:lnTo>
                    <a:pt x="10524490" y="0"/>
                  </a:lnTo>
                  <a:cubicBezTo>
                    <a:pt x="10740517" y="0"/>
                    <a:pt x="10915904" y="172974"/>
                    <a:pt x="10915904" y="386715"/>
                  </a:cubicBezTo>
                  <a:lnTo>
                    <a:pt x="10903204" y="386715"/>
                  </a:lnTo>
                  <a:lnTo>
                    <a:pt x="10915904" y="386715"/>
                  </a:lnTo>
                  <a:lnTo>
                    <a:pt x="10915904" y="1361059"/>
                  </a:lnTo>
                  <a:lnTo>
                    <a:pt x="10903204" y="1361059"/>
                  </a:lnTo>
                  <a:lnTo>
                    <a:pt x="10915904" y="1361059"/>
                  </a:lnTo>
                  <a:cubicBezTo>
                    <a:pt x="10915904" y="1574800"/>
                    <a:pt x="10740517" y="1747774"/>
                    <a:pt x="10524490" y="1747774"/>
                  </a:cubicBezTo>
                  <a:lnTo>
                    <a:pt x="10524490" y="1735074"/>
                  </a:lnTo>
                  <a:lnTo>
                    <a:pt x="10524490" y="1747774"/>
                  </a:lnTo>
                  <a:lnTo>
                    <a:pt x="391414" y="1747774"/>
                  </a:lnTo>
                  <a:lnTo>
                    <a:pt x="391414" y="1735074"/>
                  </a:lnTo>
                  <a:lnTo>
                    <a:pt x="391414" y="1747774"/>
                  </a:lnTo>
                  <a:cubicBezTo>
                    <a:pt x="175387" y="1747774"/>
                    <a:pt x="0" y="1574800"/>
                    <a:pt x="0" y="1361059"/>
                  </a:cubicBezTo>
                  <a:lnTo>
                    <a:pt x="0" y="386715"/>
                  </a:lnTo>
                  <a:lnTo>
                    <a:pt x="12700" y="386715"/>
                  </a:lnTo>
                  <a:lnTo>
                    <a:pt x="0" y="386715"/>
                  </a:lnTo>
                  <a:moveTo>
                    <a:pt x="25400" y="386715"/>
                  </a:moveTo>
                  <a:lnTo>
                    <a:pt x="25400" y="1361059"/>
                  </a:lnTo>
                  <a:lnTo>
                    <a:pt x="12700" y="1361059"/>
                  </a:lnTo>
                  <a:lnTo>
                    <a:pt x="25400" y="1361059"/>
                  </a:lnTo>
                  <a:cubicBezTo>
                    <a:pt x="25400" y="1560449"/>
                    <a:pt x="189103" y="1722374"/>
                    <a:pt x="391414" y="1722374"/>
                  </a:cubicBezTo>
                  <a:lnTo>
                    <a:pt x="10524490" y="1722374"/>
                  </a:lnTo>
                  <a:cubicBezTo>
                    <a:pt x="10726801" y="1722374"/>
                    <a:pt x="10890504" y="1560449"/>
                    <a:pt x="10890504" y="1361059"/>
                  </a:cubicBezTo>
                  <a:lnTo>
                    <a:pt x="10890504" y="386715"/>
                  </a:lnTo>
                  <a:cubicBezTo>
                    <a:pt x="10890504" y="187325"/>
                    <a:pt x="10726674" y="25400"/>
                    <a:pt x="10524490" y="25400"/>
                  </a:cubicBezTo>
                  <a:lnTo>
                    <a:pt x="391414" y="25400"/>
                  </a:lnTo>
                  <a:lnTo>
                    <a:pt x="391414" y="12700"/>
                  </a:lnTo>
                  <a:lnTo>
                    <a:pt x="391414" y="25400"/>
                  </a:lnTo>
                  <a:cubicBezTo>
                    <a:pt x="189103" y="25400"/>
                    <a:pt x="25400" y="187325"/>
                    <a:pt x="25400" y="386715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grpSp>
        <p:nvGrpSpPr>
          <p:cNvPr id="51" name="Group 8">
            <a:extLst>
              <a:ext uri="{FF2B5EF4-FFF2-40B4-BE49-F238E27FC236}">
                <a16:creationId xmlns:a16="http://schemas.microsoft.com/office/drawing/2014/main" id="{3059EF88-5064-FAEB-1CB4-98D21DFE9AFA}"/>
              </a:ext>
            </a:extLst>
          </p:cNvPr>
          <p:cNvGrpSpPr/>
          <p:nvPr/>
        </p:nvGrpSpPr>
        <p:grpSpPr>
          <a:xfrm>
            <a:off x="6117106" y="2802395"/>
            <a:ext cx="5457927" cy="873919"/>
            <a:chOff x="0" y="0"/>
            <a:chExt cx="10915853" cy="1747838"/>
          </a:xfrm>
          <a:blipFill>
            <a:blip r:embed="rId2"/>
            <a:tile tx="0" ty="0" sx="100000" sy="100000" flip="none" algn="tl"/>
          </a:blipFill>
        </p:grpSpPr>
        <p:sp>
          <p:nvSpPr>
            <p:cNvPr id="52" name="Freeform 9">
              <a:extLst>
                <a:ext uri="{FF2B5EF4-FFF2-40B4-BE49-F238E27FC236}">
                  <a16:creationId xmlns:a16="http://schemas.microsoft.com/office/drawing/2014/main" id="{E5C9C113-220B-9546-4453-77FA2487B804}"/>
                </a:ext>
              </a:extLst>
            </p:cNvPr>
            <p:cNvSpPr/>
            <p:nvPr/>
          </p:nvSpPr>
          <p:spPr>
            <a:xfrm>
              <a:off x="12700" y="12700"/>
              <a:ext cx="10890504" cy="1722374"/>
            </a:xfrm>
            <a:custGeom>
              <a:avLst/>
              <a:gdLst/>
              <a:ahLst/>
              <a:cxnLst/>
              <a:rect l="l" t="t" r="r" b="b"/>
              <a:pathLst>
                <a:path w="10890504" h="1722374">
                  <a:moveTo>
                    <a:pt x="0" y="374015"/>
                  </a:moveTo>
                  <a:cubicBezTo>
                    <a:pt x="0" y="167513"/>
                    <a:pt x="169545" y="0"/>
                    <a:pt x="378714" y="0"/>
                  </a:cubicBezTo>
                  <a:lnTo>
                    <a:pt x="10511790" y="0"/>
                  </a:lnTo>
                  <a:cubicBezTo>
                    <a:pt x="10720959" y="0"/>
                    <a:pt x="10890504" y="167513"/>
                    <a:pt x="10890504" y="374015"/>
                  </a:cubicBezTo>
                  <a:lnTo>
                    <a:pt x="10890504" y="1348359"/>
                  </a:lnTo>
                  <a:cubicBezTo>
                    <a:pt x="10890504" y="1554988"/>
                    <a:pt x="10720959" y="1722374"/>
                    <a:pt x="10511790" y="1722374"/>
                  </a:cubicBezTo>
                  <a:lnTo>
                    <a:pt x="378714" y="1722374"/>
                  </a:lnTo>
                  <a:cubicBezTo>
                    <a:pt x="169545" y="1722374"/>
                    <a:pt x="0" y="1554988"/>
                    <a:pt x="0" y="1348359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  <p:sp>
          <p:nvSpPr>
            <p:cNvPr id="53" name="Freeform 10">
              <a:extLst>
                <a:ext uri="{FF2B5EF4-FFF2-40B4-BE49-F238E27FC236}">
                  <a16:creationId xmlns:a16="http://schemas.microsoft.com/office/drawing/2014/main" id="{C02335EA-4371-C862-DC7B-70E412025042}"/>
                </a:ext>
              </a:extLst>
            </p:cNvPr>
            <p:cNvSpPr/>
            <p:nvPr/>
          </p:nvSpPr>
          <p:spPr>
            <a:xfrm>
              <a:off x="0" y="0"/>
              <a:ext cx="10915904" cy="1747774"/>
            </a:xfrm>
            <a:custGeom>
              <a:avLst/>
              <a:gdLst/>
              <a:ahLst/>
              <a:cxnLst/>
              <a:rect l="l" t="t" r="r" b="b"/>
              <a:pathLst>
                <a:path w="10915904" h="1747774">
                  <a:moveTo>
                    <a:pt x="0" y="386715"/>
                  </a:moveTo>
                  <a:cubicBezTo>
                    <a:pt x="0" y="172974"/>
                    <a:pt x="175387" y="0"/>
                    <a:pt x="391414" y="0"/>
                  </a:cubicBezTo>
                  <a:lnTo>
                    <a:pt x="10524490" y="0"/>
                  </a:lnTo>
                  <a:lnTo>
                    <a:pt x="10524490" y="12700"/>
                  </a:lnTo>
                  <a:lnTo>
                    <a:pt x="10524490" y="0"/>
                  </a:lnTo>
                  <a:cubicBezTo>
                    <a:pt x="10740517" y="0"/>
                    <a:pt x="10915904" y="172974"/>
                    <a:pt x="10915904" y="386715"/>
                  </a:cubicBezTo>
                  <a:lnTo>
                    <a:pt x="10903204" y="386715"/>
                  </a:lnTo>
                  <a:lnTo>
                    <a:pt x="10915904" y="386715"/>
                  </a:lnTo>
                  <a:lnTo>
                    <a:pt x="10915904" y="1361059"/>
                  </a:lnTo>
                  <a:lnTo>
                    <a:pt x="10903204" y="1361059"/>
                  </a:lnTo>
                  <a:lnTo>
                    <a:pt x="10915904" y="1361059"/>
                  </a:lnTo>
                  <a:cubicBezTo>
                    <a:pt x="10915904" y="1574800"/>
                    <a:pt x="10740517" y="1747774"/>
                    <a:pt x="10524490" y="1747774"/>
                  </a:cubicBezTo>
                  <a:lnTo>
                    <a:pt x="10524490" y="1735074"/>
                  </a:lnTo>
                  <a:lnTo>
                    <a:pt x="10524490" y="1747774"/>
                  </a:lnTo>
                  <a:lnTo>
                    <a:pt x="391414" y="1747774"/>
                  </a:lnTo>
                  <a:lnTo>
                    <a:pt x="391414" y="1735074"/>
                  </a:lnTo>
                  <a:lnTo>
                    <a:pt x="391414" y="1747774"/>
                  </a:lnTo>
                  <a:cubicBezTo>
                    <a:pt x="175387" y="1747774"/>
                    <a:pt x="0" y="1574800"/>
                    <a:pt x="0" y="1361059"/>
                  </a:cubicBezTo>
                  <a:lnTo>
                    <a:pt x="0" y="386715"/>
                  </a:lnTo>
                  <a:lnTo>
                    <a:pt x="12700" y="386715"/>
                  </a:lnTo>
                  <a:lnTo>
                    <a:pt x="0" y="386715"/>
                  </a:lnTo>
                  <a:moveTo>
                    <a:pt x="25400" y="386715"/>
                  </a:moveTo>
                  <a:lnTo>
                    <a:pt x="25400" y="1361059"/>
                  </a:lnTo>
                  <a:lnTo>
                    <a:pt x="12700" y="1361059"/>
                  </a:lnTo>
                  <a:lnTo>
                    <a:pt x="25400" y="1361059"/>
                  </a:lnTo>
                  <a:cubicBezTo>
                    <a:pt x="25400" y="1560449"/>
                    <a:pt x="189103" y="1722374"/>
                    <a:pt x="391414" y="1722374"/>
                  </a:cubicBezTo>
                  <a:lnTo>
                    <a:pt x="10524490" y="1722374"/>
                  </a:lnTo>
                  <a:cubicBezTo>
                    <a:pt x="10726801" y="1722374"/>
                    <a:pt x="10890504" y="1560449"/>
                    <a:pt x="10890504" y="1361059"/>
                  </a:cubicBezTo>
                  <a:lnTo>
                    <a:pt x="10890504" y="386715"/>
                  </a:lnTo>
                  <a:cubicBezTo>
                    <a:pt x="10890504" y="187325"/>
                    <a:pt x="10726674" y="25400"/>
                    <a:pt x="10524490" y="25400"/>
                  </a:cubicBezTo>
                  <a:lnTo>
                    <a:pt x="391414" y="25400"/>
                  </a:lnTo>
                  <a:lnTo>
                    <a:pt x="391414" y="12700"/>
                  </a:lnTo>
                  <a:lnTo>
                    <a:pt x="391414" y="25400"/>
                  </a:lnTo>
                  <a:cubicBezTo>
                    <a:pt x="189103" y="25400"/>
                    <a:pt x="25400" y="187325"/>
                    <a:pt x="25400" y="386715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grpSp>
        <p:nvGrpSpPr>
          <p:cNvPr id="48" name="Group 8">
            <a:extLst>
              <a:ext uri="{FF2B5EF4-FFF2-40B4-BE49-F238E27FC236}">
                <a16:creationId xmlns:a16="http://schemas.microsoft.com/office/drawing/2014/main" id="{1A94CC1C-C8AF-B53B-9329-F51CBBD3F38D}"/>
              </a:ext>
            </a:extLst>
          </p:cNvPr>
          <p:cNvGrpSpPr/>
          <p:nvPr/>
        </p:nvGrpSpPr>
        <p:grpSpPr>
          <a:xfrm>
            <a:off x="6239993" y="5026513"/>
            <a:ext cx="5457927" cy="873919"/>
            <a:chOff x="0" y="0"/>
            <a:chExt cx="10915853" cy="1747838"/>
          </a:xfrm>
          <a:blipFill>
            <a:blip r:embed="rId2"/>
            <a:tile tx="0" ty="0" sx="100000" sy="100000" flip="none" algn="tl"/>
          </a:blipFill>
        </p:grpSpPr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FB83215C-4B91-87FC-108C-DAC60E270E5C}"/>
                </a:ext>
              </a:extLst>
            </p:cNvPr>
            <p:cNvSpPr/>
            <p:nvPr/>
          </p:nvSpPr>
          <p:spPr>
            <a:xfrm>
              <a:off x="12700" y="12700"/>
              <a:ext cx="10890504" cy="1722374"/>
            </a:xfrm>
            <a:custGeom>
              <a:avLst/>
              <a:gdLst/>
              <a:ahLst/>
              <a:cxnLst/>
              <a:rect l="l" t="t" r="r" b="b"/>
              <a:pathLst>
                <a:path w="10890504" h="1722374">
                  <a:moveTo>
                    <a:pt x="0" y="374015"/>
                  </a:moveTo>
                  <a:cubicBezTo>
                    <a:pt x="0" y="167513"/>
                    <a:pt x="169545" y="0"/>
                    <a:pt x="378714" y="0"/>
                  </a:cubicBezTo>
                  <a:lnTo>
                    <a:pt x="10511790" y="0"/>
                  </a:lnTo>
                  <a:cubicBezTo>
                    <a:pt x="10720959" y="0"/>
                    <a:pt x="10890504" y="167513"/>
                    <a:pt x="10890504" y="374015"/>
                  </a:cubicBezTo>
                  <a:lnTo>
                    <a:pt x="10890504" y="1348359"/>
                  </a:lnTo>
                  <a:cubicBezTo>
                    <a:pt x="10890504" y="1554988"/>
                    <a:pt x="10720959" y="1722374"/>
                    <a:pt x="10511790" y="1722374"/>
                  </a:cubicBezTo>
                  <a:lnTo>
                    <a:pt x="378714" y="1722374"/>
                  </a:lnTo>
                  <a:cubicBezTo>
                    <a:pt x="169545" y="1722374"/>
                    <a:pt x="0" y="1554988"/>
                    <a:pt x="0" y="1348359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206031C3-C2A8-FAD5-E049-DA0EF01F6A49}"/>
                </a:ext>
              </a:extLst>
            </p:cNvPr>
            <p:cNvSpPr/>
            <p:nvPr/>
          </p:nvSpPr>
          <p:spPr>
            <a:xfrm>
              <a:off x="0" y="0"/>
              <a:ext cx="10915904" cy="1747774"/>
            </a:xfrm>
            <a:custGeom>
              <a:avLst/>
              <a:gdLst/>
              <a:ahLst/>
              <a:cxnLst/>
              <a:rect l="l" t="t" r="r" b="b"/>
              <a:pathLst>
                <a:path w="10915904" h="1747774">
                  <a:moveTo>
                    <a:pt x="0" y="386715"/>
                  </a:moveTo>
                  <a:cubicBezTo>
                    <a:pt x="0" y="172974"/>
                    <a:pt x="175387" y="0"/>
                    <a:pt x="391414" y="0"/>
                  </a:cubicBezTo>
                  <a:lnTo>
                    <a:pt x="10524490" y="0"/>
                  </a:lnTo>
                  <a:lnTo>
                    <a:pt x="10524490" y="12700"/>
                  </a:lnTo>
                  <a:lnTo>
                    <a:pt x="10524490" y="0"/>
                  </a:lnTo>
                  <a:cubicBezTo>
                    <a:pt x="10740517" y="0"/>
                    <a:pt x="10915904" y="172974"/>
                    <a:pt x="10915904" y="386715"/>
                  </a:cubicBezTo>
                  <a:lnTo>
                    <a:pt x="10903204" y="386715"/>
                  </a:lnTo>
                  <a:lnTo>
                    <a:pt x="10915904" y="386715"/>
                  </a:lnTo>
                  <a:lnTo>
                    <a:pt x="10915904" y="1361059"/>
                  </a:lnTo>
                  <a:lnTo>
                    <a:pt x="10903204" y="1361059"/>
                  </a:lnTo>
                  <a:lnTo>
                    <a:pt x="10915904" y="1361059"/>
                  </a:lnTo>
                  <a:cubicBezTo>
                    <a:pt x="10915904" y="1574800"/>
                    <a:pt x="10740517" y="1747774"/>
                    <a:pt x="10524490" y="1747774"/>
                  </a:cubicBezTo>
                  <a:lnTo>
                    <a:pt x="10524490" y="1735074"/>
                  </a:lnTo>
                  <a:lnTo>
                    <a:pt x="10524490" y="1747774"/>
                  </a:lnTo>
                  <a:lnTo>
                    <a:pt x="391414" y="1747774"/>
                  </a:lnTo>
                  <a:lnTo>
                    <a:pt x="391414" y="1735074"/>
                  </a:lnTo>
                  <a:lnTo>
                    <a:pt x="391414" y="1747774"/>
                  </a:lnTo>
                  <a:cubicBezTo>
                    <a:pt x="175387" y="1747774"/>
                    <a:pt x="0" y="1574800"/>
                    <a:pt x="0" y="1361059"/>
                  </a:cubicBezTo>
                  <a:lnTo>
                    <a:pt x="0" y="386715"/>
                  </a:lnTo>
                  <a:lnTo>
                    <a:pt x="12700" y="386715"/>
                  </a:lnTo>
                  <a:lnTo>
                    <a:pt x="0" y="386715"/>
                  </a:lnTo>
                  <a:moveTo>
                    <a:pt x="25400" y="386715"/>
                  </a:moveTo>
                  <a:lnTo>
                    <a:pt x="25400" y="1361059"/>
                  </a:lnTo>
                  <a:lnTo>
                    <a:pt x="12700" y="1361059"/>
                  </a:lnTo>
                  <a:lnTo>
                    <a:pt x="25400" y="1361059"/>
                  </a:lnTo>
                  <a:cubicBezTo>
                    <a:pt x="25400" y="1560449"/>
                    <a:pt x="189103" y="1722374"/>
                    <a:pt x="391414" y="1722374"/>
                  </a:cubicBezTo>
                  <a:lnTo>
                    <a:pt x="10524490" y="1722374"/>
                  </a:lnTo>
                  <a:cubicBezTo>
                    <a:pt x="10726801" y="1722374"/>
                    <a:pt x="10890504" y="1560449"/>
                    <a:pt x="10890504" y="1361059"/>
                  </a:cubicBezTo>
                  <a:lnTo>
                    <a:pt x="10890504" y="386715"/>
                  </a:lnTo>
                  <a:cubicBezTo>
                    <a:pt x="10890504" y="187325"/>
                    <a:pt x="10726674" y="25400"/>
                    <a:pt x="10524490" y="25400"/>
                  </a:cubicBezTo>
                  <a:lnTo>
                    <a:pt x="391414" y="25400"/>
                  </a:lnTo>
                  <a:lnTo>
                    <a:pt x="391414" y="12700"/>
                  </a:lnTo>
                  <a:lnTo>
                    <a:pt x="391414" y="25400"/>
                  </a:lnTo>
                  <a:cubicBezTo>
                    <a:pt x="189103" y="25400"/>
                    <a:pt x="25400" y="187325"/>
                    <a:pt x="25400" y="386715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grpSp>
        <p:nvGrpSpPr>
          <p:cNvPr id="45" name="Group 8">
            <a:extLst>
              <a:ext uri="{FF2B5EF4-FFF2-40B4-BE49-F238E27FC236}">
                <a16:creationId xmlns:a16="http://schemas.microsoft.com/office/drawing/2014/main" id="{C697E9C7-D52F-001E-05C2-183F05DC7902}"/>
              </a:ext>
            </a:extLst>
          </p:cNvPr>
          <p:cNvGrpSpPr/>
          <p:nvPr/>
        </p:nvGrpSpPr>
        <p:grpSpPr>
          <a:xfrm>
            <a:off x="6110756" y="3914470"/>
            <a:ext cx="5457927" cy="873919"/>
            <a:chOff x="0" y="0"/>
            <a:chExt cx="10915853" cy="1747838"/>
          </a:xfrm>
          <a:blipFill>
            <a:blip r:embed="rId2"/>
            <a:tile tx="0" ty="0" sx="100000" sy="100000" flip="none" algn="tl"/>
          </a:blipFill>
        </p:grpSpPr>
        <p:sp>
          <p:nvSpPr>
            <p:cNvPr id="46" name="Freeform 9">
              <a:extLst>
                <a:ext uri="{FF2B5EF4-FFF2-40B4-BE49-F238E27FC236}">
                  <a16:creationId xmlns:a16="http://schemas.microsoft.com/office/drawing/2014/main" id="{5B5AEFD2-338A-306F-806E-7F753B1DD1B4}"/>
                </a:ext>
              </a:extLst>
            </p:cNvPr>
            <p:cNvSpPr/>
            <p:nvPr/>
          </p:nvSpPr>
          <p:spPr>
            <a:xfrm>
              <a:off x="12700" y="12700"/>
              <a:ext cx="10890504" cy="1722374"/>
            </a:xfrm>
            <a:custGeom>
              <a:avLst/>
              <a:gdLst/>
              <a:ahLst/>
              <a:cxnLst/>
              <a:rect l="l" t="t" r="r" b="b"/>
              <a:pathLst>
                <a:path w="10890504" h="1722374">
                  <a:moveTo>
                    <a:pt x="0" y="374015"/>
                  </a:moveTo>
                  <a:cubicBezTo>
                    <a:pt x="0" y="167513"/>
                    <a:pt x="169545" y="0"/>
                    <a:pt x="378714" y="0"/>
                  </a:cubicBezTo>
                  <a:lnTo>
                    <a:pt x="10511790" y="0"/>
                  </a:lnTo>
                  <a:cubicBezTo>
                    <a:pt x="10720959" y="0"/>
                    <a:pt x="10890504" y="167513"/>
                    <a:pt x="10890504" y="374015"/>
                  </a:cubicBezTo>
                  <a:lnTo>
                    <a:pt x="10890504" y="1348359"/>
                  </a:lnTo>
                  <a:cubicBezTo>
                    <a:pt x="10890504" y="1554988"/>
                    <a:pt x="10720959" y="1722374"/>
                    <a:pt x="10511790" y="1722374"/>
                  </a:cubicBezTo>
                  <a:lnTo>
                    <a:pt x="378714" y="1722374"/>
                  </a:lnTo>
                  <a:cubicBezTo>
                    <a:pt x="169545" y="1722374"/>
                    <a:pt x="0" y="1554988"/>
                    <a:pt x="0" y="1348359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  <p:sp>
          <p:nvSpPr>
            <p:cNvPr id="47" name="Freeform 10">
              <a:extLst>
                <a:ext uri="{FF2B5EF4-FFF2-40B4-BE49-F238E27FC236}">
                  <a16:creationId xmlns:a16="http://schemas.microsoft.com/office/drawing/2014/main" id="{982F519F-5488-135E-41F4-02025B657116}"/>
                </a:ext>
              </a:extLst>
            </p:cNvPr>
            <p:cNvSpPr/>
            <p:nvPr/>
          </p:nvSpPr>
          <p:spPr>
            <a:xfrm>
              <a:off x="0" y="0"/>
              <a:ext cx="10915904" cy="1747774"/>
            </a:xfrm>
            <a:custGeom>
              <a:avLst/>
              <a:gdLst/>
              <a:ahLst/>
              <a:cxnLst/>
              <a:rect l="l" t="t" r="r" b="b"/>
              <a:pathLst>
                <a:path w="10915904" h="1747774">
                  <a:moveTo>
                    <a:pt x="0" y="386715"/>
                  </a:moveTo>
                  <a:cubicBezTo>
                    <a:pt x="0" y="172974"/>
                    <a:pt x="175387" y="0"/>
                    <a:pt x="391414" y="0"/>
                  </a:cubicBezTo>
                  <a:lnTo>
                    <a:pt x="10524490" y="0"/>
                  </a:lnTo>
                  <a:lnTo>
                    <a:pt x="10524490" y="12700"/>
                  </a:lnTo>
                  <a:lnTo>
                    <a:pt x="10524490" y="0"/>
                  </a:lnTo>
                  <a:cubicBezTo>
                    <a:pt x="10740517" y="0"/>
                    <a:pt x="10915904" y="172974"/>
                    <a:pt x="10915904" y="386715"/>
                  </a:cubicBezTo>
                  <a:lnTo>
                    <a:pt x="10903204" y="386715"/>
                  </a:lnTo>
                  <a:lnTo>
                    <a:pt x="10915904" y="386715"/>
                  </a:lnTo>
                  <a:lnTo>
                    <a:pt x="10915904" y="1361059"/>
                  </a:lnTo>
                  <a:lnTo>
                    <a:pt x="10903204" y="1361059"/>
                  </a:lnTo>
                  <a:lnTo>
                    <a:pt x="10915904" y="1361059"/>
                  </a:lnTo>
                  <a:cubicBezTo>
                    <a:pt x="10915904" y="1574800"/>
                    <a:pt x="10740517" y="1747774"/>
                    <a:pt x="10524490" y="1747774"/>
                  </a:cubicBezTo>
                  <a:lnTo>
                    <a:pt x="10524490" y="1735074"/>
                  </a:lnTo>
                  <a:lnTo>
                    <a:pt x="10524490" y="1747774"/>
                  </a:lnTo>
                  <a:lnTo>
                    <a:pt x="391414" y="1747774"/>
                  </a:lnTo>
                  <a:lnTo>
                    <a:pt x="391414" y="1735074"/>
                  </a:lnTo>
                  <a:lnTo>
                    <a:pt x="391414" y="1747774"/>
                  </a:lnTo>
                  <a:cubicBezTo>
                    <a:pt x="175387" y="1747774"/>
                    <a:pt x="0" y="1574800"/>
                    <a:pt x="0" y="1361059"/>
                  </a:cubicBezTo>
                  <a:lnTo>
                    <a:pt x="0" y="386715"/>
                  </a:lnTo>
                  <a:lnTo>
                    <a:pt x="12700" y="386715"/>
                  </a:lnTo>
                  <a:lnTo>
                    <a:pt x="0" y="386715"/>
                  </a:lnTo>
                  <a:moveTo>
                    <a:pt x="25400" y="386715"/>
                  </a:moveTo>
                  <a:lnTo>
                    <a:pt x="25400" y="1361059"/>
                  </a:lnTo>
                  <a:lnTo>
                    <a:pt x="12700" y="1361059"/>
                  </a:lnTo>
                  <a:lnTo>
                    <a:pt x="25400" y="1361059"/>
                  </a:lnTo>
                  <a:cubicBezTo>
                    <a:pt x="25400" y="1560449"/>
                    <a:pt x="189103" y="1722374"/>
                    <a:pt x="391414" y="1722374"/>
                  </a:cubicBezTo>
                  <a:lnTo>
                    <a:pt x="10524490" y="1722374"/>
                  </a:lnTo>
                  <a:cubicBezTo>
                    <a:pt x="10726801" y="1722374"/>
                    <a:pt x="10890504" y="1560449"/>
                    <a:pt x="10890504" y="1361059"/>
                  </a:cubicBezTo>
                  <a:lnTo>
                    <a:pt x="10890504" y="386715"/>
                  </a:lnTo>
                  <a:cubicBezTo>
                    <a:pt x="10890504" y="187325"/>
                    <a:pt x="10726674" y="25400"/>
                    <a:pt x="10524490" y="25400"/>
                  </a:cubicBezTo>
                  <a:lnTo>
                    <a:pt x="391414" y="25400"/>
                  </a:lnTo>
                  <a:lnTo>
                    <a:pt x="391414" y="12700"/>
                  </a:lnTo>
                  <a:lnTo>
                    <a:pt x="391414" y="25400"/>
                  </a:lnTo>
                  <a:cubicBezTo>
                    <a:pt x="189103" y="25400"/>
                    <a:pt x="25400" y="187325"/>
                    <a:pt x="25400" y="386715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498673" y="313830"/>
            <a:ext cx="6752831" cy="1136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75"/>
              </a:lnSpc>
            </a:pPr>
            <a:r>
              <a:rPr lang="en-US" sz="4400" b="1" dirty="0" err="1">
                <a:solidFill>
                  <a:schemeClr val="accent1"/>
                </a:solidFill>
                <a:latin typeface="+mj-lt"/>
                <a:ea typeface="+mj-ea"/>
                <a:cs typeface="+mj-cs"/>
                <a:sym typeface="Arimo"/>
              </a:rPr>
              <a:t>Estructura</a:t>
            </a:r>
            <a:r>
              <a:rPr lang="en-US" sz="4400" b="1" dirty="0">
                <a:solidFill>
                  <a:schemeClr val="accent1"/>
                </a:solidFill>
                <a:latin typeface="+mj-lt"/>
                <a:ea typeface="+mj-ea"/>
                <a:cs typeface="+mj-cs"/>
                <a:sym typeface="Arimo"/>
              </a:rPr>
              <a:t> de Memoria y </a:t>
            </a:r>
            <a:r>
              <a:rPr lang="en-US" sz="4400" b="1" dirty="0" err="1">
                <a:solidFill>
                  <a:schemeClr val="accent1"/>
                </a:solidFill>
                <a:latin typeface="+mj-lt"/>
                <a:ea typeface="+mj-ea"/>
                <a:cs typeface="+mj-cs"/>
                <a:sym typeface="Arimo"/>
              </a:rPr>
              <a:t>Procesos</a:t>
            </a:r>
            <a:endParaRPr lang="en-US" sz="4400" b="1" dirty="0">
              <a:solidFill>
                <a:schemeClr val="accent1"/>
              </a:solidFill>
              <a:latin typeface="+mj-lt"/>
              <a:ea typeface="+mj-ea"/>
              <a:cs typeface="+mj-cs"/>
              <a:sym typeface="Arim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98672" y="1715649"/>
            <a:ext cx="3570407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25"/>
              </a:lnSpc>
            </a:pPr>
            <a:r>
              <a:rPr lang="en-US" sz="2083" b="1" dirty="0">
                <a:latin typeface="Calibri (Cuerpo)"/>
                <a:ea typeface="Arimo"/>
                <a:cs typeface="Arimo"/>
                <a:sym typeface="Arimo"/>
              </a:rPr>
              <a:t>Memoria del SGBD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98672" y="2448843"/>
            <a:ext cx="5457927" cy="873919"/>
            <a:chOff x="0" y="0"/>
            <a:chExt cx="10915853" cy="1747838"/>
          </a:xfrm>
          <a:blipFill>
            <a:blip r:embed="rId2"/>
            <a:tile tx="0" ty="0" sx="100000" sy="100000" flip="none" algn="tl"/>
          </a:blipFill>
        </p:grpSpPr>
        <p:sp>
          <p:nvSpPr>
            <p:cNvPr id="9" name="Freeform 9"/>
            <p:cNvSpPr/>
            <p:nvPr/>
          </p:nvSpPr>
          <p:spPr>
            <a:xfrm>
              <a:off x="12700" y="12700"/>
              <a:ext cx="10890504" cy="1722374"/>
            </a:xfrm>
            <a:custGeom>
              <a:avLst/>
              <a:gdLst/>
              <a:ahLst/>
              <a:cxnLst/>
              <a:rect l="l" t="t" r="r" b="b"/>
              <a:pathLst>
                <a:path w="10890504" h="1722374">
                  <a:moveTo>
                    <a:pt x="0" y="374015"/>
                  </a:moveTo>
                  <a:cubicBezTo>
                    <a:pt x="0" y="167513"/>
                    <a:pt x="169545" y="0"/>
                    <a:pt x="378714" y="0"/>
                  </a:cubicBezTo>
                  <a:lnTo>
                    <a:pt x="10511790" y="0"/>
                  </a:lnTo>
                  <a:cubicBezTo>
                    <a:pt x="10720959" y="0"/>
                    <a:pt x="10890504" y="167513"/>
                    <a:pt x="10890504" y="374015"/>
                  </a:cubicBezTo>
                  <a:lnTo>
                    <a:pt x="10890504" y="1348359"/>
                  </a:lnTo>
                  <a:cubicBezTo>
                    <a:pt x="10890504" y="1554988"/>
                    <a:pt x="10720959" y="1722374"/>
                    <a:pt x="10511790" y="1722374"/>
                  </a:cubicBezTo>
                  <a:lnTo>
                    <a:pt x="378714" y="1722374"/>
                  </a:lnTo>
                  <a:cubicBezTo>
                    <a:pt x="169545" y="1722374"/>
                    <a:pt x="0" y="1554988"/>
                    <a:pt x="0" y="1348359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10915904" cy="1747774"/>
            </a:xfrm>
            <a:custGeom>
              <a:avLst/>
              <a:gdLst/>
              <a:ahLst/>
              <a:cxnLst/>
              <a:rect l="l" t="t" r="r" b="b"/>
              <a:pathLst>
                <a:path w="10915904" h="1747774">
                  <a:moveTo>
                    <a:pt x="0" y="386715"/>
                  </a:moveTo>
                  <a:cubicBezTo>
                    <a:pt x="0" y="172974"/>
                    <a:pt x="175387" y="0"/>
                    <a:pt x="391414" y="0"/>
                  </a:cubicBezTo>
                  <a:lnTo>
                    <a:pt x="10524490" y="0"/>
                  </a:lnTo>
                  <a:lnTo>
                    <a:pt x="10524490" y="12700"/>
                  </a:lnTo>
                  <a:lnTo>
                    <a:pt x="10524490" y="0"/>
                  </a:lnTo>
                  <a:cubicBezTo>
                    <a:pt x="10740517" y="0"/>
                    <a:pt x="10915904" y="172974"/>
                    <a:pt x="10915904" y="386715"/>
                  </a:cubicBezTo>
                  <a:lnTo>
                    <a:pt x="10903204" y="386715"/>
                  </a:lnTo>
                  <a:lnTo>
                    <a:pt x="10915904" y="386715"/>
                  </a:lnTo>
                  <a:lnTo>
                    <a:pt x="10915904" y="1361059"/>
                  </a:lnTo>
                  <a:lnTo>
                    <a:pt x="10903204" y="1361059"/>
                  </a:lnTo>
                  <a:lnTo>
                    <a:pt x="10915904" y="1361059"/>
                  </a:lnTo>
                  <a:cubicBezTo>
                    <a:pt x="10915904" y="1574800"/>
                    <a:pt x="10740517" y="1747774"/>
                    <a:pt x="10524490" y="1747774"/>
                  </a:cubicBezTo>
                  <a:lnTo>
                    <a:pt x="10524490" y="1735074"/>
                  </a:lnTo>
                  <a:lnTo>
                    <a:pt x="10524490" y="1747774"/>
                  </a:lnTo>
                  <a:lnTo>
                    <a:pt x="391414" y="1747774"/>
                  </a:lnTo>
                  <a:lnTo>
                    <a:pt x="391414" y="1735074"/>
                  </a:lnTo>
                  <a:lnTo>
                    <a:pt x="391414" y="1747774"/>
                  </a:lnTo>
                  <a:cubicBezTo>
                    <a:pt x="175387" y="1747774"/>
                    <a:pt x="0" y="1574800"/>
                    <a:pt x="0" y="1361059"/>
                  </a:cubicBezTo>
                  <a:lnTo>
                    <a:pt x="0" y="386715"/>
                  </a:lnTo>
                  <a:lnTo>
                    <a:pt x="12700" y="386715"/>
                  </a:lnTo>
                  <a:lnTo>
                    <a:pt x="0" y="386715"/>
                  </a:lnTo>
                  <a:moveTo>
                    <a:pt x="25400" y="386715"/>
                  </a:moveTo>
                  <a:lnTo>
                    <a:pt x="25400" y="1361059"/>
                  </a:lnTo>
                  <a:lnTo>
                    <a:pt x="12700" y="1361059"/>
                  </a:lnTo>
                  <a:lnTo>
                    <a:pt x="25400" y="1361059"/>
                  </a:lnTo>
                  <a:cubicBezTo>
                    <a:pt x="25400" y="1560449"/>
                    <a:pt x="189103" y="1722374"/>
                    <a:pt x="391414" y="1722374"/>
                  </a:cubicBezTo>
                  <a:lnTo>
                    <a:pt x="10524490" y="1722374"/>
                  </a:lnTo>
                  <a:cubicBezTo>
                    <a:pt x="10726801" y="1722374"/>
                    <a:pt x="10890504" y="1560449"/>
                    <a:pt x="10890504" y="1361059"/>
                  </a:cubicBezTo>
                  <a:lnTo>
                    <a:pt x="10890504" y="386715"/>
                  </a:lnTo>
                  <a:cubicBezTo>
                    <a:pt x="10890504" y="187325"/>
                    <a:pt x="10726674" y="25400"/>
                    <a:pt x="10524490" y="25400"/>
                  </a:cubicBezTo>
                  <a:lnTo>
                    <a:pt x="391414" y="25400"/>
                  </a:lnTo>
                  <a:lnTo>
                    <a:pt x="391414" y="12700"/>
                  </a:lnTo>
                  <a:lnTo>
                    <a:pt x="391414" y="25400"/>
                  </a:lnTo>
                  <a:cubicBezTo>
                    <a:pt x="189103" y="25400"/>
                    <a:pt x="25400" y="187325"/>
                    <a:pt x="25400" y="386715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642341" y="2573462"/>
            <a:ext cx="2240356" cy="270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6"/>
              </a:lnSpc>
            </a:pPr>
            <a:r>
              <a:rPr lang="en-US" sz="1750" dirty="0">
                <a:latin typeface="Calibri (Cuerpo)"/>
                <a:ea typeface="Arimo"/>
                <a:cs typeface="Arimo"/>
                <a:sym typeface="Arimo"/>
              </a:rPr>
              <a:t>Buffer del Pool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2341" y="2949300"/>
            <a:ext cx="5170589" cy="178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99"/>
              </a:lnSpc>
            </a:pPr>
            <a:r>
              <a:rPr lang="en-US" sz="958">
                <a:latin typeface="Calibri (Cuerpo)"/>
                <a:ea typeface="Poppins"/>
                <a:cs typeface="Poppins"/>
                <a:sym typeface="Poppins"/>
              </a:rPr>
              <a:t>Caché para bloques de datos frecuentes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98672" y="3424953"/>
            <a:ext cx="5457927" cy="873919"/>
            <a:chOff x="0" y="0"/>
            <a:chExt cx="10915853" cy="1747838"/>
          </a:xfrm>
          <a:blipFill>
            <a:blip r:embed="rId2"/>
            <a:tile tx="0" ty="0" sx="100000" sy="100000" flip="none" algn="tl"/>
          </a:blipFill>
        </p:grpSpPr>
        <p:sp>
          <p:nvSpPr>
            <p:cNvPr id="14" name="Freeform 14"/>
            <p:cNvSpPr/>
            <p:nvPr/>
          </p:nvSpPr>
          <p:spPr>
            <a:xfrm>
              <a:off x="12700" y="12700"/>
              <a:ext cx="10890504" cy="1722374"/>
            </a:xfrm>
            <a:custGeom>
              <a:avLst/>
              <a:gdLst/>
              <a:ahLst/>
              <a:cxnLst/>
              <a:rect l="l" t="t" r="r" b="b"/>
              <a:pathLst>
                <a:path w="10890504" h="1722374">
                  <a:moveTo>
                    <a:pt x="0" y="374015"/>
                  </a:moveTo>
                  <a:cubicBezTo>
                    <a:pt x="0" y="167513"/>
                    <a:pt x="169545" y="0"/>
                    <a:pt x="378714" y="0"/>
                  </a:cubicBezTo>
                  <a:lnTo>
                    <a:pt x="10511790" y="0"/>
                  </a:lnTo>
                  <a:cubicBezTo>
                    <a:pt x="10720959" y="0"/>
                    <a:pt x="10890504" y="167513"/>
                    <a:pt x="10890504" y="374015"/>
                  </a:cubicBezTo>
                  <a:lnTo>
                    <a:pt x="10890504" y="1348359"/>
                  </a:lnTo>
                  <a:cubicBezTo>
                    <a:pt x="10890504" y="1554988"/>
                    <a:pt x="10720959" y="1722374"/>
                    <a:pt x="10511790" y="1722374"/>
                  </a:cubicBezTo>
                  <a:lnTo>
                    <a:pt x="378714" y="1722374"/>
                  </a:lnTo>
                  <a:cubicBezTo>
                    <a:pt x="169545" y="1722374"/>
                    <a:pt x="0" y="1554988"/>
                    <a:pt x="0" y="1348359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10915904" cy="1747774"/>
            </a:xfrm>
            <a:custGeom>
              <a:avLst/>
              <a:gdLst/>
              <a:ahLst/>
              <a:cxnLst/>
              <a:rect l="l" t="t" r="r" b="b"/>
              <a:pathLst>
                <a:path w="10915904" h="1747774">
                  <a:moveTo>
                    <a:pt x="0" y="386715"/>
                  </a:moveTo>
                  <a:cubicBezTo>
                    <a:pt x="0" y="172974"/>
                    <a:pt x="175387" y="0"/>
                    <a:pt x="391414" y="0"/>
                  </a:cubicBezTo>
                  <a:lnTo>
                    <a:pt x="10524490" y="0"/>
                  </a:lnTo>
                  <a:lnTo>
                    <a:pt x="10524490" y="12700"/>
                  </a:lnTo>
                  <a:lnTo>
                    <a:pt x="10524490" y="0"/>
                  </a:lnTo>
                  <a:cubicBezTo>
                    <a:pt x="10740517" y="0"/>
                    <a:pt x="10915904" y="172974"/>
                    <a:pt x="10915904" y="386715"/>
                  </a:cubicBezTo>
                  <a:lnTo>
                    <a:pt x="10903204" y="386715"/>
                  </a:lnTo>
                  <a:lnTo>
                    <a:pt x="10915904" y="386715"/>
                  </a:lnTo>
                  <a:lnTo>
                    <a:pt x="10915904" y="1361059"/>
                  </a:lnTo>
                  <a:lnTo>
                    <a:pt x="10903204" y="1361059"/>
                  </a:lnTo>
                  <a:lnTo>
                    <a:pt x="10915904" y="1361059"/>
                  </a:lnTo>
                  <a:cubicBezTo>
                    <a:pt x="10915904" y="1574800"/>
                    <a:pt x="10740517" y="1747774"/>
                    <a:pt x="10524490" y="1747774"/>
                  </a:cubicBezTo>
                  <a:lnTo>
                    <a:pt x="10524490" y="1735074"/>
                  </a:lnTo>
                  <a:lnTo>
                    <a:pt x="10524490" y="1747774"/>
                  </a:lnTo>
                  <a:lnTo>
                    <a:pt x="391414" y="1747774"/>
                  </a:lnTo>
                  <a:lnTo>
                    <a:pt x="391414" y="1735074"/>
                  </a:lnTo>
                  <a:lnTo>
                    <a:pt x="391414" y="1747774"/>
                  </a:lnTo>
                  <a:cubicBezTo>
                    <a:pt x="175387" y="1747774"/>
                    <a:pt x="0" y="1574800"/>
                    <a:pt x="0" y="1361059"/>
                  </a:cubicBezTo>
                  <a:lnTo>
                    <a:pt x="0" y="386715"/>
                  </a:lnTo>
                  <a:lnTo>
                    <a:pt x="12700" y="386715"/>
                  </a:lnTo>
                  <a:lnTo>
                    <a:pt x="0" y="386715"/>
                  </a:lnTo>
                  <a:moveTo>
                    <a:pt x="25400" y="386715"/>
                  </a:moveTo>
                  <a:lnTo>
                    <a:pt x="25400" y="1361059"/>
                  </a:lnTo>
                  <a:lnTo>
                    <a:pt x="12700" y="1361059"/>
                  </a:lnTo>
                  <a:lnTo>
                    <a:pt x="25400" y="1361059"/>
                  </a:lnTo>
                  <a:cubicBezTo>
                    <a:pt x="25400" y="1560449"/>
                    <a:pt x="189103" y="1722374"/>
                    <a:pt x="391414" y="1722374"/>
                  </a:cubicBezTo>
                  <a:lnTo>
                    <a:pt x="10524490" y="1722374"/>
                  </a:lnTo>
                  <a:cubicBezTo>
                    <a:pt x="10726801" y="1722374"/>
                    <a:pt x="10890504" y="1560449"/>
                    <a:pt x="10890504" y="1361059"/>
                  </a:cubicBezTo>
                  <a:lnTo>
                    <a:pt x="10890504" y="386715"/>
                  </a:lnTo>
                  <a:cubicBezTo>
                    <a:pt x="10890504" y="187325"/>
                    <a:pt x="10726674" y="25400"/>
                    <a:pt x="10524490" y="25400"/>
                  </a:cubicBezTo>
                  <a:lnTo>
                    <a:pt x="391414" y="25400"/>
                  </a:lnTo>
                  <a:lnTo>
                    <a:pt x="391414" y="12700"/>
                  </a:lnTo>
                  <a:lnTo>
                    <a:pt x="391414" y="25400"/>
                  </a:lnTo>
                  <a:cubicBezTo>
                    <a:pt x="189103" y="25400"/>
                    <a:pt x="25400" y="187325"/>
                    <a:pt x="25400" y="386715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642341" y="3549572"/>
            <a:ext cx="2240356" cy="270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6"/>
              </a:lnSpc>
            </a:pPr>
            <a:r>
              <a:rPr lang="en-US" sz="1750">
                <a:latin typeface="Calibri (Cuerpo)"/>
                <a:ea typeface="Arimo"/>
                <a:cs typeface="Arimo"/>
                <a:sym typeface="Arimo"/>
              </a:rPr>
              <a:t>Log Buffer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2341" y="3925416"/>
            <a:ext cx="5170589" cy="178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99"/>
              </a:lnSpc>
            </a:pPr>
            <a:r>
              <a:rPr lang="en-US" sz="958">
                <a:latin typeface="Calibri (Cuerpo)"/>
                <a:ea typeface="Poppins"/>
                <a:cs typeface="Poppins"/>
                <a:sym typeface="Poppins"/>
              </a:rPr>
              <a:t>Almacena transacciones antes de grabar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98672" y="4401068"/>
            <a:ext cx="5457927" cy="873919"/>
            <a:chOff x="0" y="0"/>
            <a:chExt cx="10915853" cy="1747838"/>
          </a:xfrm>
          <a:blipFill>
            <a:blip r:embed="rId2"/>
            <a:tile tx="0" ty="0" sx="100000" sy="100000" flip="none" algn="tl"/>
          </a:blipFill>
        </p:grpSpPr>
        <p:sp>
          <p:nvSpPr>
            <p:cNvPr id="19" name="Freeform 19"/>
            <p:cNvSpPr/>
            <p:nvPr/>
          </p:nvSpPr>
          <p:spPr>
            <a:xfrm>
              <a:off x="12700" y="12700"/>
              <a:ext cx="10890504" cy="1722374"/>
            </a:xfrm>
            <a:custGeom>
              <a:avLst/>
              <a:gdLst/>
              <a:ahLst/>
              <a:cxnLst/>
              <a:rect l="l" t="t" r="r" b="b"/>
              <a:pathLst>
                <a:path w="10890504" h="1722374">
                  <a:moveTo>
                    <a:pt x="0" y="374015"/>
                  </a:moveTo>
                  <a:cubicBezTo>
                    <a:pt x="0" y="167513"/>
                    <a:pt x="169545" y="0"/>
                    <a:pt x="378714" y="0"/>
                  </a:cubicBezTo>
                  <a:lnTo>
                    <a:pt x="10511790" y="0"/>
                  </a:lnTo>
                  <a:cubicBezTo>
                    <a:pt x="10720959" y="0"/>
                    <a:pt x="10890504" y="167513"/>
                    <a:pt x="10890504" y="374015"/>
                  </a:cubicBezTo>
                  <a:lnTo>
                    <a:pt x="10890504" y="1348359"/>
                  </a:lnTo>
                  <a:cubicBezTo>
                    <a:pt x="10890504" y="1554988"/>
                    <a:pt x="10720959" y="1722374"/>
                    <a:pt x="10511790" y="1722374"/>
                  </a:cubicBezTo>
                  <a:lnTo>
                    <a:pt x="378714" y="1722374"/>
                  </a:lnTo>
                  <a:cubicBezTo>
                    <a:pt x="169545" y="1722374"/>
                    <a:pt x="0" y="1554988"/>
                    <a:pt x="0" y="1348359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0" y="0"/>
              <a:ext cx="10915904" cy="1747774"/>
            </a:xfrm>
            <a:custGeom>
              <a:avLst/>
              <a:gdLst/>
              <a:ahLst/>
              <a:cxnLst/>
              <a:rect l="l" t="t" r="r" b="b"/>
              <a:pathLst>
                <a:path w="10915904" h="1747774">
                  <a:moveTo>
                    <a:pt x="0" y="386715"/>
                  </a:moveTo>
                  <a:cubicBezTo>
                    <a:pt x="0" y="172974"/>
                    <a:pt x="175387" y="0"/>
                    <a:pt x="391414" y="0"/>
                  </a:cubicBezTo>
                  <a:lnTo>
                    <a:pt x="10524490" y="0"/>
                  </a:lnTo>
                  <a:lnTo>
                    <a:pt x="10524490" y="12700"/>
                  </a:lnTo>
                  <a:lnTo>
                    <a:pt x="10524490" y="0"/>
                  </a:lnTo>
                  <a:cubicBezTo>
                    <a:pt x="10740517" y="0"/>
                    <a:pt x="10915904" y="172974"/>
                    <a:pt x="10915904" y="386715"/>
                  </a:cubicBezTo>
                  <a:lnTo>
                    <a:pt x="10903204" y="386715"/>
                  </a:lnTo>
                  <a:lnTo>
                    <a:pt x="10915904" y="386715"/>
                  </a:lnTo>
                  <a:lnTo>
                    <a:pt x="10915904" y="1361059"/>
                  </a:lnTo>
                  <a:lnTo>
                    <a:pt x="10903204" y="1361059"/>
                  </a:lnTo>
                  <a:lnTo>
                    <a:pt x="10915904" y="1361059"/>
                  </a:lnTo>
                  <a:cubicBezTo>
                    <a:pt x="10915904" y="1574800"/>
                    <a:pt x="10740517" y="1747774"/>
                    <a:pt x="10524490" y="1747774"/>
                  </a:cubicBezTo>
                  <a:lnTo>
                    <a:pt x="10524490" y="1735074"/>
                  </a:lnTo>
                  <a:lnTo>
                    <a:pt x="10524490" y="1747774"/>
                  </a:lnTo>
                  <a:lnTo>
                    <a:pt x="391414" y="1747774"/>
                  </a:lnTo>
                  <a:lnTo>
                    <a:pt x="391414" y="1735074"/>
                  </a:lnTo>
                  <a:lnTo>
                    <a:pt x="391414" y="1747774"/>
                  </a:lnTo>
                  <a:cubicBezTo>
                    <a:pt x="175387" y="1747774"/>
                    <a:pt x="0" y="1574800"/>
                    <a:pt x="0" y="1361059"/>
                  </a:cubicBezTo>
                  <a:lnTo>
                    <a:pt x="0" y="386715"/>
                  </a:lnTo>
                  <a:lnTo>
                    <a:pt x="12700" y="386715"/>
                  </a:lnTo>
                  <a:lnTo>
                    <a:pt x="0" y="386715"/>
                  </a:lnTo>
                  <a:moveTo>
                    <a:pt x="25400" y="386715"/>
                  </a:moveTo>
                  <a:lnTo>
                    <a:pt x="25400" y="1361059"/>
                  </a:lnTo>
                  <a:lnTo>
                    <a:pt x="12700" y="1361059"/>
                  </a:lnTo>
                  <a:lnTo>
                    <a:pt x="25400" y="1361059"/>
                  </a:lnTo>
                  <a:cubicBezTo>
                    <a:pt x="25400" y="1560449"/>
                    <a:pt x="189103" y="1722374"/>
                    <a:pt x="391414" y="1722374"/>
                  </a:cubicBezTo>
                  <a:lnTo>
                    <a:pt x="10524490" y="1722374"/>
                  </a:lnTo>
                  <a:cubicBezTo>
                    <a:pt x="10726801" y="1722374"/>
                    <a:pt x="10890504" y="1560449"/>
                    <a:pt x="10890504" y="1361059"/>
                  </a:cubicBezTo>
                  <a:lnTo>
                    <a:pt x="10890504" y="386715"/>
                  </a:lnTo>
                  <a:cubicBezTo>
                    <a:pt x="10890504" y="187325"/>
                    <a:pt x="10726674" y="25400"/>
                    <a:pt x="10524490" y="25400"/>
                  </a:cubicBezTo>
                  <a:lnTo>
                    <a:pt x="391414" y="25400"/>
                  </a:lnTo>
                  <a:lnTo>
                    <a:pt x="391414" y="12700"/>
                  </a:lnTo>
                  <a:lnTo>
                    <a:pt x="391414" y="25400"/>
                  </a:lnTo>
                  <a:cubicBezTo>
                    <a:pt x="189103" y="25400"/>
                    <a:pt x="25400" y="187325"/>
                    <a:pt x="25400" y="386715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642341" y="4525688"/>
            <a:ext cx="2414785" cy="270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6"/>
              </a:lnSpc>
            </a:pPr>
            <a:r>
              <a:rPr lang="en-US" sz="1750">
                <a:latin typeface="Calibri (Cuerpo)"/>
                <a:ea typeface="Arimo"/>
                <a:cs typeface="Arimo"/>
                <a:sym typeface="Arimo"/>
              </a:rPr>
              <a:t>Memoria de Ordenación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2341" y="4901531"/>
            <a:ext cx="5170589" cy="178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99"/>
              </a:lnSpc>
            </a:pPr>
            <a:r>
              <a:rPr lang="en-US" sz="958">
                <a:latin typeface="Calibri (Cuerpo)"/>
                <a:ea typeface="Poppins"/>
                <a:cs typeface="Poppins"/>
                <a:sym typeface="Poppins"/>
              </a:rPr>
              <a:t>Espacio para operaciones ORDER BY y JOIN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54452" y="1167505"/>
            <a:ext cx="2688431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25"/>
              </a:lnSpc>
            </a:pPr>
            <a:r>
              <a:rPr lang="en-US" sz="2083" b="1" dirty="0" err="1">
                <a:latin typeface="Calibri (Cuerpo)"/>
                <a:ea typeface="Arimo"/>
                <a:cs typeface="Arimo"/>
                <a:sym typeface="Arimo"/>
              </a:rPr>
              <a:t>Procesos</a:t>
            </a:r>
            <a:r>
              <a:rPr lang="en-US" sz="2083" b="1" dirty="0">
                <a:latin typeface="Calibri (Cuerpo)"/>
                <a:ea typeface="Arimo"/>
                <a:cs typeface="Arimo"/>
                <a:sym typeface="Arimo"/>
              </a:rPr>
              <a:t> del SGBD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254451" y="1926032"/>
            <a:ext cx="2240356" cy="270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6"/>
              </a:lnSpc>
            </a:pPr>
            <a:r>
              <a:rPr lang="en-US" sz="1750" dirty="0" err="1">
                <a:latin typeface="Calibri (Cuerpo)"/>
                <a:ea typeface="Arimo"/>
                <a:cs typeface="Arimo"/>
                <a:sym typeface="Arimo"/>
              </a:rPr>
              <a:t>Proceso</a:t>
            </a:r>
            <a:r>
              <a:rPr lang="en-US" sz="1750" dirty="0">
                <a:latin typeface="Calibri (Cuerpo)"/>
                <a:ea typeface="Arimo"/>
                <a:cs typeface="Arimo"/>
                <a:sym typeface="Arimo"/>
              </a:rPr>
              <a:t> de </a:t>
            </a:r>
            <a:r>
              <a:rPr lang="en-US" sz="1750" dirty="0" err="1">
                <a:latin typeface="Calibri (Cuerpo)"/>
                <a:ea typeface="Arimo"/>
                <a:cs typeface="Arimo"/>
                <a:sym typeface="Arimo"/>
              </a:rPr>
              <a:t>Escucha</a:t>
            </a:r>
            <a:endParaRPr lang="en-US" sz="1750" dirty="0">
              <a:latin typeface="Calibri (Cuerpo)"/>
              <a:ea typeface="Arimo"/>
              <a:cs typeface="Arimo"/>
              <a:sym typeface="Arimo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6254451" y="2301875"/>
            <a:ext cx="5445227" cy="178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99"/>
              </a:lnSpc>
            </a:pPr>
            <a:r>
              <a:rPr lang="en-US" sz="958">
                <a:latin typeface="Calibri (Cuerpo)"/>
                <a:ea typeface="Poppins"/>
                <a:cs typeface="Poppins"/>
                <a:sym typeface="Poppins"/>
              </a:rPr>
              <a:t>Acepta conexiones entrantes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254451" y="3007818"/>
            <a:ext cx="2240356" cy="270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6"/>
              </a:lnSpc>
            </a:pPr>
            <a:r>
              <a:rPr lang="en-US" sz="1750">
                <a:latin typeface="Calibri (Cuerpo)"/>
                <a:ea typeface="Arimo"/>
                <a:cs typeface="Arimo"/>
                <a:sym typeface="Arimo"/>
              </a:rPr>
              <a:t>Procesos de Servidor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254451" y="3383655"/>
            <a:ext cx="5445227" cy="178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99"/>
              </a:lnSpc>
            </a:pPr>
            <a:r>
              <a:rPr lang="en-US" sz="958">
                <a:latin typeface="Calibri (Cuerpo)"/>
                <a:ea typeface="Poppins"/>
                <a:cs typeface="Poppins"/>
                <a:sym typeface="Poppins"/>
              </a:rPr>
              <a:t>Atienden solicitudes de cada cliente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254451" y="4089597"/>
            <a:ext cx="2240356" cy="270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6"/>
              </a:lnSpc>
            </a:pPr>
            <a:r>
              <a:rPr lang="en-US" sz="1750">
                <a:latin typeface="Calibri (Cuerpo)"/>
                <a:ea typeface="Arimo"/>
                <a:cs typeface="Arimo"/>
                <a:sym typeface="Arimo"/>
              </a:rPr>
              <a:t>Proceso de Escritor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254451" y="4465441"/>
            <a:ext cx="5445227" cy="178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99"/>
              </a:lnSpc>
            </a:pPr>
            <a:r>
              <a:rPr lang="en-US" sz="958">
                <a:latin typeface="Calibri (Cuerpo)"/>
                <a:ea typeface="Poppins"/>
                <a:cs typeface="Poppins"/>
                <a:sym typeface="Poppins"/>
              </a:rPr>
              <a:t>Graba datos modificados en disco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254451" y="5171383"/>
            <a:ext cx="2240356" cy="270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6"/>
              </a:lnSpc>
            </a:pPr>
            <a:r>
              <a:rPr lang="en-US" sz="1750" dirty="0" err="1">
                <a:latin typeface="Calibri (Cuerpo)"/>
                <a:ea typeface="Arimo"/>
                <a:cs typeface="Arimo"/>
                <a:sym typeface="Arimo"/>
              </a:rPr>
              <a:t>Proceso</a:t>
            </a:r>
            <a:r>
              <a:rPr lang="en-US" sz="1750" dirty="0">
                <a:latin typeface="Calibri (Cuerpo)"/>
                <a:ea typeface="Arimo"/>
                <a:cs typeface="Arimo"/>
                <a:sym typeface="Arimo"/>
              </a:rPr>
              <a:t> de Log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254451" y="5547221"/>
            <a:ext cx="5445227" cy="178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99"/>
              </a:lnSpc>
            </a:pPr>
            <a:r>
              <a:rPr lang="en-US" sz="958">
                <a:latin typeface="Calibri (Cuerpo)"/>
                <a:ea typeface="Poppins"/>
                <a:cs typeface="Poppins"/>
                <a:sym typeface="Poppins"/>
              </a:rPr>
              <a:t>Mantiene registro de transacciones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42341" y="5547221"/>
            <a:ext cx="5094408" cy="782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99"/>
              </a:lnSpc>
            </a:pP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La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gestión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eficiente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de la memoria y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los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procesos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es fundamental para el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rendimiento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del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sistema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. Los SGBD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modernos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utilizan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técnicas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avanzadas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de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optimización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y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paralelización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agen 56">
            <a:extLst>
              <a:ext uri="{FF2B5EF4-FFF2-40B4-BE49-F238E27FC236}">
                <a16:creationId xmlns:a16="http://schemas.microsoft.com/office/drawing/2014/main" id="{5ECB92C2-316D-8ED2-80AC-7014554B9A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376" t="12428" r="20037"/>
          <a:stretch>
            <a:fillRect/>
          </a:stretch>
        </p:blipFill>
        <p:spPr>
          <a:xfrm>
            <a:off x="275180" y="1060844"/>
            <a:ext cx="4181475" cy="5797156"/>
          </a:xfrm>
          <a:prstGeom prst="rect">
            <a:avLst/>
          </a:prstGeom>
        </p:spPr>
      </p:pic>
      <p:grpSp>
        <p:nvGrpSpPr>
          <p:cNvPr id="50" name="Group 8">
            <a:extLst>
              <a:ext uri="{FF2B5EF4-FFF2-40B4-BE49-F238E27FC236}">
                <a16:creationId xmlns:a16="http://schemas.microsoft.com/office/drawing/2014/main" id="{4529B50F-3840-FD98-137A-04253A62F3AD}"/>
              </a:ext>
            </a:extLst>
          </p:cNvPr>
          <p:cNvGrpSpPr/>
          <p:nvPr/>
        </p:nvGrpSpPr>
        <p:grpSpPr>
          <a:xfrm>
            <a:off x="4894240" y="5326664"/>
            <a:ext cx="5457927" cy="1027655"/>
            <a:chOff x="0" y="0"/>
            <a:chExt cx="10915853" cy="1747838"/>
          </a:xfrm>
          <a:blipFill>
            <a:blip r:embed="rId2"/>
            <a:tile tx="0" ty="0" sx="100000" sy="100000" flip="none" algn="tl"/>
          </a:blipFill>
        </p:grpSpPr>
        <p:sp>
          <p:nvSpPr>
            <p:cNvPr id="51" name="Freeform 9">
              <a:extLst>
                <a:ext uri="{FF2B5EF4-FFF2-40B4-BE49-F238E27FC236}">
                  <a16:creationId xmlns:a16="http://schemas.microsoft.com/office/drawing/2014/main" id="{6202A491-48D1-9934-4686-6ADABA2C2A49}"/>
                </a:ext>
              </a:extLst>
            </p:cNvPr>
            <p:cNvSpPr/>
            <p:nvPr/>
          </p:nvSpPr>
          <p:spPr>
            <a:xfrm>
              <a:off x="12700" y="12700"/>
              <a:ext cx="10890504" cy="1722374"/>
            </a:xfrm>
            <a:custGeom>
              <a:avLst/>
              <a:gdLst/>
              <a:ahLst/>
              <a:cxnLst/>
              <a:rect l="l" t="t" r="r" b="b"/>
              <a:pathLst>
                <a:path w="10890504" h="1722374">
                  <a:moveTo>
                    <a:pt x="0" y="374015"/>
                  </a:moveTo>
                  <a:cubicBezTo>
                    <a:pt x="0" y="167513"/>
                    <a:pt x="169545" y="0"/>
                    <a:pt x="378714" y="0"/>
                  </a:cubicBezTo>
                  <a:lnTo>
                    <a:pt x="10511790" y="0"/>
                  </a:lnTo>
                  <a:cubicBezTo>
                    <a:pt x="10720959" y="0"/>
                    <a:pt x="10890504" y="167513"/>
                    <a:pt x="10890504" y="374015"/>
                  </a:cubicBezTo>
                  <a:lnTo>
                    <a:pt x="10890504" y="1348359"/>
                  </a:lnTo>
                  <a:cubicBezTo>
                    <a:pt x="10890504" y="1554988"/>
                    <a:pt x="10720959" y="1722374"/>
                    <a:pt x="10511790" y="1722374"/>
                  </a:cubicBezTo>
                  <a:lnTo>
                    <a:pt x="378714" y="1722374"/>
                  </a:lnTo>
                  <a:cubicBezTo>
                    <a:pt x="169545" y="1722374"/>
                    <a:pt x="0" y="1554988"/>
                    <a:pt x="0" y="1348359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  <p:sp>
          <p:nvSpPr>
            <p:cNvPr id="52" name="Freeform 10">
              <a:extLst>
                <a:ext uri="{FF2B5EF4-FFF2-40B4-BE49-F238E27FC236}">
                  <a16:creationId xmlns:a16="http://schemas.microsoft.com/office/drawing/2014/main" id="{EA6D3966-10D2-FCEA-4F27-1575ED2AE689}"/>
                </a:ext>
              </a:extLst>
            </p:cNvPr>
            <p:cNvSpPr/>
            <p:nvPr/>
          </p:nvSpPr>
          <p:spPr>
            <a:xfrm>
              <a:off x="0" y="0"/>
              <a:ext cx="10915904" cy="1747774"/>
            </a:xfrm>
            <a:custGeom>
              <a:avLst/>
              <a:gdLst/>
              <a:ahLst/>
              <a:cxnLst/>
              <a:rect l="l" t="t" r="r" b="b"/>
              <a:pathLst>
                <a:path w="10915904" h="1747774">
                  <a:moveTo>
                    <a:pt x="0" y="386715"/>
                  </a:moveTo>
                  <a:cubicBezTo>
                    <a:pt x="0" y="172974"/>
                    <a:pt x="175387" y="0"/>
                    <a:pt x="391414" y="0"/>
                  </a:cubicBezTo>
                  <a:lnTo>
                    <a:pt x="10524490" y="0"/>
                  </a:lnTo>
                  <a:lnTo>
                    <a:pt x="10524490" y="12700"/>
                  </a:lnTo>
                  <a:lnTo>
                    <a:pt x="10524490" y="0"/>
                  </a:lnTo>
                  <a:cubicBezTo>
                    <a:pt x="10740517" y="0"/>
                    <a:pt x="10915904" y="172974"/>
                    <a:pt x="10915904" y="386715"/>
                  </a:cubicBezTo>
                  <a:lnTo>
                    <a:pt x="10903204" y="386715"/>
                  </a:lnTo>
                  <a:lnTo>
                    <a:pt x="10915904" y="386715"/>
                  </a:lnTo>
                  <a:lnTo>
                    <a:pt x="10915904" y="1361059"/>
                  </a:lnTo>
                  <a:lnTo>
                    <a:pt x="10903204" y="1361059"/>
                  </a:lnTo>
                  <a:lnTo>
                    <a:pt x="10915904" y="1361059"/>
                  </a:lnTo>
                  <a:cubicBezTo>
                    <a:pt x="10915904" y="1574800"/>
                    <a:pt x="10740517" y="1747774"/>
                    <a:pt x="10524490" y="1747774"/>
                  </a:cubicBezTo>
                  <a:lnTo>
                    <a:pt x="10524490" y="1735074"/>
                  </a:lnTo>
                  <a:lnTo>
                    <a:pt x="10524490" y="1747774"/>
                  </a:lnTo>
                  <a:lnTo>
                    <a:pt x="391414" y="1747774"/>
                  </a:lnTo>
                  <a:lnTo>
                    <a:pt x="391414" y="1735074"/>
                  </a:lnTo>
                  <a:lnTo>
                    <a:pt x="391414" y="1747774"/>
                  </a:lnTo>
                  <a:cubicBezTo>
                    <a:pt x="175387" y="1747774"/>
                    <a:pt x="0" y="1574800"/>
                    <a:pt x="0" y="1361059"/>
                  </a:cubicBezTo>
                  <a:lnTo>
                    <a:pt x="0" y="386715"/>
                  </a:lnTo>
                  <a:lnTo>
                    <a:pt x="12700" y="386715"/>
                  </a:lnTo>
                  <a:lnTo>
                    <a:pt x="0" y="386715"/>
                  </a:lnTo>
                  <a:moveTo>
                    <a:pt x="25400" y="386715"/>
                  </a:moveTo>
                  <a:lnTo>
                    <a:pt x="25400" y="1361059"/>
                  </a:lnTo>
                  <a:lnTo>
                    <a:pt x="12700" y="1361059"/>
                  </a:lnTo>
                  <a:lnTo>
                    <a:pt x="25400" y="1361059"/>
                  </a:lnTo>
                  <a:cubicBezTo>
                    <a:pt x="25400" y="1560449"/>
                    <a:pt x="189103" y="1722374"/>
                    <a:pt x="391414" y="1722374"/>
                  </a:cubicBezTo>
                  <a:lnTo>
                    <a:pt x="10524490" y="1722374"/>
                  </a:lnTo>
                  <a:cubicBezTo>
                    <a:pt x="10726801" y="1722374"/>
                    <a:pt x="10890504" y="1560449"/>
                    <a:pt x="10890504" y="1361059"/>
                  </a:cubicBezTo>
                  <a:lnTo>
                    <a:pt x="10890504" y="386715"/>
                  </a:lnTo>
                  <a:cubicBezTo>
                    <a:pt x="10890504" y="187325"/>
                    <a:pt x="10726674" y="25400"/>
                    <a:pt x="10524490" y="25400"/>
                  </a:cubicBezTo>
                  <a:lnTo>
                    <a:pt x="391414" y="25400"/>
                  </a:lnTo>
                  <a:lnTo>
                    <a:pt x="391414" y="12700"/>
                  </a:lnTo>
                  <a:lnTo>
                    <a:pt x="391414" y="25400"/>
                  </a:lnTo>
                  <a:cubicBezTo>
                    <a:pt x="189103" y="25400"/>
                    <a:pt x="25400" y="187325"/>
                    <a:pt x="25400" y="386715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grpSp>
        <p:nvGrpSpPr>
          <p:cNvPr id="53" name="Group 8">
            <a:extLst>
              <a:ext uri="{FF2B5EF4-FFF2-40B4-BE49-F238E27FC236}">
                <a16:creationId xmlns:a16="http://schemas.microsoft.com/office/drawing/2014/main" id="{EF097BF4-5DDA-51F2-BC8B-DD1CA7A53DDF}"/>
              </a:ext>
            </a:extLst>
          </p:cNvPr>
          <p:cNvGrpSpPr/>
          <p:nvPr/>
        </p:nvGrpSpPr>
        <p:grpSpPr>
          <a:xfrm>
            <a:off x="4900565" y="4128112"/>
            <a:ext cx="5457927" cy="1027655"/>
            <a:chOff x="0" y="0"/>
            <a:chExt cx="10915853" cy="1747838"/>
          </a:xfrm>
          <a:blipFill>
            <a:blip r:embed="rId2"/>
            <a:tile tx="0" ty="0" sx="100000" sy="100000" flip="none" algn="tl"/>
          </a:blipFill>
        </p:grpSpPr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C0B3B8A7-118F-9345-4E09-BD185ADF1DED}"/>
                </a:ext>
              </a:extLst>
            </p:cNvPr>
            <p:cNvSpPr/>
            <p:nvPr/>
          </p:nvSpPr>
          <p:spPr>
            <a:xfrm>
              <a:off x="12700" y="12700"/>
              <a:ext cx="10890504" cy="1722374"/>
            </a:xfrm>
            <a:custGeom>
              <a:avLst/>
              <a:gdLst/>
              <a:ahLst/>
              <a:cxnLst/>
              <a:rect l="l" t="t" r="r" b="b"/>
              <a:pathLst>
                <a:path w="10890504" h="1722374">
                  <a:moveTo>
                    <a:pt x="0" y="374015"/>
                  </a:moveTo>
                  <a:cubicBezTo>
                    <a:pt x="0" y="167513"/>
                    <a:pt x="169545" y="0"/>
                    <a:pt x="378714" y="0"/>
                  </a:cubicBezTo>
                  <a:lnTo>
                    <a:pt x="10511790" y="0"/>
                  </a:lnTo>
                  <a:cubicBezTo>
                    <a:pt x="10720959" y="0"/>
                    <a:pt x="10890504" y="167513"/>
                    <a:pt x="10890504" y="374015"/>
                  </a:cubicBezTo>
                  <a:lnTo>
                    <a:pt x="10890504" y="1348359"/>
                  </a:lnTo>
                  <a:cubicBezTo>
                    <a:pt x="10890504" y="1554988"/>
                    <a:pt x="10720959" y="1722374"/>
                    <a:pt x="10511790" y="1722374"/>
                  </a:cubicBezTo>
                  <a:lnTo>
                    <a:pt x="378714" y="1722374"/>
                  </a:lnTo>
                  <a:cubicBezTo>
                    <a:pt x="169545" y="1722374"/>
                    <a:pt x="0" y="1554988"/>
                    <a:pt x="0" y="1348359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315A4E08-A3EE-ADF5-5330-7868480D726C}"/>
                </a:ext>
              </a:extLst>
            </p:cNvPr>
            <p:cNvSpPr/>
            <p:nvPr/>
          </p:nvSpPr>
          <p:spPr>
            <a:xfrm>
              <a:off x="0" y="0"/>
              <a:ext cx="10915904" cy="1747774"/>
            </a:xfrm>
            <a:custGeom>
              <a:avLst/>
              <a:gdLst/>
              <a:ahLst/>
              <a:cxnLst/>
              <a:rect l="l" t="t" r="r" b="b"/>
              <a:pathLst>
                <a:path w="10915904" h="1747774">
                  <a:moveTo>
                    <a:pt x="0" y="386715"/>
                  </a:moveTo>
                  <a:cubicBezTo>
                    <a:pt x="0" y="172974"/>
                    <a:pt x="175387" y="0"/>
                    <a:pt x="391414" y="0"/>
                  </a:cubicBezTo>
                  <a:lnTo>
                    <a:pt x="10524490" y="0"/>
                  </a:lnTo>
                  <a:lnTo>
                    <a:pt x="10524490" y="12700"/>
                  </a:lnTo>
                  <a:lnTo>
                    <a:pt x="10524490" y="0"/>
                  </a:lnTo>
                  <a:cubicBezTo>
                    <a:pt x="10740517" y="0"/>
                    <a:pt x="10915904" y="172974"/>
                    <a:pt x="10915904" y="386715"/>
                  </a:cubicBezTo>
                  <a:lnTo>
                    <a:pt x="10903204" y="386715"/>
                  </a:lnTo>
                  <a:lnTo>
                    <a:pt x="10915904" y="386715"/>
                  </a:lnTo>
                  <a:lnTo>
                    <a:pt x="10915904" y="1361059"/>
                  </a:lnTo>
                  <a:lnTo>
                    <a:pt x="10903204" y="1361059"/>
                  </a:lnTo>
                  <a:lnTo>
                    <a:pt x="10915904" y="1361059"/>
                  </a:lnTo>
                  <a:cubicBezTo>
                    <a:pt x="10915904" y="1574800"/>
                    <a:pt x="10740517" y="1747774"/>
                    <a:pt x="10524490" y="1747774"/>
                  </a:cubicBezTo>
                  <a:lnTo>
                    <a:pt x="10524490" y="1735074"/>
                  </a:lnTo>
                  <a:lnTo>
                    <a:pt x="10524490" y="1747774"/>
                  </a:lnTo>
                  <a:lnTo>
                    <a:pt x="391414" y="1747774"/>
                  </a:lnTo>
                  <a:lnTo>
                    <a:pt x="391414" y="1735074"/>
                  </a:lnTo>
                  <a:lnTo>
                    <a:pt x="391414" y="1747774"/>
                  </a:lnTo>
                  <a:cubicBezTo>
                    <a:pt x="175387" y="1747774"/>
                    <a:pt x="0" y="1574800"/>
                    <a:pt x="0" y="1361059"/>
                  </a:cubicBezTo>
                  <a:lnTo>
                    <a:pt x="0" y="386715"/>
                  </a:lnTo>
                  <a:lnTo>
                    <a:pt x="12700" y="386715"/>
                  </a:lnTo>
                  <a:lnTo>
                    <a:pt x="0" y="386715"/>
                  </a:lnTo>
                  <a:moveTo>
                    <a:pt x="25400" y="386715"/>
                  </a:moveTo>
                  <a:lnTo>
                    <a:pt x="25400" y="1361059"/>
                  </a:lnTo>
                  <a:lnTo>
                    <a:pt x="12700" y="1361059"/>
                  </a:lnTo>
                  <a:lnTo>
                    <a:pt x="25400" y="1361059"/>
                  </a:lnTo>
                  <a:cubicBezTo>
                    <a:pt x="25400" y="1560449"/>
                    <a:pt x="189103" y="1722374"/>
                    <a:pt x="391414" y="1722374"/>
                  </a:cubicBezTo>
                  <a:lnTo>
                    <a:pt x="10524490" y="1722374"/>
                  </a:lnTo>
                  <a:cubicBezTo>
                    <a:pt x="10726801" y="1722374"/>
                    <a:pt x="10890504" y="1560449"/>
                    <a:pt x="10890504" y="1361059"/>
                  </a:cubicBezTo>
                  <a:lnTo>
                    <a:pt x="10890504" y="386715"/>
                  </a:lnTo>
                  <a:cubicBezTo>
                    <a:pt x="10890504" y="187325"/>
                    <a:pt x="10726674" y="25400"/>
                    <a:pt x="10524490" y="25400"/>
                  </a:cubicBezTo>
                  <a:lnTo>
                    <a:pt x="391414" y="25400"/>
                  </a:lnTo>
                  <a:lnTo>
                    <a:pt x="391414" y="12700"/>
                  </a:lnTo>
                  <a:lnTo>
                    <a:pt x="391414" y="25400"/>
                  </a:lnTo>
                  <a:cubicBezTo>
                    <a:pt x="189103" y="25400"/>
                    <a:pt x="25400" y="187325"/>
                    <a:pt x="25400" y="386715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grpSp>
        <p:nvGrpSpPr>
          <p:cNvPr id="47" name="Group 8">
            <a:extLst>
              <a:ext uri="{FF2B5EF4-FFF2-40B4-BE49-F238E27FC236}">
                <a16:creationId xmlns:a16="http://schemas.microsoft.com/office/drawing/2014/main" id="{2157384F-D057-E55D-E30F-F23510E7A576}"/>
              </a:ext>
            </a:extLst>
          </p:cNvPr>
          <p:cNvGrpSpPr/>
          <p:nvPr/>
        </p:nvGrpSpPr>
        <p:grpSpPr>
          <a:xfrm>
            <a:off x="4887890" y="2770680"/>
            <a:ext cx="5457927" cy="1027655"/>
            <a:chOff x="0" y="0"/>
            <a:chExt cx="10915853" cy="1747838"/>
          </a:xfrm>
          <a:blipFill>
            <a:blip r:embed="rId2"/>
            <a:tile tx="0" ty="0" sx="100000" sy="100000" flip="none" algn="tl"/>
          </a:blipFill>
        </p:grpSpPr>
        <p:sp>
          <p:nvSpPr>
            <p:cNvPr id="48" name="Freeform 9">
              <a:extLst>
                <a:ext uri="{FF2B5EF4-FFF2-40B4-BE49-F238E27FC236}">
                  <a16:creationId xmlns:a16="http://schemas.microsoft.com/office/drawing/2014/main" id="{1EE175E0-B9E7-9874-636E-45CD743BD53C}"/>
                </a:ext>
              </a:extLst>
            </p:cNvPr>
            <p:cNvSpPr/>
            <p:nvPr/>
          </p:nvSpPr>
          <p:spPr>
            <a:xfrm>
              <a:off x="12700" y="12700"/>
              <a:ext cx="10890504" cy="1722374"/>
            </a:xfrm>
            <a:custGeom>
              <a:avLst/>
              <a:gdLst/>
              <a:ahLst/>
              <a:cxnLst/>
              <a:rect l="l" t="t" r="r" b="b"/>
              <a:pathLst>
                <a:path w="10890504" h="1722374">
                  <a:moveTo>
                    <a:pt x="0" y="374015"/>
                  </a:moveTo>
                  <a:cubicBezTo>
                    <a:pt x="0" y="167513"/>
                    <a:pt x="169545" y="0"/>
                    <a:pt x="378714" y="0"/>
                  </a:cubicBezTo>
                  <a:lnTo>
                    <a:pt x="10511790" y="0"/>
                  </a:lnTo>
                  <a:cubicBezTo>
                    <a:pt x="10720959" y="0"/>
                    <a:pt x="10890504" y="167513"/>
                    <a:pt x="10890504" y="374015"/>
                  </a:cubicBezTo>
                  <a:lnTo>
                    <a:pt x="10890504" y="1348359"/>
                  </a:lnTo>
                  <a:cubicBezTo>
                    <a:pt x="10890504" y="1554988"/>
                    <a:pt x="10720959" y="1722374"/>
                    <a:pt x="10511790" y="1722374"/>
                  </a:cubicBezTo>
                  <a:lnTo>
                    <a:pt x="378714" y="1722374"/>
                  </a:lnTo>
                  <a:cubicBezTo>
                    <a:pt x="169545" y="1722374"/>
                    <a:pt x="0" y="1554988"/>
                    <a:pt x="0" y="1348359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94FA56DF-28B7-B9CE-C975-A327B41844C0}"/>
                </a:ext>
              </a:extLst>
            </p:cNvPr>
            <p:cNvSpPr/>
            <p:nvPr/>
          </p:nvSpPr>
          <p:spPr>
            <a:xfrm>
              <a:off x="0" y="0"/>
              <a:ext cx="10915904" cy="1747774"/>
            </a:xfrm>
            <a:custGeom>
              <a:avLst/>
              <a:gdLst/>
              <a:ahLst/>
              <a:cxnLst/>
              <a:rect l="l" t="t" r="r" b="b"/>
              <a:pathLst>
                <a:path w="10915904" h="1747774">
                  <a:moveTo>
                    <a:pt x="0" y="386715"/>
                  </a:moveTo>
                  <a:cubicBezTo>
                    <a:pt x="0" y="172974"/>
                    <a:pt x="175387" y="0"/>
                    <a:pt x="391414" y="0"/>
                  </a:cubicBezTo>
                  <a:lnTo>
                    <a:pt x="10524490" y="0"/>
                  </a:lnTo>
                  <a:lnTo>
                    <a:pt x="10524490" y="12700"/>
                  </a:lnTo>
                  <a:lnTo>
                    <a:pt x="10524490" y="0"/>
                  </a:lnTo>
                  <a:cubicBezTo>
                    <a:pt x="10740517" y="0"/>
                    <a:pt x="10915904" y="172974"/>
                    <a:pt x="10915904" y="386715"/>
                  </a:cubicBezTo>
                  <a:lnTo>
                    <a:pt x="10903204" y="386715"/>
                  </a:lnTo>
                  <a:lnTo>
                    <a:pt x="10915904" y="386715"/>
                  </a:lnTo>
                  <a:lnTo>
                    <a:pt x="10915904" y="1361059"/>
                  </a:lnTo>
                  <a:lnTo>
                    <a:pt x="10903204" y="1361059"/>
                  </a:lnTo>
                  <a:lnTo>
                    <a:pt x="10915904" y="1361059"/>
                  </a:lnTo>
                  <a:cubicBezTo>
                    <a:pt x="10915904" y="1574800"/>
                    <a:pt x="10740517" y="1747774"/>
                    <a:pt x="10524490" y="1747774"/>
                  </a:cubicBezTo>
                  <a:lnTo>
                    <a:pt x="10524490" y="1735074"/>
                  </a:lnTo>
                  <a:lnTo>
                    <a:pt x="10524490" y="1747774"/>
                  </a:lnTo>
                  <a:lnTo>
                    <a:pt x="391414" y="1747774"/>
                  </a:lnTo>
                  <a:lnTo>
                    <a:pt x="391414" y="1735074"/>
                  </a:lnTo>
                  <a:lnTo>
                    <a:pt x="391414" y="1747774"/>
                  </a:lnTo>
                  <a:cubicBezTo>
                    <a:pt x="175387" y="1747774"/>
                    <a:pt x="0" y="1574800"/>
                    <a:pt x="0" y="1361059"/>
                  </a:cubicBezTo>
                  <a:lnTo>
                    <a:pt x="0" y="386715"/>
                  </a:lnTo>
                  <a:lnTo>
                    <a:pt x="12700" y="386715"/>
                  </a:lnTo>
                  <a:lnTo>
                    <a:pt x="0" y="386715"/>
                  </a:lnTo>
                  <a:moveTo>
                    <a:pt x="25400" y="386715"/>
                  </a:moveTo>
                  <a:lnTo>
                    <a:pt x="25400" y="1361059"/>
                  </a:lnTo>
                  <a:lnTo>
                    <a:pt x="12700" y="1361059"/>
                  </a:lnTo>
                  <a:lnTo>
                    <a:pt x="25400" y="1361059"/>
                  </a:lnTo>
                  <a:cubicBezTo>
                    <a:pt x="25400" y="1560449"/>
                    <a:pt x="189103" y="1722374"/>
                    <a:pt x="391414" y="1722374"/>
                  </a:cubicBezTo>
                  <a:lnTo>
                    <a:pt x="10524490" y="1722374"/>
                  </a:lnTo>
                  <a:cubicBezTo>
                    <a:pt x="10726801" y="1722374"/>
                    <a:pt x="10890504" y="1560449"/>
                    <a:pt x="10890504" y="1361059"/>
                  </a:cubicBezTo>
                  <a:lnTo>
                    <a:pt x="10890504" y="386715"/>
                  </a:lnTo>
                  <a:cubicBezTo>
                    <a:pt x="10890504" y="187325"/>
                    <a:pt x="10726674" y="25400"/>
                    <a:pt x="10524490" y="25400"/>
                  </a:cubicBezTo>
                  <a:lnTo>
                    <a:pt x="391414" y="25400"/>
                  </a:lnTo>
                  <a:lnTo>
                    <a:pt x="391414" y="12700"/>
                  </a:lnTo>
                  <a:lnTo>
                    <a:pt x="391414" y="25400"/>
                  </a:lnTo>
                  <a:cubicBezTo>
                    <a:pt x="189103" y="25400"/>
                    <a:pt x="25400" y="187325"/>
                    <a:pt x="25400" y="386715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37EE75E6-90E0-33D6-FFC4-AECDC1D96A0A}"/>
              </a:ext>
            </a:extLst>
          </p:cNvPr>
          <p:cNvGrpSpPr/>
          <p:nvPr/>
        </p:nvGrpSpPr>
        <p:grpSpPr>
          <a:xfrm>
            <a:off x="4894215" y="1572128"/>
            <a:ext cx="5457927" cy="1027655"/>
            <a:chOff x="0" y="0"/>
            <a:chExt cx="10915853" cy="1747838"/>
          </a:xfrm>
          <a:blipFill>
            <a:blip r:embed="rId2"/>
            <a:tile tx="0" ty="0" sx="100000" sy="100000" flip="none" algn="tl"/>
          </a:blipFill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4B1D2EC-A77A-B50A-64EE-1444A564D84E}"/>
                </a:ext>
              </a:extLst>
            </p:cNvPr>
            <p:cNvSpPr/>
            <p:nvPr/>
          </p:nvSpPr>
          <p:spPr>
            <a:xfrm>
              <a:off x="12700" y="12700"/>
              <a:ext cx="10890504" cy="1722374"/>
            </a:xfrm>
            <a:custGeom>
              <a:avLst/>
              <a:gdLst/>
              <a:ahLst/>
              <a:cxnLst/>
              <a:rect l="l" t="t" r="r" b="b"/>
              <a:pathLst>
                <a:path w="10890504" h="1722374">
                  <a:moveTo>
                    <a:pt x="0" y="374015"/>
                  </a:moveTo>
                  <a:cubicBezTo>
                    <a:pt x="0" y="167513"/>
                    <a:pt x="169545" y="0"/>
                    <a:pt x="378714" y="0"/>
                  </a:cubicBezTo>
                  <a:lnTo>
                    <a:pt x="10511790" y="0"/>
                  </a:lnTo>
                  <a:cubicBezTo>
                    <a:pt x="10720959" y="0"/>
                    <a:pt x="10890504" y="167513"/>
                    <a:pt x="10890504" y="374015"/>
                  </a:cubicBezTo>
                  <a:lnTo>
                    <a:pt x="10890504" y="1348359"/>
                  </a:lnTo>
                  <a:cubicBezTo>
                    <a:pt x="10890504" y="1554988"/>
                    <a:pt x="10720959" y="1722374"/>
                    <a:pt x="10511790" y="1722374"/>
                  </a:cubicBezTo>
                  <a:lnTo>
                    <a:pt x="378714" y="1722374"/>
                  </a:lnTo>
                  <a:cubicBezTo>
                    <a:pt x="169545" y="1722374"/>
                    <a:pt x="0" y="1554988"/>
                    <a:pt x="0" y="1348359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626DAB9B-B0DF-1AAE-184B-8103802DCBAF}"/>
                </a:ext>
              </a:extLst>
            </p:cNvPr>
            <p:cNvSpPr/>
            <p:nvPr/>
          </p:nvSpPr>
          <p:spPr>
            <a:xfrm>
              <a:off x="0" y="0"/>
              <a:ext cx="10915904" cy="1747774"/>
            </a:xfrm>
            <a:custGeom>
              <a:avLst/>
              <a:gdLst/>
              <a:ahLst/>
              <a:cxnLst/>
              <a:rect l="l" t="t" r="r" b="b"/>
              <a:pathLst>
                <a:path w="10915904" h="1747774">
                  <a:moveTo>
                    <a:pt x="0" y="386715"/>
                  </a:moveTo>
                  <a:cubicBezTo>
                    <a:pt x="0" y="172974"/>
                    <a:pt x="175387" y="0"/>
                    <a:pt x="391414" y="0"/>
                  </a:cubicBezTo>
                  <a:lnTo>
                    <a:pt x="10524490" y="0"/>
                  </a:lnTo>
                  <a:lnTo>
                    <a:pt x="10524490" y="12700"/>
                  </a:lnTo>
                  <a:lnTo>
                    <a:pt x="10524490" y="0"/>
                  </a:lnTo>
                  <a:cubicBezTo>
                    <a:pt x="10740517" y="0"/>
                    <a:pt x="10915904" y="172974"/>
                    <a:pt x="10915904" y="386715"/>
                  </a:cubicBezTo>
                  <a:lnTo>
                    <a:pt x="10903204" y="386715"/>
                  </a:lnTo>
                  <a:lnTo>
                    <a:pt x="10915904" y="386715"/>
                  </a:lnTo>
                  <a:lnTo>
                    <a:pt x="10915904" y="1361059"/>
                  </a:lnTo>
                  <a:lnTo>
                    <a:pt x="10903204" y="1361059"/>
                  </a:lnTo>
                  <a:lnTo>
                    <a:pt x="10915904" y="1361059"/>
                  </a:lnTo>
                  <a:cubicBezTo>
                    <a:pt x="10915904" y="1574800"/>
                    <a:pt x="10740517" y="1747774"/>
                    <a:pt x="10524490" y="1747774"/>
                  </a:cubicBezTo>
                  <a:lnTo>
                    <a:pt x="10524490" y="1735074"/>
                  </a:lnTo>
                  <a:lnTo>
                    <a:pt x="10524490" y="1747774"/>
                  </a:lnTo>
                  <a:lnTo>
                    <a:pt x="391414" y="1747774"/>
                  </a:lnTo>
                  <a:lnTo>
                    <a:pt x="391414" y="1735074"/>
                  </a:lnTo>
                  <a:lnTo>
                    <a:pt x="391414" y="1747774"/>
                  </a:lnTo>
                  <a:cubicBezTo>
                    <a:pt x="175387" y="1747774"/>
                    <a:pt x="0" y="1574800"/>
                    <a:pt x="0" y="1361059"/>
                  </a:cubicBezTo>
                  <a:lnTo>
                    <a:pt x="0" y="386715"/>
                  </a:lnTo>
                  <a:lnTo>
                    <a:pt x="12700" y="386715"/>
                  </a:lnTo>
                  <a:lnTo>
                    <a:pt x="0" y="386715"/>
                  </a:lnTo>
                  <a:moveTo>
                    <a:pt x="25400" y="386715"/>
                  </a:moveTo>
                  <a:lnTo>
                    <a:pt x="25400" y="1361059"/>
                  </a:lnTo>
                  <a:lnTo>
                    <a:pt x="12700" y="1361059"/>
                  </a:lnTo>
                  <a:lnTo>
                    <a:pt x="25400" y="1361059"/>
                  </a:lnTo>
                  <a:cubicBezTo>
                    <a:pt x="25400" y="1560449"/>
                    <a:pt x="189103" y="1722374"/>
                    <a:pt x="391414" y="1722374"/>
                  </a:cubicBezTo>
                  <a:lnTo>
                    <a:pt x="10524490" y="1722374"/>
                  </a:lnTo>
                  <a:cubicBezTo>
                    <a:pt x="10726801" y="1722374"/>
                    <a:pt x="10890504" y="1560449"/>
                    <a:pt x="10890504" y="1361059"/>
                  </a:cubicBezTo>
                  <a:lnTo>
                    <a:pt x="10890504" y="386715"/>
                  </a:lnTo>
                  <a:cubicBezTo>
                    <a:pt x="10890504" y="187325"/>
                    <a:pt x="10726674" y="25400"/>
                    <a:pt x="10524490" y="25400"/>
                  </a:cubicBezTo>
                  <a:lnTo>
                    <a:pt x="391414" y="25400"/>
                  </a:lnTo>
                  <a:lnTo>
                    <a:pt x="391414" y="12700"/>
                  </a:lnTo>
                  <a:lnTo>
                    <a:pt x="391414" y="25400"/>
                  </a:lnTo>
                  <a:cubicBezTo>
                    <a:pt x="189103" y="25400"/>
                    <a:pt x="25400" y="187325"/>
                    <a:pt x="25400" y="386715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grpSp>
        <p:nvGrpSpPr>
          <p:cNvPr id="6" name="Group 14">
            <a:extLst>
              <a:ext uri="{FF2B5EF4-FFF2-40B4-BE49-F238E27FC236}">
                <a16:creationId xmlns:a16="http://schemas.microsoft.com/office/drawing/2014/main" id="{EE7C3A0B-F07A-F7D4-8E7A-A3D675954476}"/>
              </a:ext>
            </a:extLst>
          </p:cNvPr>
          <p:cNvGrpSpPr/>
          <p:nvPr/>
        </p:nvGrpSpPr>
        <p:grpSpPr>
          <a:xfrm>
            <a:off x="5142509" y="5409149"/>
            <a:ext cx="342303" cy="342303"/>
            <a:chOff x="0" y="0"/>
            <a:chExt cx="684606" cy="684606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7" name="Freeform 15">
              <a:extLst>
                <a:ext uri="{FF2B5EF4-FFF2-40B4-BE49-F238E27FC236}">
                  <a16:creationId xmlns:a16="http://schemas.microsoft.com/office/drawing/2014/main" id="{912D94F7-A7F5-F381-E8B9-1EF9AA76FD5E}"/>
                </a:ext>
              </a:extLst>
            </p:cNvPr>
            <p:cNvSpPr/>
            <p:nvPr/>
          </p:nvSpPr>
          <p:spPr>
            <a:xfrm>
              <a:off x="0" y="0"/>
              <a:ext cx="684657" cy="684657"/>
            </a:xfrm>
            <a:custGeom>
              <a:avLst/>
              <a:gdLst/>
              <a:ahLst/>
              <a:cxnLst/>
              <a:rect l="l" t="t" r="r" b="b"/>
              <a:pathLst>
                <a:path w="684657" h="684657">
                  <a:moveTo>
                    <a:pt x="0" y="342265"/>
                  </a:moveTo>
                  <a:cubicBezTo>
                    <a:pt x="0" y="153289"/>
                    <a:pt x="153289" y="0"/>
                    <a:pt x="342265" y="0"/>
                  </a:cubicBezTo>
                  <a:cubicBezTo>
                    <a:pt x="531241" y="0"/>
                    <a:pt x="684657" y="153289"/>
                    <a:pt x="684657" y="342265"/>
                  </a:cubicBezTo>
                  <a:cubicBezTo>
                    <a:pt x="684657" y="531241"/>
                    <a:pt x="531368" y="684657"/>
                    <a:pt x="342265" y="684657"/>
                  </a:cubicBezTo>
                  <a:cubicBezTo>
                    <a:pt x="153162" y="684657"/>
                    <a:pt x="0" y="531368"/>
                    <a:pt x="0" y="342265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4" name="Group 14">
            <a:extLst>
              <a:ext uri="{FF2B5EF4-FFF2-40B4-BE49-F238E27FC236}">
                <a16:creationId xmlns:a16="http://schemas.microsoft.com/office/drawing/2014/main" id="{EAFDFA3A-6576-43E8-A6B4-A79C481C8B4E}"/>
              </a:ext>
            </a:extLst>
          </p:cNvPr>
          <p:cNvGrpSpPr/>
          <p:nvPr/>
        </p:nvGrpSpPr>
        <p:grpSpPr>
          <a:xfrm>
            <a:off x="5142509" y="4163851"/>
            <a:ext cx="342303" cy="342303"/>
            <a:chOff x="0" y="0"/>
            <a:chExt cx="684606" cy="684606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5" name="Freeform 15">
              <a:extLst>
                <a:ext uri="{FF2B5EF4-FFF2-40B4-BE49-F238E27FC236}">
                  <a16:creationId xmlns:a16="http://schemas.microsoft.com/office/drawing/2014/main" id="{51AB7F43-007C-5BDF-F3ED-E33A28283F0E}"/>
                </a:ext>
              </a:extLst>
            </p:cNvPr>
            <p:cNvSpPr/>
            <p:nvPr/>
          </p:nvSpPr>
          <p:spPr>
            <a:xfrm>
              <a:off x="0" y="0"/>
              <a:ext cx="684657" cy="684657"/>
            </a:xfrm>
            <a:custGeom>
              <a:avLst/>
              <a:gdLst/>
              <a:ahLst/>
              <a:cxnLst/>
              <a:rect l="l" t="t" r="r" b="b"/>
              <a:pathLst>
                <a:path w="684657" h="684657">
                  <a:moveTo>
                    <a:pt x="0" y="342265"/>
                  </a:moveTo>
                  <a:cubicBezTo>
                    <a:pt x="0" y="153289"/>
                    <a:pt x="153289" y="0"/>
                    <a:pt x="342265" y="0"/>
                  </a:cubicBezTo>
                  <a:cubicBezTo>
                    <a:pt x="531241" y="0"/>
                    <a:pt x="684657" y="153289"/>
                    <a:pt x="684657" y="342265"/>
                  </a:cubicBezTo>
                  <a:cubicBezTo>
                    <a:pt x="684657" y="531241"/>
                    <a:pt x="531368" y="684657"/>
                    <a:pt x="342265" y="684657"/>
                  </a:cubicBezTo>
                  <a:cubicBezTo>
                    <a:pt x="153162" y="684657"/>
                    <a:pt x="0" y="531368"/>
                    <a:pt x="0" y="342265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2" name="Group 14">
            <a:extLst>
              <a:ext uri="{FF2B5EF4-FFF2-40B4-BE49-F238E27FC236}">
                <a16:creationId xmlns:a16="http://schemas.microsoft.com/office/drawing/2014/main" id="{7A326E93-C96B-652C-97C9-2FD10E28B972}"/>
              </a:ext>
            </a:extLst>
          </p:cNvPr>
          <p:cNvGrpSpPr/>
          <p:nvPr/>
        </p:nvGrpSpPr>
        <p:grpSpPr>
          <a:xfrm>
            <a:off x="5142509" y="2880654"/>
            <a:ext cx="342303" cy="342303"/>
            <a:chOff x="0" y="0"/>
            <a:chExt cx="684606" cy="684606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8CDA94A8-54A7-1279-200F-296149FF8BEA}"/>
                </a:ext>
              </a:extLst>
            </p:cNvPr>
            <p:cNvSpPr/>
            <p:nvPr/>
          </p:nvSpPr>
          <p:spPr>
            <a:xfrm>
              <a:off x="0" y="0"/>
              <a:ext cx="684657" cy="684657"/>
            </a:xfrm>
            <a:custGeom>
              <a:avLst/>
              <a:gdLst/>
              <a:ahLst/>
              <a:cxnLst/>
              <a:rect l="l" t="t" r="r" b="b"/>
              <a:pathLst>
                <a:path w="684657" h="684657">
                  <a:moveTo>
                    <a:pt x="0" y="342265"/>
                  </a:moveTo>
                  <a:cubicBezTo>
                    <a:pt x="0" y="153289"/>
                    <a:pt x="153289" y="0"/>
                    <a:pt x="342265" y="0"/>
                  </a:cubicBezTo>
                  <a:cubicBezTo>
                    <a:pt x="531241" y="0"/>
                    <a:pt x="684657" y="153289"/>
                    <a:pt x="684657" y="342265"/>
                  </a:cubicBezTo>
                  <a:cubicBezTo>
                    <a:pt x="684657" y="531241"/>
                    <a:pt x="531368" y="684657"/>
                    <a:pt x="342265" y="684657"/>
                  </a:cubicBezTo>
                  <a:cubicBezTo>
                    <a:pt x="153162" y="684657"/>
                    <a:pt x="0" y="531368"/>
                    <a:pt x="0" y="342265"/>
                  </a:cubicBezTo>
                  <a:close/>
                </a:path>
              </a:pathLst>
            </a:custGeom>
            <a:grpFill/>
          </p:spPr>
        </p:sp>
      </p:grpSp>
      <p:sp>
        <p:nvSpPr>
          <p:cNvPr id="10" name="TextBox 10"/>
          <p:cNvSpPr txBox="1"/>
          <p:nvPr/>
        </p:nvSpPr>
        <p:spPr>
          <a:xfrm>
            <a:off x="3152775" y="403918"/>
            <a:ext cx="8953500" cy="533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00"/>
              </a:lnSpc>
            </a:pPr>
            <a:r>
              <a:rPr lang="en-US" sz="4400" dirty="0" err="1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Estructura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 </a:t>
            </a:r>
            <a:r>
              <a:rPr lang="en-US" sz="4400" dirty="0" err="1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Física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 de la Base de Datos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8407" y="1060844"/>
            <a:ext cx="6707187" cy="345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1"/>
              </a:lnSpc>
            </a:pPr>
            <a:r>
              <a:rPr lang="en-US" sz="1200" dirty="0">
                <a:latin typeface="Calibri (Cuerpo)"/>
                <a:ea typeface="Poppins"/>
                <a:cs typeface="Poppins"/>
                <a:sym typeface="Poppins"/>
              </a:rPr>
              <a:t>La </a:t>
            </a:r>
            <a:r>
              <a:rPr lang="en-US" sz="1200" dirty="0" err="1">
                <a:latin typeface="Calibri (Cuerpo)"/>
                <a:ea typeface="Poppins"/>
                <a:cs typeface="Poppins"/>
                <a:sym typeface="Poppins"/>
              </a:rPr>
              <a:t>estructura</a:t>
            </a:r>
            <a:r>
              <a:rPr lang="en-US" sz="1200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latin typeface="Calibri (Cuerpo)"/>
                <a:ea typeface="Poppins"/>
                <a:cs typeface="Poppins"/>
                <a:sym typeface="Poppins"/>
              </a:rPr>
              <a:t>física</a:t>
            </a:r>
            <a:r>
              <a:rPr lang="en-US" sz="1200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latin typeface="Calibri (Cuerpo)"/>
                <a:ea typeface="Poppins"/>
                <a:cs typeface="Poppins"/>
                <a:sym typeface="Poppins"/>
              </a:rPr>
              <a:t>determina</a:t>
            </a:r>
            <a:r>
              <a:rPr lang="en-US" sz="1200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latin typeface="Calibri (Cuerpo)"/>
                <a:ea typeface="Poppins"/>
                <a:cs typeface="Poppins"/>
                <a:sym typeface="Poppins"/>
              </a:rPr>
              <a:t>cómo</a:t>
            </a:r>
            <a:r>
              <a:rPr lang="en-US" sz="1200" dirty="0">
                <a:latin typeface="Calibri (Cuerpo)"/>
                <a:ea typeface="Poppins"/>
                <a:cs typeface="Poppins"/>
                <a:sym typeface="Poppins"/>
              </a:rPr>
              <a:t> se </a:t>
            </a:r>
            <a:r>
              <a:rPr lang="en-US" sz="1200" dirty="0" err="1">
                <a:latin typeface="Calibri (Cuerpo)"/>
                <a:ea typeface="Poppins"/>
                <a:cs typeface="Poppins"/>
                <a:sym typeface="Poppins"/>
              </a:rPr>
              <a:t>almacenan</a:t>
            </a:r>
            <a:r>
              <a:rPr lang="en-US" sz="1200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latin typeface="Calibri (Cuerpo)"/>
                <a:ea typeface="Poppins"/>
                <a:cs typeface="Poppins"/>
                <a:sym typeface="Poppins"/>
              </a:rPr>
              <a:t>los</a:t>
            </a:r>
            <a:r>
              <a:rPr lang="en-US" sz="1200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latin typeface="Calibri (Cuerpo)"/>
                <a:ea typeface="Poppins"/>
                <a:cs typeface="Poppins"/>
                <a:sym typeface="Poppins"/>
              </a:rPr>
              <a:t>datos</a:t>
            </a:r>
            <a:r>
              <a:rPr lang="en-US" sz="1200" dirty="0">
                <a:latin typeface="Calibri (Cuerpo)"/>
                <a:ea typeface="Poppins"/>
                <a:cs typeface="Poppins"/>
                <a:sym typeface="Poppins"/>
              </a:rPr>
              <a:t> en el </a:t>
            </a:r>
            <a:r>
              <a:rPr lang="en-US" sz="1200" dirty="0" err="1">
                <a:latin typeface="Calibri (Cuerpo)"/>
                <a:ea typeface="Poppins"/>
                <a:cs typeface="Poppins"/>
                <a:sym typeface="Poppins"/>
              </a:rPr>
              <a:t>sistema</a:t>
            </a:r>
            <a:r>
              <a:rPr lang="en-US" sz="1200" dirty="0">
                <a:latin typeface="Calibri (Cuerpo)"/>
                <a:ea typeface="Poppins"/>
                <a:cs typeface="Poppins"/>
                <a:sym typeface="Poppins"/>
              </a:rPr>
              <a:t> de </a:t>
            </a:r>
            <a:r>
              <a:rPr lang="en-US" sz="1200" dirty="0" err="1">
                <a:latin typeface="Calibri (Cuerpo)"/>
                <a:ea typeface="Poppins"/>
                <a:cs typeface="Poppins"/>
                <a:sym typeface="Poppins"/>
              </a:rPr>
              <a:t>archivos</a:t>
            </a:r>
            <a:r>
              <a:rPr lang="en-US" sz="1200" dirty="0">
                <a:latin typeface="Calibri (Cuerpo)"/>
                <a:ea typeface="Poppins"/>
                <a:cs typeface="Poppins"/>
                <a:sym typeface="Poppins"/>
              </a:rPr>
              <a:t> del </a:t>
            </a:r>
            <a:r>
              <a:rPr lang="en-US" sz="1200" dirty="0" err="1">
                <a:latin typeface="Calibri (Cuerpo)"/>
                <a:ea typeface="Poppins"/>
                <a:cs typeface="Poppins"/>
                <a:sym typeface="Poppins"/>
              </a:rPr>
              <a:t>servidor</a:t>
            </a:r>
            <a:r>
              <a:rPr lang="en-US" sz="1200" dirty="0">
                <a:latin typeface="Calibri (Cuerpo)"/>
                <a:ea typeface="Poppins"/>
                <a:cs typeface="Poppins"/>
                <a:sym typeface="Poppins"/>
              </a:rPr>
              <a:t>. Comprender </a:t>
            </a:r>
            <a:r>
              <a:rPr lang="en-US" sz="1200" dirty="0" err="1">
                <a:latin typeface="Calibri (Cuerpo)"/>
                <a:ea typeface="Poppins"/>
                <a:cs typeface="Poppins"/>
                <a:sym typeface="Poppins"/>
              </a:rPr>
              <a:t>esta</a:t>
            </a:r>
            <a:r>
              <a:rPr lang="en-US" sz="1200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latin typeface="Calibri (Cuerpo)"/>
                <a:ea typeface="Poppins"/>
                <a:cs typeface="Poppins"/>
                <a:sym typeface="Poppins"/>
              </a:rPr>
              <a:t>estructura</a:t>
            </a:r>
            <a:r>
              <a:rPr lang="en-US" sz="1200" dirty="0">
                <a:latin typeface="Calibri (Cuerpo)"/>
                <a:ea typeface="Poppins"/>
                <a:cs typeface="Poppins"/>
                <a:sym typeface="Poppins"/>
              </a:rPr>
              <a:t> es </a:t>
            </a:r>
            <a:r>
              <a:rPr lang="en-US" sz="1200" dirty="0" err="1">
                <a:latin typeface="Calibri (Cuerpo)"/>
                <a:ea typeface="Poppins"/>
                <a:cs typeface="Poppins"/>
                <a:sym typeface="Poppins"/>
              </a:rPr>
              <a:t>esencial</a:t>
            </a:r>
            <a:r>
              <a:rPr lang="en-US" sz="1200" dirty="0">
                <a:latin typeface="Calibri (Cuerpo)"/>
                <a:ea typeface="Poppins"/>
                <a:cs typeface="Poppins"/>
                <a:sym typeface="Poppins"/>
              </a:rPr>
              <a:t> para </a:t>
            </a:r>
            <a:r>
              <a:rPr lang="en-US" sz="1200" dirty="0" err="1">
                <a:latin typeface="Calibri (Cuerpo)"/>
                <a:ea typeface="Poppins"/>
                <a:cs typeface="Poppins"/>
                <a:sym typeface="Poppins"/>
              </a:rPr>
              <a:t>optimizar</a:t>
            </a:r>
            <a:r>
              <a:rPr lang="en-US" sz="1200" dirty="0">
                <a:latin typeface="Calibri (Cuerpo)"/>
                <a:ea typeface="Poppins"/>
                <a:cs typeface="Poppins"/>
                <a:sym typeface="Poppins"/>
              </a:rPr>
              <a:t> el </a:t>
            </a:r>
            <a:r>
              <a:rPr lang="en-US" sz="1200" dirty="0" err="1">
                <a:latin typeface="Calibri (Cuerpo)"/>
                <a:ea typeface="Poppins"/>
                <a:cs typeface="Poppins"/>
                <a:sym typeface="Poppins"/>
              </a:rPr>
              <a:t>rendimiento</a:t>
            </a:r>
            <a:r>
              <a:rPr lang="en-US" sz="1200" dirty="0">
                <a:latin typeface="Calibri (Cuerpo)"/>
                <a:ea typeface="Poppins"/>
                <a:cs typeface="Poppins"/>
                <a:sym typeface="Poppins"/>
              </a:rPr>
              <a:t> y </a:t>
            </a:r>
            <a:r>
              <a:rPr lang="en-US" sz="1200" dirty="0" err="1">
                <a:latin typeface="Calibri (Cuerpo)"/>
                <a:ea typeface="Poppins"/>
                <a:cs typeface="Poppins"/>
                <a:sym typeface="Poppins"/>
              </a:rPr>
              <a:t>planificar</a:t>
            </a:r>
            <a:r>
              <a:rPr lang="en-US" sz="1200" dirty="0">
                <a:latin typeface="Calibri (Cuerpo)"/>
                <a:ea typeface="Poppins"/>
                <a:cs typeface="Poppins"/>
                <a:sym typeface="Poppins"/>
              </a:rPr>
              <a:t> el </a:t>
            </a:r>
            <a:r>
              <a:rPr lang="en-US" sz="1200" dirty="0" err="1">
                <a:latin typeface="Calibri (Cuerpo)"/>
                <a:ea typeface="Poppins"/>
                <a:cs typeface="Poppins"/>
                <a:sym typeface="Poppins"/>
              </a:rPr>
              <a:t>almacenamiento</a:t>
            </a:r>
            <a:r>
              <a:rPr lang="en-US" sz="1200" dirty="0">
                <a:latin typeface="Calibri (Cuerpo)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142510" y="1651496"/>
            <a:ext cx="342303" cy="342303"/>
            <a:chOff x="0" y="0"/>
            <a:chExt cx="684606" cy="684606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5" name="Freeform 15"/>
            <p:cNvSpPr/>
            <p:nvPr/>
          </p:nvSpPr>
          <p:spPr>
            <a:xfrm>
              <a:off x="0" y="0"/>
              <a:ext cx="684657" cy="684657"/>
            </a:xfrm>
            <a:custGeom>
              <a:avLst/>
              <a:gdLst/>
              <a:ahLst/>
              <a:cxnLst/>
              <a:rect l="l" t="t" r="r" b="b"/>
              <a:pathLst>
                <a:path w="684657" h="684657">
                  <a:moveTo>
                    <a:pt x="0" y="342265"/>
                  </a:moveTo>
                  <a:cubicBezTo>
                    <a:pt x="0" y="153289"/>
                    <a:pt x="153289" y="0"/>
                    <a:pt x="342265" y="0"/>
                  </a:cubicBezTo>
                  <a:cubicBezTo>
                    <a:pt x="531241" y="0"/>
                    <a:pt x="684657" y="153289"/>
                    <a:pt x="684657" y="342265"/>
                  </a:cubicBezTo>
                  <a:cubicBezTo>
                    <a:pt x="684657" y="531241"/>
                    <a:pt x="531368" y="684657"/>
                    <a:pt x="342265" y="684657"/>
                  </a:cubicBezTo>
                  <a:cubicBezTo>
                    <a:pt x="153162" y="684657"/>
                    <a:pt x="0" y="531368"/>
                    <a:pt x="0" y="342265"/>
                  </a:cubicBezTo>
                  <a:close/>
                </a:path>
              </a:pathLst>
            </a:custGeom>
            <a:grpFill/>
          </p:spPr>
        </p:sp>
      </p:grpSp>
      <p:sp>
        <p:nvSpPr>
          <p:cNvPr id="16" name="Freeform 16" descr="preencoded.png"/>
          <p:cNvSpPr/>
          <p:nvPr/>
        </p:nvSpPr>
        <p:spPr>
          <a:xfrm>
            <a:off x="5236668" y="1745654"/>
            <a:ext cx="153987" cy="153987"/>
          </a:xfrm>
          <a:custGeom>
            <a:avLst/>
            <a:gdLst/>
            <a:ahLst/>
            <a:cxnLst/>
            <a:rect l="l" t="t" r="r" b="b"/>
            <a:pathLst>
              <a:path w="230981" h="230981">
                <a:moveTo>
                  <a:pt x="0" y="0"/>
                </a:moveTo>
                <a:lnTo>
                  <a:pt x="230981" y="0"/>
                </a:lnTo>
                <a:lnTo>
                  <a:pt x="230981" y="230981"/>
                </a:lnTo>
                <a:lnTo>
                  <a:pt x="0" y="230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000" b="-7999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5142509" y="2070996"/>
            <a:ext cx="2050555" cy="245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583">
                <a:latin typeface="Calibri (Cuerpo)"/>
                <a:ea typeface="Arimo"/>
                <a:cs typeface="Arimo"/>
                <a:sym typeface="Arimo"/>
              </a:rPr>
              <a:t>Archivos de Datos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42510" y="2372322"/>
            <a:ext cx="6478981" cy="154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1"/>
              </a:lnSpc>
            </a:pPr>
            <a:r>
              <a:rPr lang="en-US" sz="875" dirty="0" err="1">
                <a:latin typeface="Calibri (Cuerpo)"/>
                <a:ea typeface="Poppins"/>
                <a:cs typeface="Poppins"/>
                <a:sym typeface="Poppins"/>
              </a:rPr>
              <a:t>Contienen</a:t>
            </a:r>
            <a:r>
              <a:rPr lang="en-US" sz="875" dirty="0">
                <a:latin typeface="Calibri (Cuerpo)"/>
                <a:ea typeface="Poppins"/>
                <a:cs typeface="Poppins"/>
                <a:sym typeface="Poppins"/>
              </a:rPr>
              <a:t> las </a:t>
            </a:r>
            <a:r>
              <a:rPr lang="en-US" sz="875" dirty="0" err="1">
                <a:latin typeface="Calibri (Cuerpo)"/>
                <a:ea typeface="Poppins"/>
                <a:cs typeface="Poppins"/>
                <a:sym typeface="Poppins"/>
              </a:rPr>
              <a:t>tablas</a:t>
            </a:r>
            <a:r>
              <a:rPr lang="en-US" sz="875" dirty="0">
                <a:latin typeface="Calibri (Cuerpo)"/>
                <a:ea typeface="Poppins"/>
                <a:cs typeface="Poppins"/>
                <a:sym typeface="Poppins"/>
              </a:rPr>
              <a:t>, </a:t>
            </a:r>
            <a:r>
              <a:rPr lang="en-US" sz="875" dirty="0" err="1">
                <a:latin typeface="Calibri (Cuerpo)"/>
                <a:ea typeface="Poppins"/>
                <a:cs typeface="Poppins"/>
                <a:sym typeface="Poppins"/>
              </a:rPr>
              <a:t>índices</a:t>
            </a:r>
            <a:r>
              <a:rPr lang="en-US" sz="875" dirty="0">
                <a:latin typeface="Calibri (Cuerpo)"/>
                <a:ea typeface="Poppins"/>
                <a:cs typeface="Poppins"/>
                <a:sym typeface="Poppins"/>
              </a:rPr>
              <a:t> y </a:t>
            </a:r>
            <a:r>
              <a:rPr lang="en-US" sz="875" dirty="0" err="1">
                <a:latin typeface="Calibri (Cuerpo)"/>
                <a:ea typeface="Poppins"/>
                <a:cs typeface="Poppins"/>
                <a:sym typeface="Poppins"/>
              </a:rPr>
              <a:t>datos</a:t>
            </a:r>
            <a:r>
              <a:rPr lang="en-US" sz="875" dirty="0">
                <a:latin typeface="Calibri (Cuerpo)"/>
                <a:ea typeface="Poppins"/>
                <a:cs typeface="Poppins"/>
                <a:sym typeface="Poppins"/>
              </a:rPr>
              <a:t> reales </a:t>
            </a:r>
            <a:r>
              <a:rPr lang="en-US" sz="875" dirty="0" err="1">
                <a:latin typeface="Calibri (Cuerpo)"/>
                <a:ea typeface="Poppins"/>
                <a:cs typeface="Poppins"/>
                <a:sym typeface="Poppins"/>
              </a:rPr>
              <a:t>organizados</a:t>
            </a:r>
            <a:r>
              <a:rPr lang="en-US" sz="875" dirty="0">
                <a:latin typeface="Calibri (Cuerpo)"/>
                <a:ea typeface="Poppins"/>
                <a:cs typeface="Poppins"/>
                <a:sym typeface="Poppins"/>
              </a:rPr>
              <a:t> en </a:t>
            </a:r>
            <a:r>
              <a:rPr lang="en-US" sz="875" dirty="0" err="1">
                <a:latin typeface="Calibri (Cuerpo)"/>
                <a:ea typeface="Poppins"/>
                <a:cs typeface="Poppins"/>
                <a:sym typeface="Poppins"/>
              </a:rPr>
              <a:t>páginas</a:t>
            </a:r>
            <a:r>
              <a:rPr lang="en-US" sz="875" dirty="0">
                <a:latin typeface="Calibri (Cuerpo)"/>
                <a:ea typeface="Poppins"/>
                <a:cs typeface="Poppins"/>
                <a:sym typeface="Poppins"/>
              </a:rPr>
              <a:t> o </a:t>
            </a:r>
            <a:r>
              <a:rPr lang="en-US" sz="875" dirty="0" err="1">
                <a:latin typeface="Calibri (Cuerpo)"/>
                <a:ea typeface="Poppins"/>
                <a:cs typeface="Poppins"/>
                <a:sym typeface="Poppins"/>
              </a:rPr>
              <a:t>bloques</a:t>
            </a:r>
            <a:endParaRPr lang="en-US" sz="875" dirty="0">
              <a:latin typeface="Calibri (Cuerpo)"/>
              <a:ea typeface="Poppins"/>
              <a:cs typeface="Poppins"/>
              <a:sym typeface="Poppins"/>
            </a:endParaRPr>
          </a:p>
        </p:txBody>
      </p:sp>
      <p:sp>
        <p:nvSpPr>
          <p:cNvPr id="23" name="Freeform 23" descr="preencoded.png"/>
          <p:cNvSpPr/>
          <p:nvPr/>
        </p:nvSpPr>
        <p:spPr>
          <a:xfrm>
            <a:off x="5236668" y="2990952"/>
            <a:ext cx="153987" cy="153987"/>
          </a:xfrm>
          <a:custGeom>
            <a:avLst/>
            <a:gdLst/>
            <a:ahLst/>
            <a:cxnLst/>
            <a:rect l="l" t="t" r="r" b="b"/>
            <a:pathLst>
              <a:path w="230981" h="230981">
                <a:moveTo>
                  <a:pt x="0" y="0"/>
                </a:moveTo>
                <a:lnTo>
                  <a:pt x="230981" y="0"/>
                </a:lnTo>
                <a:lnTo>
                  <a:pt x="230981" y="230982"/>
                </a:lnTo>
                <a:lnTo>
                  <a:pt x="0" y="2309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0000" b="-10000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5142509" y="3316288"/>
            <a:ext cx="2050555" cy="245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583">
                <a:latin typeface="Calibri (Cuerpo)"/>
                <a:ea typeface="Arimo"/>
                <a:cs typeface="Arimo"/>
                <a:sym typeface="Arimo"/>
              </a:rPr>
              <a:t>Archivos de Log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142510" y="3617614"/>
            <a:ext cx="6478981" cy="154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1"/>
              </a:lnSpc>
            </a:pPr>
            <a:r>
              <a:rPr lang="en-US" sz="875">
                <a:latin typeface="Calibri (Cuerpo)"/>
                <a:ea typeface="Poppins"/>
                <a:cs typeface="Poppins"/>
                <a:sym typeface="Poppins"/>
              </a:rPr>
              <a:t>Registro de transacciones para recuperación y mantenimiento de integridad</a:t>
            </a:r>
          </a:p>
        </p:txBody>
      </p:sp>
      <p:sp>
        <p:nvSpPr>
          <p:cNvPr id="30" name="Freeform 30" descr="preencoded.png"/>
          <p:cNvSpPr/>
          <p:nvPr/>
        </p:nvSpPr>
        <p:spPr>
          <a:xfrm>
            <a:off x="5236668" y="4236245"/>
            <a:ext cx="153987" cy="153987"/>
          </a:xfrm>
          <a:custGeom>
            <a:avLst/>
            <a:gdLst/>
            <a:ahLst/>
            <a:cxnLst/>
            <a:rect l="l" t="t" r="r" b="b"/>
            <a:pathLst>
              <a:path w="230981" h="230981">
                <a:moveTo>
                  <a:pt x="0" y="0"/>
                </a:moveTo>
                <a:lnTo>
                  <a:pt x="230981" y="0"/>
                </a:lnTo>
                <a:lnTo>
                  <a:pt x="230981" y="230981"/>
                </a:lnTo>
                <a:lnTo>
                  <a:pt x="0" y="230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5142509" y="4561580"/>
            <a:ext cx="2050555" cy="245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583">
                <a:latin typeface="Calibri (Cuerpo)"/>
                <a:ea typeface="Arimo"/>
                <a:cs typeface="Arimo"/>
                <a:sym typeface="Arimo"/>
              </a:rPr>
              <a:t>Archivos de Control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142510" y="4862906"/>
            <a:ext cx="6478981" cy="154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1"/>
              </a:lnSpc>
            </a:pPr>
            <a:r>
              <a:rPr lang="en-US" sz="875">
                <a:latin typeface="Calibri (Cuerpo)"/>
                <a:ea typeface="Poppins"/>
                <a:cs typeface="Poppins"/>
                <a:sym typeface="Poppins"/>
              </a:rPr>
              <a:t>Metadatos sobre la estructura y estado de la base de datos</a:t>
            </a:r>
          </a:p>
        </p:txBody>
      </p:sp>
      <p:sp>
        <p:nvSpPr>
          <p:cNvPr id="37" name="Freeform 37" descr="preencoded.png"/>
          <p:cNvSpPr/>
          <p:nvPr/>
        </p:nvSpPr>
        <p:spPr>
          <a:xfrm>
            <a:off x="5236668" y="5481537"/>
            <a:ext cx="153987" cy="153987"/>
          </a:xfrm>
          <a:custGeom>
            <a:avLst/>
            <a:gdLst/>
            <a:ahLst/>
            <a:cxnLst/>
            <a:rect l="l" t="t" r="r" b="b"/>
            <a:pathLst>
              <a:path w="230981" h="230981">
                <a:moveTo>
                  <a:pt x="0" y="0"/>
                </a:moveTo>
                <a:lnTo>
                  <a:pt x="230981" y="0"/>
                </a:lnTo>
                <a:lnTo>
                  <a:pt x="230981" y="230981"/>
                </a:lnTo>
                <a:lnTo>
                  <a:pt x="0" y="230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48000" b="-48000"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5142509" y="5806878"/>
            <a:ext cx="2050555" cy="245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583">
                <a:latin typeface="Calibri (Cuerpo)"/>
                <a:ea typeface="Arimo"/>
                <a:cs typeface="Arimo"/>
                <a:sym typeface="Arimo"/>
              </a:rPr>
              <a:t>Espacio Temporal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142510" y="6108205"/>
            <a:ext cx="6478981" cy="154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1"/>
              </a:lnSpc>
            </a:pPr>
            <a:r>
              <a:rPr lang="en-US" sz="875">
                <a:latin typeface="Calibri (Cuerpo)"/>
                <a:ea typeface="Poppins"/>
                <a:cs typeface="Poppins"/>
                <a:sym typeface="Poppins"/>
              </a:rPr>
              <a:t>Almacenamiento para operaciones temporales y ordenaciones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681438" y="539486"/>
            <a:ext cx="8519712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0"/>
              </a:lnSpc>
            </a:pPr>
            <a:r>
              <a:rPr lang="en-US" sz="4400" dirty="0" err="1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Requerimientos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 para la </a:t>
            </a:r>
            <a:r>
              <a:rPr lang="en-US" sz="4400" dirty="0" err="1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Instalación</a:t>
            </a:r>
            <a:endParaRPr lang="en-US" sz="4400" dirty="0">
              <a:solidFill>
                <a:schemeClr val="accent1">
                  <a:lumMod val="75000"/>
                </a:schemeClr>
              </a:solidFill>
              <a:latin typeface="Calibri (Cuerpo)"/>
              <a:ea typeface="Arimo"/>
              <a:cs typeface="Arimo"/>
              <a:sym typeface="Arim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52373" y="1604627"/>
            <a:ext cx="11110119" cy="44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66"/>
              </a:lnSpc>
            </a:pP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Antes de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proceder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con la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instalación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del SGBD, es fundamental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verificar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que el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sistema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cumpla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con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los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requisitos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mínimos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necesarios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para un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funcionamiento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óptimo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31419" y="2945708"/>
            <a:ext cx="3632200" cy="2429173"/>
            <a:chOff x="0" y="0"/>
            <a:chExt cx="7264400" cy="4858347"/>
          </a:xfrm>
        </p:grpSpPr>
        <p:sp>
          <p:nvSpPr>
            <p:cNvPr id="9" name="Freeform 9"/>
            <p:cNvSpPr/>
            <p:nvPr/>
          </p:nvSpPr>
          <p:spPr>
            <a:xfrm>
              <a:off x="19050" y="19050"/>
              <a:ext cx="7226300" cy="4820285"/>
            </a:xfrm>
            <a:custGeom>
              <a:avLst/>
              <a:gdLst/>
              <a:ahLst/>
              <a:cxnLst/>
              <a:rect l="l" t="t" r="r" b="b"/>
              <a:pathLst>
                <a:path w="7226300" h="4820285">
                  <a:moveTo>
                    <a:pt x="0" y="182880"/>
                  </a:moveTo>
                  <a:cubicBezTo>
                    <a:pt x="0" y="81915"/>
                    <a:pt x="82042" y="0"/>
                    <a:pt x="183388" y="0"/>
                  </a:cubicBezTo>
                  <a:lnTo>
                    <a:pt x="7042912" y="0"/>
                  </a:lnTo>
                  <a:cubicBezTo>
                    <a:pt x="7144131" y="0"/>
                    <a:pt x="7226300" y="81915"/>
                    <a:pt x="7226300" y="182880"/>
                  </a:cubicBezTo>
                  <a:lnTo>
                    <a:pt x="7226300" y="4637405"/>
                  </a:lnTo>
                  <a:cubicBezTo>
                    <a:pt x="7226300" y="4738370"/>
                    <a:pt x="7144258" y="4820285"/>
                    <a:pt x="7042912" y="4820285"/>
                  </a:cubicBezTo>
                  <a:lnTo>
                    <a:pt x="183388" y="4820285"/>
                  </a:lnTo>
                  <a:cubicBezTo>
                    <a:pt x="82169" y="4820285"/>
                    <a:pt x="0" y="4738370"/>
                    <a:pt x="0" y="4637405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tx1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7264400" cy="4858385"/>
            </a:xfrm>
            <a:custGeom>
              <a:avLst/>
              <a:gdLst/>
              <a:ahLst/>
              <a:cxnLst/>
              <a:rect l="l" t="t" r="r" b="b"/>
              <a:pathLst>
                <a:path w="7264400" h="4858385">
                  <a:moveTo>
                    <a:pt x="0" y="201930"/>
                  </a:moveTo>
                  <a:cubicBezTo>
                    <a:pt x="0" y="90297"/>
                    <a:pt x="90678" y="0"/>
                    <a:pt x="202438" y="0"/>
                  </a:cubicBezTo>
                  <a:lnTo>
                    <a:pt x="7061962" y="0"/>
                  </a:lnTo>
                  <a:lnTo>
                    <a:pt x="7061962" y="19050"/>
                  </a:lnTo>
                  <a:lnTo>
                    <a:pt x="7061962" y="0"/>
                  </a:lnTo>
                  <a:cubicBezTo>
                    <a:pt x="7173722" y="0"/>
                    <a:pt x="7264400" y="90297"/>
                    <a:pt x="7264400" y="201930"/>
                  </a:cubicBezTo>
                  <a:lnTo>
                    <a:pt x="7245350" y="201930"/>
                  </a:lnTo>
                  <a:lnTo>
                    <a:pt x="7264400" y="201930"/>
                  </a:lnTo>
                  <a:lnTo>
                    <a:pt x="7264400" y="4656455"/>
                  </a:lnTo>
                  <a:lnTo>
                    <a:pt x="7245350" y="4656455"/>
                  </a:lnTo>
                  <a:lnTo>
                    <a:pt x="7264400" y="4656455"/>
                  </a:lnTo>
                  <a:cubicBezTo>
                    <a:pt x="7264400" y="4768088"/>
                    <a:pt x="7173722" y="4858385"/>
                    <a:pt x="7061962" y="4858385"/>
                  </a:cubicBezTo>
                  <a:lnTo>
                    <a:pt x="7061962" y="4839335"/>
                  </a:lnTo>
                  <a:lnTo>
                    <a:pt x="7061962" y="4858385"/>
                  </a:lnTo>
                  <a:lnTo>
                    <a:pt x="202438" y="4858385"/>
                  </a:lnTo>
                  <a:lnTo>
                    <a:pt x="202438" y="4839335"/>
                  </a:lnTo>
                  <a:lnTo>
                    <a:pt x="202438" y="4858385"/>
                  </a:lnTo>
                  <a:cubicBezTo>
                    <a:pt x="90678" y="4858385"/>
                    <a:pt x="0" y="4768088"/>
                    <a:pt x="0" y="4656455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4656455"/>
                  </a:lnTo>
                  <a:lnTo>
                    <a:pt x="19050" y="4656455"/>
                  </a:lnTo>
                  <a:lnTo>
                    <a:pt x="38100" y="4656455"/>
                  </a:lnTo>
                  <a:cubicBezTo>
                    <a:pt x="38100" y="4746879"/>
                    <a:pt x="111633" y="4820285"/>
                    <a:pt x="202438" y="4820285"/>
                  </a:cubicBezTo>
                  <a:lnTo>
                    <a:pt x="7061962" y="4820285"/>
                  </a:lnTo>
                  <a:cubicBezTo>
                    <a:pt x="7152767" y="4820285"/>
                    <a:pt x="7226300" y="4746879"/>
                    <a:pt x="7226300" y="4656455"/>
                  </a:cubicBezTo>
                  <a:lnTo>
                    <a:pt x="7226300" y="201930"/>
                  </a:lnTo>
                  <a:cubicBezTo>
                    <a:pt x="7226300" y="111506"/>
                    <a:pt x="7152767" y="38100"/>
                    <a:pt x="7061962" y="38100"/>
                  </a:cubicBezTo>
                  <a:lnTo>
                    <a:pt x="202438" y="38100"/>
                  </a:lnTo>
                  <a:lnTo>
                    <a:pt x="202438" y="19050"/>
                  </a:lnTo>
                  <a:lnTo>
                    <a:pt x="202438" y="38100"/>
                  </a:lnTo>
                  <a:cubicBezTo>
                    <a:pt x="111633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D2C5C9"/>
            </a:solidFill>
            <a:ln>
              <a:solidFill>
                <a:schemeClr val="tx1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21894" y="2955233"/>
            <a:ext cx="76200" cy="2410123"/>
            <a:chOff x="0" y="0"/>
            <a:chExt cx="152400" cy="4820247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2400" cy="4820285"/>
            </a:xfrm>
            <a:custGeom>
              <a:avLst/>
              <a:gdLst/>
              <a:ahLst/>
              <a:cxnLst/>
              <a:rect l="l" t="t" r="r" b="b"/>
              <a:pathLst>
                <a:path w="152400" h="4820285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4744085"/>
                  </a:lnTo>
                  <a:cubicBezTo>
                    <a:pt x="152400" y="4786122"/>
                    <a:pt x="118237" y="4820285"/>
                    <a:pt x="76200" y="4820285"/>
                  </a:cubicBezTo>
                  <a:cubicBezTo>
                    <a:pt x="34163" y="4820285"/>
                    <a:pt x="0" y="4786122"/>
                    <a:pt x="0" y="4744085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752374" y="3090469"/>
            <a:ext cx="2916339" cy="34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33"/>
              </a:lnSpc>
            </a:pPr>
            <a:r>
              <a:rPr lang="en-US" sz="2291" dirty="0">
                <a:solidFill>
                  <a:schemeClr val="accent1">
                    <a:lumMod val="50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Hardware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2373" y="3510559"/>
            <a:ext cx="3247428" cy="1518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57105" lvl="1" indent="-78552">
              <a:lnSpc>
                <a:spcPts val="1666"/>
              </a:lnSpc>
              <a:buFont typeface="Arial"/>
              <a:buChar char="•"/>
            </a:pPr>
            <a:r>
              <a:rPr lang="en-US" sz="1400" dirty="0" err="1">
                <a:latin typeface="Calibri (Cuerpo)"/>
                <a:cs typeface="Poppins"/>
                <a:sym typeface="Poppins"/>
              </a:rPr>
              <a:t>Procesador</a:t>
            </a:r>
            <a:r>
              <a:rPr lang="en-US" sz="1400" dirty="0">
                <a:latin typeface="Calibri (Cuerpo)"/>
                <a:cs typeface="Poppins"/>
                <a:sym typeface="Poppins"/>
              </a:rPr>
              <a:t> multi-core (</a:t>
            </a:r>
            <a:r>
              <a:rPr lang="en-US" sz="1400" dirty="0" err="1">
                <a:latin typeface="Calibri (Cuerpo)"/>
                <a:cs typeface="Poppins"/>
                <a:sym typeface="Poppins"/>
              </a:rPr>
              <a:t>mínimo</a:t>
            </a:r>
            <a:r>
              <a:rPr lang="en-US" sz="1400" dirty="0">
                <a:latin typeface="Calibri (Cuerpo)"/>
                <a:cs typeface="Poppins"/>
                <a:sym typeface="Poppins"/>
              </a:rPr>
              <a:t> 2 GHz)</a:t>
            </a:r>
          </a:p>
          <a:p>
            <a:pPr marL="157105" lvl="1" indent="-78552">
              <a:lnSpc>
                <a:spcPts val="1666"/>
              </a:lnSpc>
              <a:buFont typeface="Arial"/>
              <a:buChar char="•"/>
            </a:pPr>
            <a:r>
              <a:rPr lang="en-US" sz="1400" dirty="0">
                <a:latin typeface="Calibri (Cuerpo)"/>
                <a:cs typeface="Poppins"/>
                <a:sym typeface="Poppins"/>
              </a:rPr>
              <a:t>Memoria RAM: 4 GB </a:t>
            </a:r>
            <a:r>
              <a:rPr lang="en-US" sz="1400" dirty="0" err="1">
                <a:latin typeface="Calibri (Cuerpo)"/>
                <a:cs typeface="Poppins"/>
                <a:sym typeface="Poppins"/>
              </a:rPr>
              <a:t>mínimo</a:t>
            </a:r>
            <a:r>
              <a:rPr lang="en-US" sz="1400" dirty="0">
                <a:latin typeface="Calibri (Cuerpo)"/>
                <a:cs typeface="Poppins"/>
                <a:sym typeface="Poppins"/>
              </a:rPr>
              <a:t>, 8 GB </a:t>
            </a:r>
            <a:r>
              <a:rPr lang="en-US" sz="1400" dirty="0" err="1">
                <a:latin typeface="Calibri (Cuerpo)"/>
                <a:cs typeface="Poppins"/>
                <a:sym typeface="Poppins"/>
              </a:rPr>
              <a:t>recomendado</a:t>
            </a:r>
            <a:endParaRPr lang="en-US" sz="1400" dirty="0">
              <a:latin typeface="Calibri (Cuerpo)"/>
              <a:cs typeface="Poppins"/>
              <a:sym typeface="Poppins"/>
            </a:endParaRPr>
          </a:p>
          <a:p>
            <a:pPr marL="157105" lvl="1" indent="-78552">
              <a:lnSpc>
                <a:spcPts val="1666"/>
              </a:lnSpc>
              <a:buFont typeface="Arial"/>
              <a:buChar char="•"/>
            </a:pPr>
            <a:r>
              <a:rPr lang="en-US" sz="1400" dirty="0">
                <a:latin typeface="Calibri (Cuerpo)"/>
                <a:cs typeface="Poppins"/>
                <a:sym typeface="Poppins"/>
              </a:rPr>
              <a:t>Espacio en disco: 10 GB </a:t>
            </a:r>
            <a:r>
              <a:rPr lang="en-US" sz="1400" dirty="0" err="1">
                <a:latin typeface="Calibri (Cuerpo)"/>
                <a:cs typeface="Poppins"/>
                <a:sym typeface="Poppins"/>
              </a:rPr>
              <a:t>mínimo</a:t>
            </a:r>
            <a:r>
              <a:rPr lang="en-US" sz="1400" dirty="0">
                <a:latin typeface="Calibri (Cuerpo)"/>
                <a:cs typeface="Poppins"/>
                <a:sym typeface="Poppins"/>
              </a:rPr>
              <a:t> para </a:t>
            </a:r>
            <a:r>
              <a:rPr lang="en-US" sz="1400" dirty="0" err="1">
                <a:latin typeface="Calibri (Cuerpo)"/>
                <a:cs typeface="Poppins"/>
                <a:sym typeface="Poppins"/>
              </a:rPr>
              <a:t>instalación</a:t>
            </a:r>
            <a:r>
              <a:rPr lang="en-US" sz="1400" dirty="0">
                <a:latin typeface="Calibri (Cuerpo)"/>
                <a:cs typeface="Poppins"/>
                <a:sym typeface="Poppins"/>
              </a:rPr>
              <a:t> base</a:t>
            </a:r>
          </a:p>
          <a:p>
            <a:pPr marL="157105" lvl="1" indent="-78552">
              <a:lnSpc>
                <a:spcPts val="1666"/>
              </a:lnSpc>
              <a:buFont typeface="Arial"/>
              <a:buChar char="•"/>
            </a:pPr>
            <a:r>
              <a:rPr lang="en-US" sz="1400" dirty="0" err="1">
                <a:latin typeface="Calibri (Cuerpo)"/>
                <a:cs typeface="Poppins"/>
                <a:sym typeface="Poppins"/>
              </a:rPr>
              <a:t>Almacenamiento</a:t>
            </a:r>
            <a:r>
              <a:rPr lang="en-US" sz="1400" dirty="0">
                <a:latin typeface="Calibri (Cuerpo)"/>
                <a:cs typeface="Poppins"/>
                <a:sym typeface="Poppins"/>
              </a:rPr>
              <a:t> SSD </a:t>
            </a:r>
            <a:r>
              <a:rPr lang="en-US" sz="1400" dirty="0" err="1">
                <a:latin typeface="Calibri (Cuerpo)"/>
                <a:cs typeface="Poppins"/>
                <a:sym typeface="Poppins"/>
              </a:rPr>
              <a:t>recomendado</a:t>
            </a:r>
            <a:r>
              <a:rPr lang="en-US" sz="1400" dirty="0">
                <a:latin typeface="Calibri (Cuerpo)"/>
                <a:cs typeface="Poppins"/>
                <a:sym typeface="Poppins"/>
              </a:rPr>
              <a:t> para </a:t>
            </a:r>
            <a:r>
              <a:rPr lang="en-US" sz="1400" dirty="0" err="1">
                <a:latin typeface="Calibri (Cuerpo)"/>
                <a:cs typeface="Poppins"/>
                <a:sym typeface="Poppins"/>
              </a:rPr>
              <a:t>mejor</a:t>
            </a:r>
            <a:r>
              <a:rPr lang="en-US" sz="1400" dirty="0">
                <a:latin typeface="Calibri (Cuerpo)"/>
                <a:cs typeface="Poppins"/>
                <a:sym typeface="Poppins"/>
              </a:rPr>
              <a:t> </a:t>
            </a:r>
            <a:r>
              <a:rPr lang="en-US" sz="1400" dirty="0" err="1">
                <a:latin typeface="Calibri (Cuerpo)"/>
                <a:cs typeface="Poppins"/>
                <a:sym typeface="Poppins"/>
              </a:rPr>
              <a:t>rendimiento</a:t>
            </a:r>
            <a:endParaRPr lang="en-US" sz="1400" dirty="0">
              <a:latin typeface="Calibri (Cuerpo)"/>
              <a:cs typeface="Poppins"/>
              <a:sym typeface="Poppins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4279799" y="2945708"/>
            <a:ext cx="3632301" cy="2429173"/>
            <a:chOff x="0" y="0"/>
            <a:chExt cx="7264603" cy="4858347"/>
          </a:xfrm>
        </p:grpSpPr>
        <p:sp>
          <p:nvSpPr>
            <p:cNvPr id="16" name="Freeform 16"/>
            <p:cNvSpPr/>
            <p:nvPr/>
          </p:nvSpPr>
          <p:spPr>
            <a:xfrm>
              <a:off x="19050" y="19050"/>
              <a:ext cx="7226554" cy="4820285"/>
            </a:xfrm>
            <a:custGeom>
              <a:avLst/>
              <a:gdLst/>
              <a:ahLst/>
              <a:cxnLst/>
              <a:rect l="l" t="t" r="r" b="b"/>
              <a:pathLst>
                <a:path w="7226554" h="4820285">
                  <a:moveTo>
                    <a:pt x="0" y="182880"/>
                  </a:moveTo>
                  <a:cubicBezTo>
                    <a:pt x="0" y="81915"/>
                    <a:pt x="82042" y="0"/>
                    <a:pt x="183388" y="0"/>
                  </a:cubicBezTo>
                  <a:lnTo>
                    <a:pt x="7043166" y="0"/>
                  </a:lnTo>
                  <a:cubicBezTo>
                    <a:pt x="7144385" y="0"/>
                    <a:pt x="7226554" y="81915"/>
                    <a:pt x="7226554" y="182880"/>
                  </a:cubicBezTo>
                  <a:lnTo>
                    <a:pt x="7226554" y="4637405"/>
                  </a:lnTo>
                  <a:cubicBezTo>
                    <a:pt x="7226554" y="4738370"/>
                    <a:pt x="7144512" y="4820285"/>
                    <a:pt x="7043166" y="4820285"/>
                  </a:cubicBezTo>
                  <a:lnTo>
                    <a:pt x="183388" y="4820285"/>
                  </a:lnTo>
                  <a:cubicBezTo>
                    <a:pt x="82169" y="4820285"/>
                    <a:pt x="0" y="4738370"/>
                    <a:pt x="0" y="4637405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tx1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7264654" cy="4858385"/>
            </a:xfrm>
            <a:custGeom>
              <a:avLst/>
              <a:gdLst/>
              <a:ahLst/>
              <a:cxnLst/>
              <a:rect l="l" t="t" r="r" b="b"/>
              <a:pathLst>
                <a:path w="7264654" h="4858385">
                  <a:moveTo>
                    <a:pt x="0" y="201930"/>
                  </a:moveTo>
                  <a:cubicBezTo>
                    <a:pt x="0" y="90297"/>
                    <a:pt x="90678" y="0"/>
                    <a:pt x="202438" y="0"/>
                  </a:cubicBezTo>
                  <a:lnTo>
                    <a:pt x="7062216" y="0"/>
                  </a:lnTo>
                  <a:lnTo>
                    <a:pt x="7062216" y="19050"/>
                  </a:lnTo>
                  <a:lnTo>
                    <a:pt x="7062216" y="0"/>
                  </a:lnTo>
                  <a:cubicBezTo>
                    <a:pt x="7173976" y="0"/>
                    <a:pt x="7264654" y="90297"/>
                    <a:pt x="7264654" y="201930"/>
                  </a:cubicBezTo>
                  <a:lnTo>
                    <a:pt x="7245604" y="201930"/>
                  </a:lnTo>
                  <a:lnTo>
                    <a:pt x="7264654" y="201930"/>
                  </a:lnTo>
                  <a:lnTo>
                    <a:pt x="7264654" y="4656455"/>
                  </a:lnTo>
                  <a:lnTo>
                    <a:pt x="7245604" y="4656455"/>
                  </a:lnTo>
                  <a:lnTo>
                    <a:pt x="7264654" y="4656455"/>
                  </a:lnTo>
                  <a:cubicBezTo>
                    <a:pt x="7264654" y="4768088"/>
                    <a:pt x="7173976" y="4858385"/>
                    <a:pt x="7062216" y="4858385"/>
                  </a:cubicBezTo>
                  <a:lnTo>
                    <a:pt x="7062216" y="4839335"/>
                  </a:lnTo>
                  <a:lnTo>
                    <a:pt x="7062216" y="4858385"/>
                  </a:lnTo>
                  <a:lnTo>
                    <a:pt x="202438" y="4858385"/>
                  </a:lnTo>
                  <a:lnTo>
                    <a:pt x="202438" y="4839335"/>
                  </a:lnTo>
                  <a:lnTo>
                    <a:pt x="202438" y="4858385"/>
                  </a:lnTo>
                  <a:cubicBezTo>
                    <a:pt x="90678" y="4858385"/>
                    <a:pt x="0" y="4768088"/>
                    <a:pt x="0" y="4656455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4656455"/>
                  </a:lnTo>
                  <a:lnTo>
                    <a:pt x="19050" y="4656455"/>
                  </a:lnTo>
                  <a:lnTo>
                    <a:pt x="38100" y="4656455"/>
                  </a:lnTo>
                  <a:cubicBezTo>
                    <a:pt x="38100" y="4746879"/>
                    <a:pt x="111633" y="4820285"/>
                    <a:pt x="202438" y="4820285"/>
                  </a:cubicBezTo>
                  <a:lnTo>
                    <a:pt x="7062216" y="4820285"/>
                  </a:lnTo>
                  <a:cubicBezTo>
                    <a:pt x="7153022" y="4820285"/>
                    <a:pt x="7226554" y="4746879"/>
                    <a:pt x="7226554" y="4656455"/>
                  </a:cubicBezTo>
                  <a:lnTo>
                    <a:pt x="7226554" y="201930"/>
                  </a:lnTo>
                  <a:cubicBezTo>
                    <a:pt x="7226554" y="111506"/>
                    <a:pt x="7153022" y="38100"/>
                    <a:pt x="7062216" y="38100"/>
                  </a:cubicBezTo>
                  <a:lnTo>
                    <a:pt x="202438" y="38100"/>
                  </a:lnTo>
                  <a:lnTo>
                    <a:pt x="202438" y="19050"/>
                  </a:lnTo>
                  <a:lnTo>
                    <a:pt x="202438" y="38100"/>
                  </a:lnTo>
                  <a:cubicBezTo>
                    <a:pt x="111633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D2C5C9"/>
            </a:solidFill>
            <a:ln>
              <a:solidFill>
                <a:schemeClr val="tx1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4270273" y="2955233"/>
            <a:ext cx="76200" cy="2410123"/>
            <a:chOff x="0" y="0"/>
            <a:chExt cx="152400" cy="4820247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2400" cy="4820285"/>
            </a:xfrm>
            <a:custGeom>
              <a:avLst/>
              <a:gdLst/>
              <a:ahLst/>
              <a:cxnLst/>
              <a:rect l="l" t="t" r="r" b="b"/>
              <a:pathLst>
                <a:path w="152400" h="4820285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4744085"/>
                  </a:lnTo>
                  <a:cubicBezTo>
                    <a:pt x="152400" y="4786122"/>
                    <a:pt x="118237" y="4820285"/>
                    <a:pt x="76200" y="4820285"/>
                  </a:cubicBezTo>
                  <a:cubicBezTo>
                    <a:pt x="34163" y="4820285"/>
                    <a:pt x="0" y="4786122"/>
                    <a:pt x="0" y="4744085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4500760" y="3090469"/>
            <a:ext cx="2916339" cy="34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33"/>
              </a:lnSpc>
            </a:pPr>
            <a:r>
              <a:rPr lang="en-US" sz="2291" dirty="0">
                <a:solidFill>
                  <a:schemeClr val="accent1">
                    <a:lumMod val="50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Software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00760" y="3510559"/>
            <a:ext cx="3247530" cy="130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57105" lvl="1" indent="-78552">
              <a:lnSpc>
                <a:spcPts val="1666"/>
              </a:lnSpc>
              <a:buFont typeface="Arial"/>
              <a:buChar char="•"/>
            </a:pPr>
            <a:r>
              <a:rPr lang="en-US" sz="1400" dirty="0">
                <a:latin typeface="Calibri (Cuerpo)"/>
                <a:cs typeface="Poppins"/>
                <a:sym typeface="Poppins"/>
              </a:rPr>
              <a:t>Sistema </a:t>
            </a:r>
            <a:r>
              <a:rPr lang="en-US" sz="1400" dirty="0" err="1">
                <a:latin typeface="Calibri (Cuerpo)"/>
                <a:cs typeface="Poppins"/>
                <a:sym typeface="Poppins"/>
              </a:rPr>
              <a:t>operativo</a:t>
            </a:r>
            <a:r>
              <a:rPr lang="en-US" sz="1400" dirty="0">
                <a:latin typeface="Calibri (Cuerpo)"/>
                <a:cs typeface="Poppins"/>
                <a:sym typeface="Poppins"/>
              </a:rPr>
              <a:t> compatible (Windows/Linux/macOS)</a:t>
            </a:r>
          </a:p>
          <a:p>
            <a:pPr marL="157105" lvl="1" indent="-78552">
              <a:lnSpc>
                <a:spcPts val="1666"/>
              </a:lnSpc>
              <a:buFont typeface="Arial"/>
              <a:buChar char="•"/>
            </a:pPr>
            <a:r>
              <a:rPr lang="en-US" sz="1400" dirty="0" err="1">
                <a:latin typeface="Calibri (Cuerpo)"/>
                <a:cs typeface="Poppins"/>
                <a:sym typeface="Poppins"/>
              </a:rPr>
              <a:t>Dependencias</a:t>
            </a:r>
            <a:r>
              <a:rPr lang="en-US" sz="1400" dirty="0">
                <a:latin typeface="Calibri (Cuerpo)"/>
                <a:cs typeface="Poppins"/>
                <a:sym typeface="Poppins"/>
              </a:rPr>
              <a:t> y </a:t>
            </a:r>
            <a:r>
              <a:rPr lang="en-US" sz="1400" dirty="0" err="1">
                <a:latin typeface="Calibri (Cuerpo)"/>
                <a:cs typeface="Poppins"/>
                <a:sym typeface="Poppins"/>
              </a:rPr>
              <a:t>bibliotecas</a:t>
            </a:r>
            <a:r>
              <a:rPr lang="en-US" sz="1400" dirty="0">
                <a:latin typeface="Calibri (Cuerpo)"/>
                <a:cs typeface="Poppins"/>
                <a:sym typeface="Poppins"/>
              </a:rPr>
              <a:t> </a:t>
            </a:r>
            <a:r>
              <a:rPr lang="en-US" sz="1400" dirty="0" err="1">
                <a:latin typeface="Calibri (Cuerpo)"/>
                <a:cs typeface="Poppins"/>
                <a:sym typeface="Poppins"/>
              </a:rPr>
              <a:t>requeridas</a:t>
            </a:r>
            <a:endParaRPr lang="en-US" sz="1400" dirty="0">
              <a:latin typeface="Calibri (Cuerpo)"/>
              <a:cs typeface="Poppins"/>
              <a:sym typeface="Poppins"/>
            </a:endParaRPr>
          </a:p>
          <a:p>
            <a:pPr marL="157105" lvl="1" indent="-78552">
              <a:lnSpc>
                <a:spcPts val="1666"/>
              </a:lnSpc>
              <a:buFont typeface="Arial"/>
              <a:buChar char="•"/>
            </a:pPr>
            <a:r>
              <a:rPr lang="en-US" sz="1400" dirty="0" err="1">
                <a:latin typeface="Calibri (Cuerpo)"/>
                <a:cs typeface="Poppins"/>
                <a:sym typeface="Poppins"/>
              </a:rPr>
              <a:t>Permisos</a:t>
            </a:r>
            <a:r>
              <a:rPr lang="en-US" sz="1400" dirty="0">
                <a:latin typeface="Calibri (Cuerpo)"/>
                <a:cs typeface="Poppins"/>
                <a:sym typeface="Poppins"/>
              </a:rPr>
              <a:t> de </a:t>
            </a:r>
            <a:r>
              <a:rPr lang="en-US" sz="1400" dirty="0" err="1">
                <a:latin typeface="Calibri (Cuerpo)"/>
                <a:cs typeface="Poppins"/>
                <a:sym typeface="Poppins"/>
              </a:rPr>
              <a:t>administrador</a:t>
            </a:r>
            <a:r>
              <a:rPr lang="en-US" sz="1400" dirty="0">
                <a:latin typeface="Calibri (Cuerpo)"/>
                <a:cs typeface="Poppins"/>
                <a:sym typeface="Poppins"/>
              </a:rPr>
              <a:t> para </a:t>
            </a:r>
            <a:r>
              <a:rPr lang="en-US" sz="1400" dirty="0" err="1">
                <a:latin typeface="Calibri (Cuerpo)"/>
                <a:cs typeface="Poppins"/>
                <a:sym typeface="Poppins"/>
              </a:rPr>
              <a:t>instalación</a:t>
            </a:r>
            <a:endParaRPr lang="en-US" sz="1400" dirty="0">
              <a:latin typeface="Calibri (Cuerpo)"/>
              <a:cs typeface="Poppins"/>
              <a:sym typeface="Poppins"/>
            </a:endParaRPr>
          </a:p>
          <a:p>
            <a:pPr marL="157105" lvl="1" indent="-78552">
              <a:lnSpc>
                <a:spcPts val="1666"/>
              </a:lnSpc>
              <a:buFont typeface="Arial"/>
              <a:buChar char="•"/>
            </a:pPr>
            <a:r>
              <a:rPr lang="en-US" sz="1400" dirty="0" err="1">
                <a:latin typeface="Calibri (Cuerpo)"/>
                <a:cs typeface="Poppins"/>
                <a:sym typeface="Poppins"/>
              </a:rPr>
              <a:t>Conectividad</a:t>
            </a:r>
            <a:r>
              <a:rPr lang="en-US" sz="1400" dirty="0">
                <a:latin typeface="Calibri (Cuerpo)"/>
                <a:cs typeface="Poppins"/>
                <a:sym typeface="Poppins"/>
              </a:rPr>
              <a:t> de red </a:t>
            </a:r>
            <a:r>
              <a:rPr lang="en-US" sz="1400" dirty="0" err="1">
                <a:latin typeface="Calibri (Cuerpo)"/>
                <a:cs typeface="Poppins"/>
                <a:sym typeface="Poppins"/>
              </a:rPr>
              <a:t>configurada</a:t>
            </a:r>
            <a:endParaRPr lang="en-US" sz="1400" dirty="0">
              <a:latin typeface="Calibri (Cuerpo)"/>
              <a:cs typeface="Poppins"/>
              <a:sym typeface="Poppins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8028286" y="2945708"/>
            <a:ext cx="3632301" cy="2429173"/>
            <a:chOff x="0" y="0"/>
            <a:chExt cx="7264603" cy="4858347"/>
          </a:xfrm>
        </p:grpSpPr>
        <p:sp>
          <p:nvSpPr>
            <p:cNvPr id="23" name="Freeform 23"/>
            <p:cNvSpPr/>
            <p:nvPr/>
          </p:nvSpPr>
          <p:spPr>
            <a:xfrm>
              <a:off x="19050" y="19050"/>
              <a:ext cx="7226554" cy="4820285"/>
            </a:xfrm>
            <a:custGeom>
              <a:avLst/>
              <a:gdLst/>
              <a:ahLst/>
              <a:cxnLst/>
              <a:rect l="l" t="t" r="r" b="b"/>
              <a:pathLst>
                <a:path w="7226554" h="4820285">
                  <a:moveTo>
                    <a:pt x="0" y="182880"/>
                  </a:moveTo>
                  <a:cubicBezTo>
                    <a:pt x="0" y="81915"/>
                    <a:pt x="82042" y="0"/>
                    <a:pt x="183388" y="0"/>
                  </a:cubicBezTo>
                  <a:lnTo>
                    <a:pt x="7043166" y="0"/>
                  </a:lnTo>
                  <a:cubicBezTo>
                    <a:pt x="7144385" y="0"/>
                    <a:pt x="7226554" y="81915"/>
                    <a:pt x="7226554" y="182880"/>
                  </a:cubicBezTo>
                  <a:lnTo>
                    <a:pt x="7226554" y="4637405"/>
                  </a:lnTo>
                  <a:cubicBezTo>
                    <a:pt x="7226554" y="4738370"/>
                    <a:pt x="7144512" y="4820285"/>
                    <a:pt x="7043166" y="4820285"/>
                  </a:cubicBezTo>
                  <a:lnTo>
                    <a:pt x="183388" y="4820285"/>
                  </a:lnTo>
                  <a:cubicBezTo>
                    <a:pt x="82169" y="4820285"/>
                    <a:pt x="0" y="4738370"/>
                    <a:pt x="0" y="4637405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tx1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7264654" cy="4858385"/>
            </a:xfrm>
            <a:custGeom>
              <a:avLst/>
              <a:gdLst/>
              <a:ahLst/>
              <a:cxnLst/>
              <a:rect l="l" t="t" r="r" b="b"/>
              <a:pathLst>
                <a:path w="7264654" h="4858385">
                  <a:moveTo>
                    <a:pt x="0" y="201930"/>
                  </a:moveTo>
                  <a:cubicBezTo>
                    <a:pt x="0" y="90297"/>
                    <a:pt x="90678" y="0"/>
                    <a:pt x="202438" y="0"/>
                  </a:cubicBezTo>
                  <a:lnTo>
                    <a:pt x="7062216" y="0"/>
                  </a:lnTo>
                  <a:lnTo>
                    <a:pt x="7062216" y="19050"/>
                  </a:lnTo>
                  <a:lnTo>
                    <a:pt x="7062216" y="0"/>
                  </a:lnTo>
                  <a:cubicBezTo>
                    <a:pt x="7173976" y="0"/>
                    <a:pt x="7264654" y="90297"/>
                    <a:pt x="7264654" y="201930"/>
                  </a:cubicBezTo>
                  <a:lnTo>
                    <a:pt x="7245604" y="201930"/>
                  </a:lnTo>
                  <a:lnTo>
                    <a:pt x="7264654" y="201930"/>
                  </a:lnTo>
                  <a:lnTo>
                    <a:pt x="7264654" y="4656455"/>
                  </a:lnTo>
                  <a:lnTo>
                    <a:pt x="7245604" y="4656455"/>
                  </a:lnTo>
                  <a:lnTo>
                    <a:pt x="7264654" y="4656455"/>
                  </a:lnTo>
                  <a:cubicBezTo>
                    <a:pt x="7264654" y="4768088"/>
                    <a:pt x="7173976" y="4858385"/>
                    <a:pt x="7062216" y="4858385"/>
                  </a:cubicBezTo>
                  <a:lnTo>
                    <a:pt x="7062216" y="4839335"/>
                  </a:lnTo>
                  <a:lnTo>
                    <a:pt x="7062216" y="4858385"/>
                  </a:lnTo>
                  <a:lnTo>
                    <a:pt x="202438" y="4858385"/>
                  </a:lnTo>
                  <a:lnTo>
                    <a:pt x="202438" y="4839335"/>
                  </a:lnTo>
                  <a:lnTo>
                    <a:pt x="202438" y="4858385"/>
                  </a:lnTo>
                  <a:cubicBezTo>
                    <a:pt x="90678" y="4858385"/>
                    <a:pt x="0" y="4768088"/>
                    <a:pt x="0" y="4656455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4656455"/>
                  </a:lnTo>
                  <a:lnTo>
                    <a:pt x="19050" y="4656455"/>
                  </a:lnTo>
                  <a:lnTo>
                    <a:pt x="38100" y="4656455"/>
                  </a:lnTo>
                  <a:cubicBezTo>
                    <a:pt x="38100" y="4746879"/>
                    <a:pt x="111633" y="4820285"/>
                    <a:pt x="202438" y="4820285"/>
                  </a:cubicBezTo>
                  <a:lnTo>
                    <a:pt x="7062216" y="4820285"/>
                  </a:lnTo>
                  <a:cubicBezTo>
                    <a:pt x="7153022" y="4820285"/>
                    <a:pt x="7226554" y="4746879"/>
                    <a:pt x="7226554" y="4656455"/>
                  </a:cubicBezTo>
                  <a:lnTo>
                    <a:pt x="7226554" y="201930"/>
                  </a:lnTo>
                  <a:cubicBezTo>
                    <a:pt x="7226554" y="111506"/>
                    <a:pt x="7153022" y="38100"/>
                    <a:pt x="7062216" y="38100"/>
                  </a:cubicBezTo>
                  <a:lnTo>
                    <a:pt x="202438" y="38100"/>
                  </a:lnTo>
                  <a:lnTo>
                    <a:pt x="202438" y="19050"/>
                  </a:lnTo>
                  <a:lnTo>
                    <a:pt x="202438" y="38100"/>
                  </a:lnTo>
                  <a:cubicBezTo>
                    <a:pt x="111633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D2C5C9"/>
            </a:solidFill>
            <a:ln>
              <a:solidFill>
                <a:schemeClr val="tx1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8018761" y="2955233"/>
            <a:ext cx="76200" cy="2410123"/>
            <a:chOff x="0" y="0"/>
            <a:chExt cx="152400" cy="4820247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6" name="Freeform 26"/>
            <p:cNvSpPr/>
            <p:nvPr/>
          </p:nvSpPr>
          <p:spPr>
            <a:xfrm>
              <a:off x="0" y="0"/>
              <a:ext cx="152400" cy="4820285"/>
            </a:xfrm>
            <a:custGeom>
              <a:avLst/>
              <a:gdLst/>
              <a:ahLst/>
              <a:cxnLst/>
              <a:rect l="l" t="t" r="r" b="b"/>
              <a:pathLst>
                <a:path w="152400" h="4820285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4744085"/>
                  </a:lnTo>
                  <a:cubicBezTo>
                    <a:pt x="152400" y="4786122"/>
                    <a:pt x="118237" y="4820285"/>
                    <a:pt x="76200" y="4820285"/>
                  </a:cubicBezTo>
                  <a:cubicBezTo>
                    <a:pt x="34163" y="4820285"/>
                    <a:pt x="0" y="4786122"/>
                    <a:pt x="0" y="4744085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8249247" y="3090469"/>
            <a:ext cx="2916339" cy="34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33"/>
              </a:lnSpc>
            </a:pPr>
            <a:r>
              <a:rPr lang="en-US" sz="2291" dirty="0">
                <a:solidFill>
                  <a:schemeClr val="accent1">
                    <a:lumMod val="50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Sistema </a:t>
            </a:r>
            <a:r>
              <a:rPr lang="en-US" sz="2291" dirty="0" err="1">
                <a:solidFill>
                  <a:schemeClr val="accent1">
                    <a:lumMod val="50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Operativo</a:t>
            </a:r>
            <a:endParaRPr lang="en-US" sz="2291" dirty="0">
              <a:solidFill>
                <a:schemeClr val="accent1">
                  <a:lumMod val="50000"/>
                </a:schemeClr>
              </a:solidFill>
              <a:latin typeface="Calibri (Cuerpo)"/>
              <a:ea typeface="Arimo"/>
              <a:cs typeface="Arimo"/>
              <a:sym typeface="Arimo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249247" y="3510559"/>
            <a:ext cx="3247530" cy="864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57105" lvl="1" indent="-78552">
              <a:lnSpc>
                <a:spcPts val="1666"/>
              </a:lnSpc>
              <a:buFont typeface="Arial"/>
              <a:buChar char="•"/>
            </a:pPr>
            <a:r>
              <a:rPr lang="en-US" sz="1400" dirty="0">
                <a:latin typeface="Calibri (Cuerpo)"/>
                <a:ea typeface="Poppins"/>
                <a:cs typeface="Poppins"/>
                <a:sym typeface="Poppins"/>
              </a:rPr>
              <a:t>Windows Server o Windows 10/11</a:t>
            </a:r>
          </a:p>
          <a:p>
            <a:pPr marL="157105" lvl="1" indent="-78552">
              <a:lnSpc>
                <a:spcPts val="1666"/>
              </a:lnSpc>
              <a:buFont typeface="Arial"/>
              <a:buChar char="•"/>
            </a:pPr>
            <a:r>
              <a:rPr lang="en-US" sz="1400" dirty="0">
                <a:latin typeface="Calibri (Cuerpo)"/>
                <a:ea typeface="Poppins"/>
                <a:cs typeface="Poppins"/>
                <a:sym typeface="Poppins"/>
              </a:rPr>
              <a:t>Linux (Ubuntu, CentOS, Red Hat)</a:t>
            </a:r>
          </a:p>
          <a:p>
            <a:pPr marL="157105" lvl="1" indent="-78552">
              <a:lnSpc>
                <a:spcPts val="1666"/>
              </a:lnSpc>
              <a:buFont typeface="Arial"/>
              <a:buChar char="•"/>
            </a:pPr>
            <a:r>
              <a:rPr lang="en-US" sz="1400" dirty="0">
                <a:latin typeface="Calibri (Cuerpo)"/>
                <a:ea typeface="Poppins"/>
                <a:cs typeface="Poppins"/>
                <a:sym typeface="Poppins"/>
              </a:rPr>
              <a:t>macOS (</a:t>
            </a:r>
            <a:r>
              <a:rPr lang="en-US" sz="1400" dirty="0" err="1">
                <a:latin typeface="Calibri (Cuerpo)"/>
                <a:ea typeface="Poppins"/>
                <a:cs typeface="Poppins"/>
                <a:sym typeface="Poppins"/>
              </a:rPr>
              <a:t>versión</a:t>
            </a:r>
            <a:r>
              <a:rPr lang="en-US" sz="1400" dirty="0">
                <a:latin typeface="Calibri (Cuerpo)"/>
                <a:ea typeface="Poppins"/>
                <a:cs typeface="Poppins"/>
                <a:sym typeface="Poppins"/>
              </a:rPr>
              <a:t> compatible)</a:t>
            </a:r>
          </a:p>
          <a:p>
            <a:pPr marL="157105" lvl="1" indent="-78552">
              <a:lnSpc>
                <a:spcPts val="1666"/>
              </a:lnSpc>
              <a:buFont typeface="Arial"/>
              <a:buChar char="•"/>
            </a:pPr>
            <a:r>
              <a:rPr lang="en-US" sz="1400" dirty="0">
                <a:latin typeface="Calibri (Cuerpo)"/>
                <a:ea typeface="Poppins"/>
                <a:cs typeface="Poppins"/>
                <a:sym typeface="Poppins"/>
              </a:rPr>
              <a:t>Sistema de </a:t>
            </a:r>
            <a:r>
              <a:rPr lang="en-US" sz="1400" dirty="0" err="1">
                <a:latin typeface="Calibri (Cuerpo)"/>
                <a:ea typeface="Poppins"/>
                <a:cs typeface="Poppins"/>
                <a:sym typeface="Poppins"/>
              </a:rPr>
              <a:t>archivos</a:t>
            </a:r>
            <a:r>
              <a:rPr lang="en-US" sz="1400" dirty="0">
                <a:latin typeface="Calibri (Cuerpo)"/>
                <a:ea typeface="Poppins"/>
                <a:cs typeface="Poppins"/>
                <a:sym typeface="Poppins"/>
              </a:rPr>
              <a:t> NTFS o ext4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723D822B-90EC-DF81-E4AC-53BA9E3D8C63}"/>
              </a:ext>
            </a:extLst>
          </p:cNvPr>
          <p:cNvGrpSpPr/>
          <p:nvPr/>
        </p:nvGrpSpPr>
        <p:grpSpPr>
          <a:xfrm>
            <a:off x="845147" y="5223029"/>
            <a:ext cx="10366470" cy="1027655"/>
            <a:chOff x="0" y="0"/>
            <a:chExt cx="10915853" cy="1747838"/>
          </a:xfrm>
          <a:blipFill>
            <a:blip r:embed="rId2"/>
            <a:tile tx="0" ty="0" sx="100000" sy="100000" flip="none" algn="tl"/>
          </a:blipFill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B1589FFE-F740-3A03-7770-320EB3FEB84B}"/>
                </a:ext>
              </a:extLst>
            </p:cNvPr>
            <p:cNvSpPr/>
            <p:nvPr/>
          </p:nvSpPr>
          <p:spPr>
            <a:xfrm>
              <a:off x="12700" y="12700"/>
              <a:ext cx="10890504" cy="1722374"/>
            </a:xfrm>
            <a:custGeom>
              <a:avLst/>
              <a:gdLst/>
              <a:ahLst/>
              <a:cxnLst/>
              <a:rect l="l" t="t" r="r" b="b"/>
              <a:pathLst>
                <a:path w="10890504" h="1722374">
                  <a:moveTo>
                    <a:pt x="0" y="374015"/>
                  </a:moveTo>
                  <a:cubicBezTo>
                    <a:pt x="0" y="167513"/>
                    <a:pt x="169545" y="0"/>
                    <a:pt x="378714" y="0"/>
                  </a:cubicBezTo>
                  <a:lnTo>
                    <a:pt x="10511790" y="0"/>
                  </a:lnTo>
                  <a:cubicBezTo>
                    <a:pt x="10720959" y="0"/>
                    <a:pt x="10890504" y="167513"/>
                    <a:pt x="10890504" y="374015"/>
                  </a:cubicBezTo>
                  <a:lnTo>
                    <a:pt x="10890504" y="1348359"/>
                  </a:lnTo>
                  <a:cubicBezTo>
                    <a:pt x="10890504" y="1554988"/>
                    <a:pt x="10720959" y="1722374"/>
                    <a:pt x="10511790" y="1722374"/>
                  </a:cubicBezTo>
                  <a:lnTo>
                    <a:pt x="378714" y="1722374"/>
                  </a:lnTo>
                  <a:cubicBezTo>
                    <a:pt x="169545" y="1722374"/>
                    <a:pt x="0" y="1554988"/>
                    <a:pt x="0" y="1348359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  <p:sp>
          <p:nvSpPr>
            <p:cNvPr id="4" name="Freeform 10">
              <a:extLst>
                <a:ext uri="{FF2B5EF4-FFF2-40B4-BE49-F238E27FC236}">
                  <a16:creationId xmlns:a16="http://schemas.microsoft.com/office/drawing/2014/main" id="{632FE66F-ABD5-B3EF-857A-8A860883C912}"/>
                </a:ext>
              </a:extLst>
            </p:cNvPr>
            <p:cNvSpPr/>
            <p:nvPr/>
          </p:nvSpPr>
          <p:spPr>
            <a:xfrm>
              <a:off x="0" y="0"/>
              <a:ext cx="10915904" cy="1747774"/>
            </a:xfrm>
            <a:custGeom>
              <a:avLst/>
              <a:gdLst/>
              <a:ahLst/>
              <a:cxnLst/>
              <a:rect l="l" t="t" r="r" b="b"/>
              <a:pathLst>
                <a:path w="10915904" h="1747774">
                  <a:moveTo>
                    <a:pt x="0" y="386715"/>
                  </a:moveTo>
                  <a:cubicBezTo>
                    <a:pt x="0" y="172974"/>
                    <a:pt x="175387" y="0"/>
                    <a:pt x="391414" y="0"/>
                  </a:cubicBezTo>
                  <a:lnTo>
                    <a:pt x="10524490" y="0"/>
                  </a:lnTo>
                  <a:lnTo>
                    <a:pt x="10524490" y="12700"/>
                  </a:lnTo>
                  <a:lnTo>
                    <a:pt x="10524490" y="0"/>
                  </a:lnTo>
                  <a:cubicBezTo>
                    <a:pt x="10740517" y="0"/>
                    <a:pt x="10915904" y="172974"/>
                    <a:pt x="10915904" y="386715"/>
                  </a:cubicBezTo>
                  <a:lnTo>
                    <a:pt x="10903204" y="386715"/>
                  </a:lnTo>
                  <a:lnTo>
                    <a:pt x="10915904" y="386715"/>
                  </a:lnTo>
                  <a:lnTo>
                    <a:pt x="10915904" y="1361059"/>
                  </a:lnTo>
                  <a:lnTo>
                    <a:pt x="10903204" y="1361059"/>
                  </a:lnTo>
                  <a:lnTo>
                    <a:pt x="10915904" y="1361059"/>
                  </a:lnTo>
                  <a:cubicBezTo>
                    <a:pt x="10915904" y="1574800"/>
                    <a:pt x="10740517" y="1747774"/>
                    <a:pt x="10524490" y="1747774"/>
                  </a:cubicBezTo>
                  <a:lnTo>
                    <a:pt x="10524490" y="1735074"/>
                  </a:lnTo>
                  <a:lnTo>
                    <a:pt x="10524490" y="1747774"/>
                  </a:lnTo>
                  <a:lnTo>
                    <a:pt x="391414" y="1747774"/>
                  </a:lnTo>
                  <a:lnTo>
                    <a:pt x="391414" y="1735074"/>
                  </a:lnTo>
                  <a:lnTo>
                    <a:pt x="391414" y="1747774"/>
                  </a:lnTo>
                  <a:cubicBezTo>
                    <a:pt x="175387" y="1747774"/>
                    <a:pt x="0" y="1574800"/>
                    <a:pt x="0" y="1361059"/>
                  </a:cubicBezTo>
                  <a:lnTo>
                    <a:pt x="0" y="386715"/>
                  </a:lnTo>
                  <a:lnTo>
                    <a:pt x="12700" y="386715"/>
                  </a:lnTo>
                  <a:lnTo>
                    <a:pt x="0" y="386715"/>
                  </a:lnTo>
                  <a:moveTo>
                    <a:pt x="25400" y="386715"/>
                  </a:moveTo>
                  <a:lnTo>
                    <a:pt x="25400" y="1361059"/>
                  </a:lnTo>
                  <a:lnTo>
                    <a:pt x="12700" y="1361059"/>
                  </a:lnTo>
                  <a:lnTo>
                    <a:pt x="25400" y="1361059"/>
                  </a:lnTo>
                  <a:cubicBezTo>
                    <a:pt x="25400" y="1560449"/>
                    <a:pt x="189103" y="1722374"/>
                    <a:pt x="391414" y="1722374"/>
                  </a:cubicBezTo>
                  <a:lnTo>
                    <a:pt x="10524490" y="1722374"/>
                  </a:lnTo>
                  <a:cubicBezTo>
                    <a:pt x="10726801" y="1722374"/>
                    <a:pt x="10890504" y="1560449"/>
                    <a:pt x="10890504" y="1361059"/>
                  </a:cubicBezTo>
                  <a:lnTo>
                    <a:pt x="10890504" y="386715"/>
                  </a:lnTo>
                  <a:cubicBezTo>
                    <a:pt x="10890504" y="187325"/>
                    <a:pt x="10726674" y="25400"/>
                    <a:pt x="10524490" y="25400"/>
                  </a:cubicBezTo>
                  <a:lnTo>
                    <a:pt x="391414" y="25400"/>
                  </a:lnTo>
                  <a:lnTo>
                    <a:pt x="391414" y="12700"/>
                  </a:lnTo>
                  <a:lnTo>
                    <a:pt x="391414" y="25400"/>
                  </a:lnTo>
                  <a:cubicBezTo>
                    <a:pt x="189103" y="25400"/>
                    <a:pt x="25400" y="187325"/>
                    <a:pt x="25400" y="386715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40944" y="748608"/>
            <a:ext cx="10366518" cy="624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0"/>
              </a:lnSpc>
            </a:pPr>
            <a:r>
              <a:rPr lang="en-US" sz="4400" dirty="0" err="1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Procedimiento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 de </a:t>
            </a:r>
            <a:r>
              <a:rPr lang="en-US" sz="4400" dirty="0" err="1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Instalación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 del SGBD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0944" y="1620241"/>
            <a:ext cx="11110119" cy="44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66"/>
              </a:lnSpc>
            </a:pP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El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proceso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de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instalación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varía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según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2000" dirty="0">
                <a:latin typeface="Calibri (Cuerpo)"/>
                <a:ea typeface="Poppins"/>
                <a:cs typeface="Poppins"/>
                <a:sym typeface="Poppins"/>
              </a:rPr>
              <a:t>el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SGBD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elegido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,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pero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sigue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una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estructura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general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común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que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incluye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varios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 pasos </a:t>
            </a:r>
            <a:r>
              <a:rPr lang="en-US" dirty="0" err="1">
                <a:latin typeface="Calibri (Cuerpo)"/>
                <a:ea typeface="Poppins"/>
                <a:cs typeface="Poppins"/>
                <a:sym typeface="Poppins"/>
              </a:rPr>
              <a:t>críticos</a:t>
            </a:r>
            <a:r>
              <a:rPr lang="en-US" dirty="0">
                <a:latin typeface="Calibri (Cuerpo)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43744" y="2371128"/>
            <a:ext cx="5284489" cy="135236"/>
            <a:chOff x="0" y="0"/>
            <a:chExt cx="10568978" cy="27047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9" name="Freeform 9"/>
            <p:cNvSpPr/>
            <p:nvPr/>
          </p:nvSpPr>
          <p:spPr>
            <a:xfrm>
              <a:off x="0" y="0"/>
              <a:ext cx="10568940" cy="270510"/>
            </a:xfrm>
            <a:custGeom>
              <a:avLst/>
              <a:gdLst/>
              <a:ahLst/>
              <a:cxnLst/>
              <a:rect l="l" t="t" r="r" b="b"/>
              <a:pathLst>
                <a:path w="10568940" h="270510">
                  <a:moveTo>
                    <a:pt x="0" y="135255"/>
                  </a:moveTo>
                  <a:cubicBezTo>
                    <a:pt x="0" y="60579"/>
                    <a:pt x="60579" y="0"/>
                    <a:pt x="135255" y="0"/>
                  </a:cubicBezTo>
                  <a:lnTo>
                    <a:pt x="10433685" y="0"/>
                  </a:lnTo>
                  <a:cubicBezTo>
                    <a:pt x="10508361" y="0"/>
                    <a:pt x="10568940" y="60579"/>
                    <a:pt x="10568940" y="135255"/>
                  </a:cubicBezTo>
                  <a:cubicBezTo>
                    <a:pt x="10568940" y="209931"/>
                    <a:pt x="10508488" y="270510"/>
                    <a:pt x="10433685" y="270510"/>
                  </a:cubicBezTo>
                  <a:lnTo>
                    <a:pt x="135255" y="270510"/>
                  </a:lnTo>
                  <a:cubicBezTo>
                    <a:pt x="60579" y="270510"/>
                    <a:pt x="0" y="209931"/>
                    <a:pt x="0" y="135255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40944" y="2235848"/>
            <a:ext cx="405708" cy="405708"/>
            <a:chOff x="0" y="0"/>
            <a:chExt cx="811416" cy="811416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1403" cy="811403"/>
            </a:xfrm>
            <a:custGeom>
              <a:avLst/>
              <a:gdLst/>
              <a:ahLst/>
              <a:cxnLst/>
              <a:rect l="l" t="t" r="r" b="b"/>
              <a:pathLst>
                <a:path w="811403" h="811403">
                  <a:moveTo>
                    <a:pt x="0" y="405765"/>
                  </a:moveTo>
                  <a:cubicBezTo>
                    <a:pt x="0" y="181610"/>
                    <a:pt x="181610" y="0"/>
                    <a:pt x="405765" y="0"/>
                  </a:cubicBezTo>
                  <a:cubicBezTo>
                    <a:pt x="629920" y="0"/>
                    <a:pt x="811403" y="181610"/>
                    <a:pt x="811403" y="405765"/>
                  </a:cubicBezTo>
                  <a:cubicBezTo>
                    <a:pt x="811403" y="629920"/>
                    <a:pt x="629793" y="811403"/>
                    <a:pt x="405765" y="811403"/>
                  </a:cubicBezTo>
                  <a:cubicBezTo>
                    <a:pt x="181737" y="811403"/>
                    <a:pt x="0" y="629793"/>
                    <a:pt x="0" y="405765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sp>
        <p:nvSpPr>
          <p:cNvPr id="12" name="Freeform 12" descr="preencoded.png"/>
          <p:cNvSpPr/>
          <p:nvPr/>
        </p:nvSpPr>
        <p:spPr>
          <a:xfrm>
            <a:off x="642341" y="2337245"/>
            <a:ext cx="202806" cy="202806"/>
          </a:xfrm>
          <a:custGeom>
            <a:avLst/>
            <a:gdLst/>
            <a:ahLst/>
            <a:cxnLst/>
            <a:rect l="l" t="t" r="r" b="b"/>
            <a:pathLst>
              <a:path w="304209" h="304209">
                <a:moveTo>
                  <a:pt x="0" y="0"/>
                </a:moveTo>
                <a:lnTo>
                  <a:pt x="304209" y="0"/>
                </a:lnTo>
                <a:lnTo>
                  <a:pt x="304209" y="304209"/>
                </a:lnTo>
                <a:lnTo>
                  <a:pt x="0" y="3042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49" r="-6249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12699" y="2751436"/>
            <a:ext cx="3183051" cy="312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75"/>
              </a:lnSpc>
            </a:pPr>
            <a:r>
              <a:rPr lang="en-US" sz="2400" dirty="0" err="1">
                <a:latin typeface="Calibri (Cuerpo)"/>
                <a:ea typeface="Arimo"/>
                <a:cs typeface="Arimo"/>
                <a:sym typeface="Arimo"/>
              </a:rPr>
              <a:t>Descarga</a:t>
            </a:r>
            <a:r>
              <a:rPr lang="en-US" sz="2400" dirty="0">
                <a:latin typeface="Calibri (Cuerpo)"/>
                <a:ea typeface="Arimo"/>
                <a:cs typeface="Arimo"/>
                <a:sym typeface="Arimo"/>
              </a:rPr>
              <a:t> del Software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2698" y="3117158"/>
            <a:ext cx="5216919" cy="200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66"/>
              </a:lnSpc>
            </a:pPr>
            <a:r>
              <a:rPr lang="en-US" sz="1100" dirty="0">
                <a:latin typeface="Calibri (Cuerpo)"/>
                <a:ea typeface="Poppins"/>
                <a:cs typeface="Poppins"/>
                <a:sym typeface="Poppins"/>
              </a:rPr>
              <a:t>Obtener el </a:t>
            </a:r>
            <a:r>
              <a:rPr lang="en-US" sz="1100" dirty="0" err="1">
                <a:latin typeface="Calibri (Cuerpo)"/>
                <a:ea typeface="Poppins"/>
                <a:cs typeface="Poppins"/>
                <a:sym typeface="Poppins"/>
              </a:rPr>
              <a:t>instalador</a:t>
            </a:r>
            <a:r>
              <a:rPr lang="en-US" sz="1100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100" dirty="0" err="1">
                <a:latin typeface="Calibri (Cuerpo)"/>
                <a:ea typeface="Poppins"/>
                <a:cs typeface="Poppins"/>
                <a:sym typeface="Poppins"/>
              </a:rPr>
              <a:t>desde</a:t>
            </a:r>
            <a:r>
              <a:rPr lang="en-US" sz="1100" dirty="0">
                <a:latin typeface="Calibri (Cuerpo)"/>
                <a:ea typeface="Poppins"/>
                <a:cs typeface="Poppins"/>
                <a:sym typeface="Poppins"/>
              </a:rPr>
              <a:t> el sitio </a:t>
            </a:r>
            <a:r>
              <a:rPr lang="en-US" sz="1100" dirty="0" err="1">
                <a:latin typeface="Calibri (Cuerpo)"/>
                <a:ea typeface="Poppins"/>
                <a:cs typeface="Poppins"/>
                <a:sym typeface="Poppins"/>
              </a:rPr>
              <a:t>oficial</a:t>
            </a:r>
            <a:r>
              <a:rPr lang="en-US" sz="1100" dirty="0">
                <a:latin typeface="Calibri (Cuerpo)"/>
                <a:ea typeface="Poppins"/>
                <a:cs typeface="Poppins"/>
                <a:sym typeface="Poppins"/>
              </a:rPr>
              <a:t> del </a:t>
            </a:r>
            <a:r>
              <a:rPr lang="en-US" sz="1100" dirty="0" err="1">
                <a:latin typeface="Calibri (Cuerpo)"/>
                <a:ea typeface="Poppins"/>
                <a:cs typeface="Poppins"/>
                <a:sym typeface="Poppins"/>
              </a:rPr>
              <a:t>proveedor</a:t>
            </a:r>
            <a:endParaRPr lang="en-US" sz="1100" dirty="0">
              <a:latin typeface="Calibri (Cuerpo)"/>
              <a:ea typeface="Poppins"/>
              <a:cs typeface="Poppins"/>
              <a:sym typeface="Poppins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6366370" y="2168328"/>
            <a:ext cx="5284591" cy="135236"/>
            <a:chOff x="0" y="0"/>
            <a:chExt cx="10569181" cy="27047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569194" cy="270510"/>
            </a:xfrm>
            <a:custGeom>
              <a:avLst/>
              <a:gdLst/>
              <a:ahLst/>
              <a:cxnLst/>
              <a:rect l="l" t="t" r="r" b="b"/>
              <a:pathLst>
                <a:path w="10569194" h="270510">
                  <a:moveTo>
                    <a:pt x="0" y="135255"/>
                  </a:moveTo>
                  <a:cubicBezTo>
                    <a:pt x="0" y="60579"/>
                    <a:pt x="60579" y="0"/>
                    <a:pt x="135255" y="0"/>
                  </a:cubicBezTo>
                  <a:lnTo>
                    <a:pt x="10433939" y="0"/>
                  </a:lnTo>
                  <a:cubicBezTo>
                    <a:pt x="10508615" y="0"/>
                    <a:pt x="10569194" y="60579"/>
                    <a:pt x="10569194" y="135255"/>
                  </a:cubicBezTo>
                  <a:cubicBezTo>
                    <a:pt x="10569194" y="209931"/>
                    <a:pt x="10508615" y="270510"/>
                    <a:pt x="10433939" y="270510"/>
                  </a:cubicBezTo>
                  <a:lnTo>
                    <a:pt x="135255" y="270510"/>
                  </a:lnTo>
                  <a:cubicBezTo>
                    <a:pt x="60579" y="270510"/>
                    <a:pt x="0" y="209931"/>
                    <a:pt x="0" y="135255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163571" y="2033041"/>
            <a:ext cx="405708" cy="405708"/>
            <a:chOff x="0" y="0"/>
            <a:chExt cx="811416" cy="811416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1403" cy="811403"/>
            </a:xfrm>
            <a:custGeom>
              <a:avLst/>
              <a:gdLst/>
              <a:ahLst/>
              <a:cxnLst/>
              <a:rect l="l" t="t" r="r" b="b"/>
              <a:pathLst>
                <a:path w="811403" h="811403">
                  <a:moveTo>
                    <a:pt x="0" y="405765"/>
                  </a:moveTo>
                  <a:cubicBezTo>
                    <a:pt x="0" y="181610"/>
                    <a:pt x="181610" y="0"/>
                    <a:pt x="405765" y="0"/>
                  </a:cubicBezTo>
                  <a:cubicBezTo>
                    <a:pt x="629920" y="0"/>
                    <a:pt x="811403" y="181610"/>
                    <a:pt x="811403" y="405765"/>
                  </a:cubicBezTo>
                  <a:cubicBezTo>
                    <a:pt x="811403" y="629920"/>
                    <a:pt x="629793" y="811403"/>
                    <a:pt x="405765" y="811403"/>
                  </a:cubicBezTo>
                  <a:cubicBezTo>
                    <a:pt x="181737" y="811403"/>
                    <a:pt x="0" y="629793"/>
                    <a:pt x="0" y="405765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sp>
        <p:nvSpPr>
          <p:cNvPr id="19" name="Freeform 19" descr="preencoded.png"/>
          <p:cNvSpPr/>
          <p:nvPr/>
        </p:nvSpPr>
        <p:spPr>
          <a:xfrm>
            <a:off x="6264968" y="2134445"/>
            <a:ext cx="202806" cy="202806"/>
          </a:xfrm>
          <a:custGeom>
            <a:avLst/>
            <a:gdLst/>
            <a:ahLst/>
            <a:cxnLst/>
            <a:rect l="l" t="t" r="r" b="b"/>
            <a:pathLst>
              <a:path w="304209" h="304209">
                <a:moveTo>
                  <a:pt x="0" y="0"/>
                </a:moveTo>
                <a:lnTo>
                  <a:pt x="304209" y="0"/>
                </a:lnTo>
                <a:lnTo>
                  <a:pt x="304209" y="304209"/>
                </a:lnTo>
                <a:lnTo>
                  <a:pt x="0" y="3042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562" b="-1562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6535331" y="2548630"/>
            <a:ext cx="3084919" cy="312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75"/>
              </a:lnSpc>
            </a:pPr>
            <a:r>
              <a:rPr lang="en-US" sz="2400" dirty="0" err="1">
                <a:latin typeface="Calibri (Cuerpo)"/>
                <a:ea typeface="Arimo"/>
                <a:cs typeface="Arimo"/>
                <a:sym typeface="Arimo"/>
              </a:rPr>
              <a:t>Configuración</a:t>
            </a:r>
            <a:r>
              <a:rPr lang="en-US" sz="2400" dirty="0">
                <a:latin typeface="Calibri (Cuerpo)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latin typeface="Calibri (Cuerpo)"/>
                <a:ea typeface="Arimo"/>
                <a:cs typeface="Arimo"/>
                <a:sym typeface="Arimo"/>
              </a:rPr>
              <a:t>Inicial</a:t>
            </a:r>
            <a:endParaRPr lang="en-US" sz="2400" dirty="0">
              <a:latin typeface="Calibri (Cuerpo)"/>
              <a:ea typeface="Arimo"/>
              <a:cs typeface="Arimo"/>
              <a:sym typeface="Arimo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535331" y="2914352"/>
            <a:ext cx="5217020" cy="200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66"/>
              </a:lnSpc>
            </a:pPr>
            <a:r>
              <a:rPr lang="en-US" sz="1100" dirty="0" err="1">
                <a:latin typeface="Calibri (Cuerpo)"/>
                <a:ea typeface="Poppins"/>
                <a:cs typeface="Poppins"/>
                <a:sym typeface="Poppins"/>
              </a:rPr>
              <a:t>Especificar</a:t>
            </a:r>
            <a:r>
              <a:rPr lang="en-US" sz="1100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100" dirty="0" err="1">
                <a:latin typeface="Calibri (Cuerpo)"/>
                <a:ea typeface="Poppins"/>
                <a:cs typeface="Poppins"/>
                <a:sym typeface="Poppins"/>
              </a:rPr>
              <a:t>directorios</a:t>
            </a:r>
            <a:r>
              <a:rPr lang="en-US" sz="1100" dirty="0">
                <a:latin typeface="Calibri (Cuerpo)"/>
                <a:ea typeface="Poppins"/>
                <a:cs typeface="Poppins"/>
                <a:sym typeface="Poppins"/>
              </a:rPr>
              <a:t>, </a:t>
            </a:r>
            <a:r>
              <a:rPr lang="en-US" sz="1100" dirty="0" err="1">
                <a:latin typeface="Calibri (Cuerpo)"/>
                <a:ea typeface="Poppins"/>
                <a:cs typeface="Poppins"/>
                <a:sym typeface="Poppins"/>
              </a:rPr>
              <a:t>puertos</a:t>
            </a:r>
            <a:r>
              <a:rPr lang="en-US" sz="1100" dirty="0">
                <a:latin typeface="Calibri (Cuerpo)"/>
                <a:ea typeface="Poppins"/>
                <a:cs typeface="Poppins"/>
                <a:sym typeface="Poppins"/>
              </a:rPr>
              <a:t> y </a:t>
            </a:r>
            <a:r>
              <a:rPr lang="en-US" sz="1100" dirty="0" err="1">
                <a:latin typeface="Calibri (Cuerpo)"/>
                <a:ea typeface="Poppins"/>
                <a:cs typeface="Poppins"/>
                <a:sym typeface="Poppins"/>
              </a:rPr>
              <a:t>parámetros</a:t>
            </a:r>
            <a:r>
              <a:rPr lang="en-US" sz="1100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100" dirty="0" err="1">
                <a:latin typeface="Calibri (Cuerpo)"/>
                <a:ea typeface="Poppins"/>
                <a:cs typeface="Poppins"/>
                <a:sym typeface="Poppins"/>
              </a:rPr>
              <a:t>básicos</a:t>
            </a:r>
            <a:endParaRPr lang="en-US" sz="1100" dirty="0">
              <a:latin typeface="Calibri (Cuerpo)"/>
              <a:ea typeface="Poppins"/>
              <a:cs typeface="Poppins"/>
              <a:sym typeface="Poppins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743744" y="3986409"/>
            <a:ext cx="5284489" cy="135236"/>
            <a:chOff x="0" y="0"/>
            <a:chExt cx="10568978" cy="27047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568940" cy="270510"/>
            </a:xfrm>
            <a:custGeom>
              <a:avLst/>
              <a:gdLst/>
              <a:ahLst/>
              <a:cxnLst/>
              <a:rect l="l" t="t" r="r" b="b"/>
              <a:pathLst>
                <a:path w="10568940" h="270510">
                  <a:moveTo>
                    <a:pt x="0" y="135255"/>
                  </a:moveTo>
                  <a:cubicBezTo>
                    <a:pt x="0" y="60579"/>
                    <a:pt x="60579" y="0"/>
                    <a:pt x="135255" y="0"/>
                  </a:cubicBezTo>
                  <a:lnTo>
                    <a:pt x="10433685" y="0"/>
                  </a:lnTo>
                  <a:cubicBezTo>
                    <a:pt x="10508361" y="0"/>
                    <a:pt x="10568940" y="60579"/>
                    <a:pt x="10568940" y="135255"/>
                  </a:cubicBezTo>
                  <a:cubicBezTo>
                    <a:pt x="10568940" y="209931"/>
                    <a:pt x="10508488" y="270510"/>
                    <a:pt x="10433685" y="270510"/>
                  </a:cubicBezTo>
                  <a:lnTo>
                    <a:pt x="135255" y="270510"/>
                  </a:lnTo>
                  <a:cubicBezTo>
                    <a:pt x="60579" y="270510"/>
                    <a:pt x="0" y="209931"/>
                    <a:pt x="0" y="135255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540944" y="3851129"/>
            <a:ext cx="405708" cy="405708"/>
            <a:chOff x="0" y="0"/>
            <a:chExt cx="811416" cy="811416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1403" cy="811403"/>
            </a:xfrm>
            <a:custGeom>
              <a:avLst/>
              <a:gdLst/>
              <a:ahLst/>
              <a:cxnLst/>
              <a:rect l="l" t="t" r="r" b="b"/>
              <a:pathLst>
                <a:path w="811403" h="811403">
                  <a:moveTo>
                    <a:pt x="0" y="405765"/>
                  </a:moveTo>
                  <a:cubicBezTo>
                    <a:pt x="0" y="181610"/>
                    <a:pt x="181610" y="0"/>
                    <a:pt x="405765" y="0"/>
                  </a:cubicBezTo>
                  <a:cubicBezTo>
                    <a:pt x="629920" y="0"/>
                    <a:pt x="811403" y="181610"/>
                    <a:pt x="811403" y="405765"/>
                  </a:cubicBezTo>
                  <a:cubicBezTo>
                    <a:pt x="811403" y="629920"/>
                    <a:pt x="629793" y="811403"/>
                    <a:pt x="405765" y="811403"/>
                  </a:cubicBezTo>
                  <a:cubicBezTo>
                    <a:pt x="181737" y="811403"/>
                    <a:pt x="0" y="629793"/>
                    <a:pt x="0" y="405765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sp>
        <p:nvSpPr>
          <p:cNvPr id="26" name="Freeform 26" descr="preencoded.png"/>
          <p:cNvSpPr/>
          <p:nvPr/>
        </p:nvSpPr>
        <p:spPr>
          <a:xfrm>
            <a:off x="642341" y="3952526"/>
            <a:ext cx="202806" cy="202806"/>
          </a:xfrm>
          <a:custGeom>
            <a:avLst/>
            <a:gdLst/>
            <a:ahLst/>
            <a:cxnLst/>
            <a:rect l="l" t="t" r="r" b="b"/>
            <a:pathLst>
              <a:path w="304209" h="304209">
                <a:moveTo>
                  <a:pt x="0" y="0"/>
                </a:moveTo>
                <a:lnTo>
                  <a:pt x="304209" y="0"/>
                </a:lnTo>
                <a:lnTo>
                  <a:pt x="304209" y="304209"/>
                </a:lnTo>
                <a:lnTo>
                  <a:pt x="0" y="3042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7812" b="-7812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912699" y="4366718"/>
            <a:ext cx="2430265" cy="312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75"/>
              </a:lnSpc>
            </a:pPr>
            <a:r>
              <a:rPr lang="en-US" sz="2400" dirty="0">
                <a:latin typeface="Calibri (Cuerpo)"/>
                <a:ea typeface="Arimo"/>
                <a:cs typeface="Arimo"/>
                <a:sym typeface="Arimo"/>
              </a:rPr>
              <a:t>Cuentas de </a:t>
            </a:r>
            <a:r>
              <a:rPr lang="en-US" sz="2400" dirty="0" err="1">
                <a:latin typeface="Calibri (Cuerpo)"/>
                <a:ea typeface="Arimo"/>
                <a:cs typeface="Arimo"/>
                <a:sym typeface="Arimo"/>
              </a:rPr>
              <a:t>Usuario</a:t>
            </a:r>
            <a:endParaRPr lang="en-US" sz="2400" dirty="0">
              <a:latin typeface="Calibri (Cuerpo)"/>
              <a:ea typeface="Arimo"/>
              <a:cs typeface="Arimo"/>
              <a:sym typeface="Arimo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12698" y="4732440"/>
            <a:ext cx="5216919" cy="200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66"/>
              </a:lnSpc>
            </a:pPr>
            <a:r>
              <a:rPr lang="en-US" sz="1100" dirty="0">
                <a:latin typeface="Calibri (Cuerpo)"/>
                <a:ea typeface="Poppins"/>
                <a:cs typeface="Poppins"/>
                <a:sym typeface="Poppins"/>
              </a:rPr>
              <a:t>Crear </a:t>
            </a:r>
            <a:r>
              <a:rPr lang="en-US" sz="1100" dirty="0" err="1">
                <a:latin typeface="Calibri (Cuerpo)"/>
                <a:ea typeface="Poppins"/>
                <a:cs typeface="Poppins"/>
                <a:sym typeface="Poppins"/>
              </a:rPr>
              <a:t>usuario</a:t>
            </a:r>
            <a:r>
              <a:rPr lang="en-US" sz="1100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100" dirty="0" err="1">
                <a:latin typeface="Calibri (Cuerpo)"/>
                <a:ea typeface="Poppins"/>
                <a:cs typeface="Poppins"/>
                <a:sym typeface="Poppins"/>
              </a:rPr>
              <a:t>administrador</a:t>
            </a:r>
            <a:r>
              <a:rPr lang="en-US" sz="1100" dirty="0">
                <a:latin typeface="Calibri (Cuerpo)"/>
                <a:ea typeface="Poppins"/>
                <a:cs typeface="Poppins"/>
                <a:sym typeface="Poppins"/>
              </a:rPr>
              <a:t> y </a:t>
            </a:r>
            <a:r>
              <a:rPr lang="en-US" sz="1100" dirty="0" err="1">
                <a:latin typeface="Calibri (Cuerpo)"/>
                <a:ea typeface="Poppins"/>
                <a:cs typeface="Poppins"/>
                <a:sym typeface="Poppins"/>
              </a:rPr>
              <a:t>establecer</a:t>
            </a:r>
            <a:r>
              <a:rPr lang="en-US" sz="1100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100" dirty="0" err="1">
                <a:latin typeface="Calibri (Cuerpo)"/>
                <a:ea typeface="Poppins"/>
                <a:cs typeface="Poppins"/>
                <a:sym typeface="Poppins"/>
              </a:rPr>
              <a:t>contraseña</a:t>
            </a:r>
            <a:endParaRPr lang="en-US" sz="1100" dirty="0">
              <a:latin typeface="Calibri (Cuerpo)"/>
              <a:ea typeface="Poppins"/>
              <a:cs typeface="Poppins"/>
              <a:sym typeface="Poppins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6366370" y="3783609"/>
            <a:ext cx="5284591" cy="135236"/>
            <a:chOff x="0" y="0"/>
            <a:chExt cx="10569181" cy="27047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569194" cy="270510"/>
            </a:xfrm>
            <a:custGeom>
              <a:avLst/>
              <a:gdLst/>
              <a:ahLst/>
              <a:cxnLst/>
              <a:rect l="l" t="t" r="r" b="b"/>
              <a:pathLst>
                <a:path w="10569194" h="270510">
                  <a:moveTo>
                    <a:pt x="0" y="135255"/>
                  </a:moveTo>
                  <a:cubicBezTo>
                    <a:pt x="0" y="60579"/>
                    <a:pt x="60579" y="0"/>
                    <a:pt x="135255" y="0"/>
                  </a:cubicBezTo>
                  <a:lnTo>
                    <a:pt x="10433939" y="0"/>
                  </a:lnTo>
                  <a:cubicBezTo>
                    <a:pt x="10508615" y="0"/>
                    <a:pt x="10569194" y="60579"/>
                    <a:pt x="10569194" y="135255"/>
                  </a:cubicBezTo>
                  <a:cubicBezTo>
                    <a:pt x="10569194" y="209931"/>
                    <a:pt x="10508615" y="270510"/>
                    <a:pt x="10433939" y="270510"/>
                  </a:cubicBezTo>
                  <a:lnTo>
                    <a:pt x="135255" y="270510"/>
                  </a:lnTo>
                  <a:cubicBezTo>
                    <a:pt x="60579" y="270510"/>
                    <a:pt x="0" y="209931"/>
                    <a:pt x="0" y="135255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6163571" y="3648323"/>
            <a:ext cx="405708" cy="405708"/>
            <a:chOff x="0" y="0"/>
            <a:chExt cx="811416" cy="811416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1403" cy="811403"/>
            </a:xfrm>
            <a:custGeom>
              <a:avLst/>
              <a:gdLst/>
              <a:ahLst/>
              <a:cxnLst/>
              <a:rect l="l" t="t" r="r" b="b"/>
              <a:pathLst>
                <a:path w="811403" h="811403">
                  <a:moveTo>
                    <a:pt x="0" y="405765"/>
                  </a:moveTo>
                  <a:cubicBezTo>
                    <a:pt x="0" y="181610"/>
                    <a:pt x="181610" y="0"/>
                    <a:pt x="405765" y="0"/>
                  </a:cubicBezTo>
                  <a:cubicBezTo>
                    <a:pt x="629920" y="0"/>
                    <a:pt x="811403" y="181610"/>
                    <a:pt x="811403" y="405765"/>
                  </a:cubicBezTo>
                  <a:cubicBezTo>
                    <a:pt x="811403" y="629920"/>
                    <a:pt x="629793" y="811403"/>
                    <a:pt x="405765" y="811403"/>
                  </a:cubicBezTo>
                  <a:cubicBezTo>
                    <a:pt x="181737" y="811403"/>
                    <a:pt x="0" y="629793"/>
                    <a:pt x="0" y="405765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sp>
        <p:nvSpPr>
          <p:cNvPr id="33" name="Freeform 33" descr="preencoded.png"/>
          <p:cNvSpPr/>
          <p:nvPr/>
        </p:nvSpPr>
        <p:spPr>
          <a:xfrm>
            <a:off x="6264968" y="3749726"/>
            <a:ext cx="202806" cy="202806"/>
          </a:xfrm>
          <a:custGeom>
            <a:avLst/>
            <a:gdLst/>
            <a:ahLst/>
            <a:cxnLst/>
            <a:rect l="l" t="t" r="r" b="b"/>
            <a:pathLst>
              <a:path w="304209" h="304209">
                <a:moveTo>
                  <a:pt x="0" y="0"/>
                </a:moveTo>
                <a:lnTo>
                  <a:pt x="304209" y="0"/>
                </a:lnTo>
                <a:lnTo>
                  <a:pt x="304209" y="304209"/>
                </a:lnTo>
                <a:lnTo>
                  <a:pt x="0" y="3042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1873" r="-21873"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6535331" y="4163911"/>
            <a:ext cx="2430265" cy="312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75"/>
              </a:lnSpc>
            </a:pPr>
            <a:r>
              <a:rPr lang="en-US" sz="2400">
                <a:latin typeface="Calibri (Cuerpo)"/>
                <a:ea typeface="Arimo"/>
                <a:cs typeface="Arimo"/>
                <a:sym typeface="Arimo"/>
              </a:rPr>
              <a:t>Verificación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35331" y="4529633"/>
            <a:ext cx="5217020" cy="200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66"/>
              </a:lnSpc>
            </a:pPr>
            <a:r>
              <a:rPr lang="en-US" sz="1100">
                <a:latin typeface="Calibri (Cuerpo)"/>
                <a:ea typeface="Poppins"/>
                <a:cs typeface="Poppins"/>
                <a:sym typeface="Poppins"/>
              </a:rPr>
              <a:t>Probar conexión y ejecutar comandos básicos de verificación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80383" y="5405044"/>
            <a:ext cx="10535444" cy="200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66"/>
              </a:lnSpc>
            </a:pPr>
            <a:r>
              <a:rPr lang="en-US" sz="1100" dirty="0" err="1">
                <a:latin typeface="Calibri (Cuerpo)"/>
                <a:ea typeface="Poppins"/>
                <a:cs typeface="Poppins"/>
                <a:sym typeface="Poppins"/>
              </a:rPr>
              <a:t>Siempre</a:t>
            </a:r>
            <a:r>
              <a:rPr lang="en-US" sz="1100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100" dirty="0" err="1">
                <a:latin typeface="Calibri (Cuerpo)"/>
                <a:ea typeface="Poppins"/>
                <a:cs typeface="Poppins"/>
                <a:sym typeface="Poppins"/>
              </a:rPr>
              <a:t>revisa</a:t>
            </a:r>
            <a:r>
              <a:rPr lang="en-US" sz="1100" dirty="0">
                <a:latin typeface="Calibri (Cuerpo)"/>
                <a:ea typeface="Poppins"/>
                <a:cs typeface="Poppins"/>
                <a:sym typeface="Poppins"/>
              </a:rPr>
              <a:t> la </a:t>
            </a:r>
            <a:r>
              <a:rPr lang="en-US" sz="1100" dirty="0" err="1">
                <a:latin typeface="Calibri (Cuerpo)"/>
                <a:ea typeface="Poppins"/>
                <a:cs typeface="Poppins"/>
                <a:sym typeface="Poppins"/>
              </a:rPr>
              <a:t>documentación</a:t>
            </a:r>
            <a:r>
              <a:rPr lang="en-US" sz="1100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100" dirty="0" err="1">
                <a:latin typeface="Calibri (Cuerpo)"/>
                <a:ea typeface="Poppins"/>
                <a:cs typeface="Poppins"/>
                <a:sym typeface="Poppins"/>
              </a:rPr>
              <a:t>oficial</a:t>
            </a:r>
            <a:r>
              <a:rPr lang="en-US" sz="1100" dirty="0">
                <a:latin typeface="Calibri (Cuerpo)"/>
                <a:ea typeface="Poppins"/>
                <a:cs typeface="Poppins"/>
                <a:sym typeface="Poppins"/>
              </a:rPr>
              <a:t> del SGBD </a:t>
            </a:r>
            <a:r>
              <a:rPr lang="en-US" sz="1100" dirty="0" err="1">
                <a:latin typeface="Calibri (Cuerpo)"/>
                <a:ea typeface="Poppins"/>
                <a:cs typeface="Poppins"/>
                <a:sym typeface="Poppins"/>
              </a:rPr>
              <a:t>específico</a:t>
            </a:r>
            <a:r>
              <a:rPr lang="en-US" sz="1100" dirty="0">
                <a:latin typeface="Calibri (Cuerpo)"/>
                <a:ea typeface="Poppins"/>
                <a:cs typeface="Poppins"/>
                <a:sym typeface="Poppins"/>
              </a:rPr>
              <a:t> que se </a:t>
            </a:r>
            <a:r>
              <a:rPr lang="en-US" sz="1100" dirty="0" err="1">
                <a:latin typeface="Calibri (Cuerpo)"/>
                <a:ea typeface="Poppins"/>
                <a:cs typeface="Poppins"/>
                <a:sym typeface="Poppins"/>
              </a:rPr>
              <a:t>esta</a:t>
            </a:r>
            <a:r>
              <a:rPr lang="en-US" sz="1100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100" dirty="0" err="1">
                <a:latin typeface="Calibri (Cuerpo)"/>
                <a:ea typeface="Poppins"/>
                <a:cs typeface="Poppins"/>
                <a:sym typeface="Poppins"/>
              </a:rPr>
              <a:t>instalando</a:t>
            </a:r>
            <a:r>
              <a:rPr lang="en-US" sz="1100" dirty="0">
                <a:latin typeface="Calibri (Cuerpo)"/>
                <a:ea typeface="Poppins"/>
                <a:cs typeface="Poppins"/>
                <a:sym typeface="Poppins"/>
              </a:rPr>
              <a:t>, </a:t>
            </a:r>
            <a:r>
              <a:rPr lang="en-US" sz="1100" dirty="0" err="1">
                <a:latin typeface="Calibri (Cuerpo)"/>
                <a:ea typeface="Poppins"/>
                <a:cs typeface="Poppins"/>
                <a:sym typeface="Poppins"/>
              </a:rPr>
              <a:t>ya</a:t>
            </a:r>
            <a:r>
              <a:rPr lang="en-US" sz="1100" dirty="0">
                <a:latin typeface="Calibri (Cuerpo)"/>
                <a:ea typeface="Poppins"/>
                <a:cs typeface="Poppins"/>
                <a:sym typeface="Poppins"/>
              </a:rPr>
              <a:t> que </a:t>
            </a:r>
            <a:r>
              <a:rPr lang="en-US" sz="1100" dirty="0" err="1">
                <a:latin typeface="Calibri (Cuerpo)"/>
                <a:ea typeface="Poppins"/>
                <a:cs typeface="Poppins"/>
                <a:sym typeface="Poppins"/>
              </a:rPr>
              <a:t>los</a:t>
            </a:r>
            <a:r>
              <a:rPr lang="en-US" sz="1100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100" dirty="0" err="1">
                <a:latin typeface="Calibri (Cuerpo)"/>
                <a:ea typeface="Poppins"/>
                <a:cs typeface="Poppins"/>
                <a:sym typeface="Poppins"/>
              </a:rPr>
              <a:t>detalles</a:t>
            </a:r>
            <a:r>
              <a:rPr lang="en-US" sz="1100" dirty="0">
                <a:latin typeface="Calibri (Cuerpo)"/>
                <a:ea typeface="Poppins"/>
                <a:cs typeface="Poppins"/>
                <a:sym typeface="Poppins"/>
              </a:rPr>
              <a:t> pueden </a:t>
            </a:r>
            <a:r>
              <a:rPr lang="en-US" sz="1100" dirty="0" err="1">
                <a:latin typeface="Calibri (Cuerpo)"/>
                <a:ea typeface="Poppins"/>
                <a:cs typeface="Poppins"/>
                <a:sym typeface="Poppins"/>
              </a:rPr>
              <a:t>variar</a:t>
            </a:r>
            <a:r>
              <a:rPr lang="en-US" sz="1100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100" dirty="0" err="1">
                <a:latin typeface="Calibri (Cuerpo)"/>
                <a:ea typeface="Poppins"/>
                <a:cs typeface="Poppins"/>
                <a:sym typeface="Poppins"/>
              </a:rPr>
              <a:t>significativamente</a:t>
            </a:r>
            <a:r>
              <a:rPr lang="en-US" sz="1100" dirty="0">
                <a:latin typeface="Calibri (Cuerpo)"/>
                <a:ea typeface="Poppins"/>
                <a:cs typeface="Poppins"/>
                <a:sym typeface="Poppins"/>
              </a:rPr>
              <a:t> entre </a:t>
            </a:r>
            <a:r>
              <a:rPr lang="en-US" sz="1100" dirty="0" err="1">
                <a:latin typeface="Calibri (Cuerpo)"/>
                <a:ea typeface="Poppins"/>
                <a:cs typeface="Poppins"/>
                <a:sym typeface="Poppins"/>
              </a:rPr>
              <a:t>diferentes</a:t>
            </a:r>
            <a:r>
              <a:rPr lang="en-US" sz="1100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100" dirty="0" err="1">
                <a:latin typeface="Calibri (Cuerpo)"/>
                <a:ea typeface="Poppins"/>
                <a:cs typeface="Poppins"/>
                <a:sym typeface="Poppins"/>
              </a:rPr>
              <a:t>sistemas</a:t>
            </a:r>
            <a:r>
              <a:rPr lang="en-US" sz="1100" dirty="0">
                <a:latin typeface="Calibri (Cuerpo)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5112944" y="943369"/>
            <a:ext cx="6538119" cy="1205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0"/>
              </a:lnSpc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Variables</a:t>
            </a:r>
            <a:r>
              <a:rPr lang="en-US" sz="3792" dirty="0">
                <a:latin typeface="Calibri (Cuerpo)"/>
                <a:ea typeface="Arimo"/>
                <a:cs typeface="Arimo"/>
                <a:sym typeface="Arimo"/>
              </a:rPr>
              <a:t> </a:t>
            </a:r>
            <a:r>
              <a:rPr lang="en-US" sz="3792" dirty="0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de </a:t>
            </a:r>
            <a:r>
              <a:rPr lang="en-US" sz="3792" dirty="0" err="1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Entorno</a:t>
            </a:r>
            <a:r>
              <a:rPr lang="en-US" sz="3792" dirty="0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 y </a:t>
            </a:r>
            <a:r>
              <a:rPr lang="en-US" sz="3792" dirty="0" err="1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Archivos</a:t>
            </a:r>
            <a:r>
              <a:rPr lang="en-US" sz="3792" dirty="0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 de </a:t>
            </a:r>
            <a:r>
              <a:rPr lang="en-US" sz="3792" dirty="0" err="1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Configuración</a:t>
            </a:r>
            <a:endParaRPr lang="en-US" sz="3792" dirty="0">
              <a:solidFill>
                <a:schemeClr val="accent1">
                  <a:lumMod val="75000"/>
                </a:schemeClr>
              </a:solidFill>
              <a:latin typeface="Calibri (Cuerpo)"/>
              <a:ea typeface="Arimo"/>
              <a:cs typeface="Arimo"/>
              <a:sym typeface="Arim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112944" y="2515496"/>
            <a:ext cx="2760561" cy="34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33"/>
              </a:lnSpc>
            </a:pPr>
            <a:r>
              <a:rPr lang="en-US" sz="2291" dirty="0">
                <a:latin typeface="Calibri (Cuerpo)"/>
                <a:ea typeface="Arimo"/>
                <a:cs typeface="Arimo"/>
                <a:sym typeface="Arimo"/>
              </a:rPr>
              <a:t>Variables de </a:t>
            </a:r>
            <a:r>
              <a:rPr lang="en-US" sz="2291" dirty="0" err="1">
                <a:latin typeface="Calibri (Cuerpo)"/>
                <a:ea typeface="Arimo"/>
                <a:cs typeface="Arimo"/>
                <a:sym typeface="Arimo"/>
              </a:rPr>
              <a:t>Entorno</a:t>
            </a:r>
            <a:endParaRPr lang="en-US" sz="2291" dirty="0">
              <a:latin typeface="Calibri (Cuerpo)"/>
              <a:ea typeface="Arimo"/>
              <a:cs typeface="Arimo"/>
              <a:sym typeface="Arim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112944" y="2989758"/>
            <a:ext cx="2760561" cy="636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66"/>
              </a:lnSpc>
            </a:pP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Son </a:t>
            </a:r>
            <a:r>
              <a:rPr lang="en-US" sz="1041" dirty="0" err="1">
                <a:latin typeface="Calibri (Cuerpo)"/>
                <a:ea typeface="Poppins"/>
                <a:cs typeface="Poppins"/>
                <a:sym typeface="Poppins"/>
              </a:rPr>
              <a:t>parámetros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 del </a:t>
            </a:r>
            <a:r>
              <a:rPr lang="en-US" sz="1041" dirty="0" err="1">
                <a:latin typeface="Calibri (Cuerpo)"/>
                <a:ea typeface="Poppins"/>
                <a:cs typeface="Poppins"/>
                <a:sym typeface="Poppins"/>
              </a:rPr>
              <a:t>sistema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041" dirty="0" err="1">
                <a:latin typeface="Calibri (Cuerpo)"/>
                <a:ea typeface="Poppins"/>
                <a:cs typeface="Poppins"/>
                <a:sym typeface="Poppins"/>
              </a:rPr>
              <a:t>operativo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 que </a:t>
            </a:r>
            <a:r>
              <a:rPr lang="en-US" sz="1041" dirty="0" err="1">
                <a:latin typeface="Calibri (Cuerpo)"/>
                <a:ea typeface="Poppins"/>
                <a:cs typeface="Poppins"/>
                <a:sym typeface="Poppins"/>
              </a:rPr>
              <a:t>configuran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 el </a:t>
            </a:r>
            <a:r>
              <a:rPr lang="en-US" sz="1041" dirty="0" err="1">
                <a:latin typeface="Calibri (Cuerpo)"/>
                <a:ea typeface="Poppins"/>
                <a:cs typeface="Poppins"/>
                <a:sym typeface="Poppins"/>
              </a:rPr>
              <a:t>comportamiento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 del SGBD. Las </a:t>
            </a:r>
            <a:r>
              <a:rPr lang="en-US" sz="1041" dirty="0" err="1">
                <a:latin typeface="Calibri (Cuerpo)"/>
                <a:ea typeface="Poppins"/>
                <a:cs typeface="Poppins"/>
                <a:sym typeface="Poppins"/>
              </a:rPr>
              <a:t>principales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041" dirty="0" err="1">
                <a:latin typeface="Calibri (Cuerpo)"/>
                <a:ea typeface="Poppins"/>
                <a:cs typeface="Poppins"/>
                <a:sym typeface="Poppins"/>
              </a:rPr>
              <a:t>incluyen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12944" y="3760292"/>
            <a:ext cx="2760561" cy="85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57105" lvl="1" indent="-78552">
              <a:lnSpc>
                <a:spcPts val="1666"/>
              </a:lnSpc>
              <a:buFont typeface="Arial"/>
              <a:buChar char="•"/>
            </a:pPr>
            <a:r>
              <a:rPr lang="en-US" sz="1041" b="1" dirty="0">
                <a:latin typeface="Calibri (Cuerpo)"/>
                <a:ea typeface="Poppins Bold"/>
                <a:cs typeface="Poppins Bold"/>
                <a:sym typeface="Poppins Bold"/>
              </a:rPr>
              <a:t>PATH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: Ruta a </a:t>
            </a:r>
            <a:r>
              <a:rPr lang="en-US" sz="1041" dirty="0" err="1">
                <a:latin typeface="Calibri (Cuerpo)"/>
                <a:ea typeface="Poppins"/>
                <a:cs typeface="Poppins"/>
                <a:sym typeface="Poppins"/>
              </a:rPr>
              <a:t>ejecutables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 del SGBD</a:t>
            </a:r>
          </a:p>
          <a:p>
            <a:pPr marL="157105" lvl="1" indent="-78552">
              <a:lnSpc>
                <a:spcPts val="1666"/>
              </a:lnSpc>
              <a:buFont typeface="Arial"/>
              <a:buChar char="•"/>
            </a:pPr>
            <a:r>
              <a:rPr lang="en-US" sz="1041" b="1" dirty="0">
                <a:latin typeface="Calibri (Cuerpo)"/>
                <a:ea typeface="Poppins Bold"/>
                <a:cs typeface="Poppins Bold"/>
                <a:sym typeface="Poppins Bold"/>
              </a:rPr>
              <a:t>PGDATA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 (PostgreSQL): Directorio de </a:t>
            </a:r>
            <a:r>
              <a:rPr lang="en-US" sz="1041" dirty="0" err="1">
                <a:latin typeface="Calibri (Cuerpo)"/>
                <a:ea typeface="Poppins"/>
                <a:cs typeface="Poppins"/>
                <a:sym typeface="Poppins"/>
              </a:rPr>
              <a:t>datos</a:t>
            </a:r>
            <a:endParaRPr lang="en-US" sz="1041" dirty="0">
              <a:latin typeface="Calibri (Cuerpo)"/>
              <a:ea typeface="Poppins"/>
              <a:cs typeface="Poppins"/>
              <a:sym typeface="Poppins"/>
            </a:endParaRPr>
          </a:p>
          <a:p>
            <a:pPr marL="157105" lvl="1" indent="-78552">
              <a:lnSpc>
                <a:spcPts val="1666"/>
              </a:lnSpc>
              <a:buFont typeface="Arial"/>
              <a:buChar char="•"/>
            </a:pPr>
            <a:r>
              <a:rPr lang="en-US" sz="1041" b="1" dirty="0">
                <a:latin typeface="Calibri (Cuerpo)"/>
                <a:ea typeface="Poppins Bold"/>
                <a:cs typeface="Poppins Bold"/>
                <a:sym typeface="Poppins Bold"/>
              </a:rPr>
              <a:t>ORACLE_HOME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 (Oracle): </a:t>
            </a:r>
            <a:r>
              <a:rPr lang="en-US" sz="1041" dirty="0" err="1">
                <a:latin typeface="Calibri (Cuerpo)"/>
                <a:ea typeface="Poppins"/>
                <a:cs typeface="Poppins"/>
                <a:sym typeface="Poppins"/>
              </a:rPr>
              <a:t>Instalación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 Oracle</a:t>
            </a:r>
          </a:p>
          <a:p>
            <a:pPr marL="157105" lvl="1" indent="-78552">
              <a:lnSpc>
                <a:spcPts val="1666"/>
              </a:lnSpc>
              <a:buFont typeface="Arial"/>
              <a:buChar char="•"/>
            </a:pPr>
            <a:r>
              <a:rPr lang="en-US" sz="1041" b="1" dirty="0">
                <a:latin typeface="Calibri (Cuerpo)"/>
                <a:ea typeface="Poppins Bold"/>
                <a:cs typeface="Poppins Bold"/>
                <a:sym typeface="Poppins Bold"/>
              </a:rPr>
              <a:t>MYSQL_HOME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: </a:t>
            </a:r>
            <a:r>
              <a:rPr lang="en-US" sz="1041" dirty="0" err="1">
                <a:latin typeface="Calibri (Cuerpo)"/>
                <a:ea typeface="Poppins"/>
                <a:cs typeface="Poppins"/>
                <a:sym typeface="Poppins"/>
              </a:rPr>
              <a:t>Instalación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 MySQL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09858" y="2515496"/>
            <a:ext cx="3444773" cy="34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33"/>
              </a:lnSpc>
            </a:pPr>
            <a:r>
              <a:rPr lang="en-US" sz="2291">
                <a:latin typeface="Calibri (Cuerpo)"/>
                <a:ea typeface="Arimo"/>
                <a:cs typeface="Arimo"/>
                <a:sym typeface="Arimo"/>
              </a:rPr>
              <a:t>Archivos de Configuración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09858" y="2989758"/>
            <a:ext cx="3447453" cy="19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66"/>
              </a:lnSpc>
            </a:pPr>
            <a:r>
              <a:rPr lang="en-US" sz="1041">
                <a:latin typeface="Calibri (Cuerpo)"/>
                <a:ea typeface="Poppins"/>
                <a:cs typeface="Poppins"/>
                <a:sym typeface="Poppins"/>
              </a:rPr>
              <a:t>Ficheros que controlan el comportamiento del SGBD: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09858" y="3543992"/>
            <a:ext cx="3447453" cy="854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57105" lvl="1" indent="-78552">
              <a:lnSpc>
                <a:spcPts val="1666"/>
              </a:lnSpc>
              <a:buFont typeface="Arial"/>
              <a:buChar char="•"/>
            </a:pPr>
            <a:r>
              <a:rPr lang="en-US" sz="1041" b="1" dirty="0" err="1">
                <a:latin typeface="Calibri (Cuerpo)"/>
                <a:ea typeface="Poppins Bold"/>
                <a:cs typeface="Poppins Bold"/>
                <a:sym typeface="Poppins Bold"/>
              </a:rPr>
              <a:t>my.cnf</a:t>
            </a:r>
            <a:r>
              <a:rPr lang="en-US" sz="1041" b="1" dirty="0">
                <a:latin typeface="Calibri (Cuerpo)"/>
                <a:ea typeface="Poppins Bold"/>
                <a:cs typeface="Poppins Bold"/>
                <a:sym typeface="Poppins Bold"/>
              </a:rPr>
              <a:t> / my.ini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: </a:t>
            </a:r>
            <a:r>
              <a:rPr lang="en-US" sz="1041" dirty="0" err="1">
                <a:latin typeface="Calibri (Cuerpo)"/>
                <a:ea typeface="Poppins"/>
                <a:cs typeface="Poppins"/>
                <a:sym typeface="Poppins"/>
              </a:rPr>
              <a:t>Configuración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 MySQL</a:t>
            </a:r>
          </a:p>
          <a:p>
            <a:pPr marL="157105" lvl="1" indent="-78552">
              <a:lnSpc>
                <a:spcPts val="1666"/>
              </a:lnSpc>
              <a:buFont typeface="Arial"/>
              <a:buChar char="•"/>
            </a:pPr>
            <a:r>
              <a:rPr lang="en-US" sz="1041" b="1" dirty="0" err="1">
                <a:latin typeface="Calibri (Cuerpo)"/>
                <a:ea typeface="Poppins Bold"/>
                <a:cs typeface="Poppins Bold"/>
                <a:sym typeface="Poppins Bold"/>
              </a:rPr>
              <a:t>postgresql.conf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: </a:t>
            </a:r>
            <a:r>
              <a:rPr lang="en-US" sz="1041" dirty="0" err="1">
                <a:latin typeface="Calibri (Cuerpo)"/>
                <a:ea typeface="Poppins"/>
                <a:cs typeface="Poppins"/>
                <a:sym typeface="Poppins"/>
              </a:rPr>
              <a:t>Configuración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 PostgreSQL</a:t>
            </a:r>
          </a:p>
          <a:p>
            <a:pPr marL="157105" lvl="1" indent="-78552">
              <a:lnSpc>
                <a:spcPts val="1666"/>
              </a:lnSpc>
              <a:buFont typeface="Arial"/>
              <a:buChar char="•"/>
            </a:pPr>
            <a:r>
              <a:rPr lang="en-US" sz="1041" b="1" dirty="0" err="1">
                <a:latin typeface="Calibri (Cuerpo)"/>
                <a:ea typeface="Poppins Bold"/>
                <a:cs typeface="Poppins Bold"/>
                <a:sym typeface="Poppins Bold"/>
              </a:rPr>
              <a:t>listener.ora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: Oracle Listener</a:t>
            </a:r>
          </a:p>
          <a:p>
            <a:pPr marL="157105" lvl="1" indent="-78552">
              <a:lnSpc>
                <a:spcPts val="1666"/>
              </a:lnSpc>
              <a:buFont typeface="Arial"/>
              <a:buChar char="•"/>
            </a:pPr>
            <a:r>
              <a:rPr lang="en-US" sz="1041" b="1" dirty="0" err="1">
                <a:latin typeface="Calibri (Cuerpo)"/>
                <a:ea typeface="Poppins Bold"/>
                <a:cs typeface="Poppins Bold"/>
                <a:sym typeface="Poppins Bold"/>
              </a:rPr>
              <a:t>tnsnames.ora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: Oracle Net Services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12944" y="5399482"/>
            <a:ext cx="6538119" cy="418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66"/>
              </a:lnSpc>
            </a:pP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Estos </a:t>
            </a:r>
            <a:r>
              <a:rPr lang="en-US" sz="1041" dirty="0" err="1">
                <a:latin typeface="Calibri (Cuerpo)"/>
                <a:ea typeface="Poppins"/>
                <a:cs typeface="Poppins"/>
                <a:sym typeface="Poppins"/>
              </a:rPr>
              <a:t>elementos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 son </a:t>
            </a:r>
            <a:r>
              <a:rPr lang="en-US" sz="1041" dirty="0" err="1">
                <a:latin typeface="Calibri (Cuerpo)"/>
                <a:ea typeface="Poppins"/>
                <a:cs typeface="Poppins"/>
                <a:sym typeface="Poppins"/>
              </a:rPr>
              <a:t>fundamentales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 para que el SGBD </a:t>
            </a:r>
            <a:r>
              <a:rPr lang="en-US" sz="1041" dirty="0" err="1">
                <a:latin typeface="Calibri (Cuerpo)"/>
                <a:ea typeface="Poppins"/>
                <a:cs typeface="Poppins"/>
                <a:sym typeface="Poppins"/>
              </a:rPr>
              <a:t>localice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 sus </a:t>
            </a:r>
            <a:r>
              <a:rPr lang="en-US" sz="1041" dirty="0" err="1">
                <a:latin typeface="Calibri (Cuerpo)"/>
                <a:ea typeface="Poppins"/>
                <a:cs typeface="Poppins"/>
                <a:sym typeface="Poppins"/>
              </a:rPr>
              <a:t>componentes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 y </a:t>
            </a:r>
            <a:r>
              <a:rPr lang="en-US" sz="1041" dirty="0" err="1">
                <a:latin typeface="Calibri (Cuerpo)"/>
                <a:ea typeface="Poppins"/>
                <a:cs typeface="Poppins"/>
                <a:sym typeface="Poppins"/>
              </a:rPr>
              <a:t>funcione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041" dirty="0" err="1">
                <a:latin typeface="Calibri (Cuerpo)"/>
                <a:ea typeface="Poppins"/>
                <a:cs typeface="Poppins"/>
                <a:sym typeface="Poppins"/>
              </a:rPr>
              <a:t>correctamente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. Una </a:t>
            </a:r>
            <a:r>
              <a:rPr lang="en-US" sz="1041" dirty="0" err="1">
                <a:latin typeface="Calibri (Cuerpo)"/>
                <a:ea typeface="Poppins"/>
                <a:cs typeface="Poppins"/>
                <a:sym typeface="Poppins"/>
              </a:rPr>
              <a:t>configuración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041" dirty="0" err="1">
                <a:latin typeface="Calibri (Cuerpo)"/>
                <a:ea typeface="Poppins"/>
                <a:cs typeface="Poppins"/>
                <a:sym typeface="Poppins"/>
              </a:rPr>
              <a:t>incorrecta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041" dirty="0" err="1">
                <a:latin typeface="Calibri (Cuerpo)"/>
                <a:ea typeface="Poppins"/>
                <a:cs typeface="Poppins"/>
                <a:sym typeface="Poppins"/>
              </a:rPr>
              <a:t>puede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041" dirty="0" err="1">
                <a:latin typeface="Calibri (Cuerpo)"/>
                <a:ea typeface="Poppins"/>
                <a:cs typeface="Poppins"/>
                <a:sym typeface="Poppins"/>
              </a:rPr>
              <a:t>impedir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 el </a:t>
            </a:r>
            <a:r>
              <a:rPr lang="en-US" sz="1041" dirty="0" err="1">
                <a:latin typeface="Calibri (Cuerpo)"/>
                <a:ea typeface="Poppins"/>
                <a:cs typeface="Poppins"/>
                <a:sym typeface="Poppins"/>
              </a:rPr>
              <a:t>arranque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 del </a:t>
            </a:r>
            <a:r>
              <a:rPr lang="en-US" sz="1041" dirty="0" err="1">
                <a:latin typeface="Calibri (Cuerpo)"/>
                <a:ea typeface="Poppins"/>
                <a:cs typeface="Poppins"/>
                <a:sym typeface="Poppins"/>
              </a:rPr>
              <a:t>servicio</a:t>
            </a:r>
            <a:r>
              <a:rPr lang="en-US" sz="1041" dirty="0">
                <a:latin typeface="Calibri (Cuerpo)"/>
                <a:ea typeface="Poppins"/>
                <a:cs typeface="Poppins"/>
                <a:sym typeface="Poppins"/>
              </a:rPr>
              <a:t>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7C58061-2565-D033-2A79-DC44EFCC1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4706"/>
            <a:ext cx="4876800" cy="5387009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679844" y="343294"/>
            <a:ext cx="9327756" cy="479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75"/>
              </a:lnSpc>
            </a:pPr>
            <a:r>
              <a:rPr lang="en-US" sz="3083" b="1" dirty="0" err="1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Comandos</a:t>
            </a:r>
            <a:r>
              <a:rPr lang="en-US" sz="3083" b="1" dirty="0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 Generales y </a:t>
            </a:r>
            <a:r>
              <a:rPr lang="en-US" sz="3083" b="1" dirty="0" err="1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Ejemplo</a:t>
            </a:r>
            <a:r>
              <a:rPr lang="en-US" sz="3083" b="1" dirty="0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 </a:t>
            </a:r>
            <a:r>
              <a:rPr lang="en-US" sz="3083" b="1" dirty="0" err="1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Práctico</a:t>
            </a:r>
            <a:endParaRPr lang="en-US" sz="3083" b="1" dirty="0">
              <a:solidFill>
                <a:schemeClr val="accent1">
                  <a:lumMod val="75000"/>
                </a:schemeClr>
              </a:solidFill>
              <a:latin typeface="Calibri (Cuerpo)"/>
              <a:ea typeface="Arimo"/>
              <a:cs typeface="Arimo"/>
              <a:sym typeface="Arim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79845" y="1028103"/>
            <a:ext cx="5371502" cy="316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49"/>
              </a:lnSpc>
            </a:pPr>
            <a:r>
              <a:rPr lang="en-US" sz="1400" dirty="0">
                <a:latin typeface="Calibri (Cuerpo)"/>
                <a:ea typeface="Poppins"/>
                <a:cs typeface="Poppins"/>
                <a:sym typeface="Poppins"/>
              </a:rPr>
              <a:t>Los </a:t>
            </a:r>
            <a:r>
              <a:rPr lang="en-US" sz="1400" dirty="0" err="1">
                <a:latin typeface="Calibri (Cuerpo)"/>
                <a:ea typeface="Poppins"/>
                <a:cs typeface="Poppins"/>
                <a:sym typeface="Poppins"/>
              </a:rPr>
              <a:t>comandos</a:t>
            </a:r>
            <a:r>
              <a:rPr lang="en-US" sz="1400" dirty="0">
                <a:latin typeface="Calibri (Cuerpo)"/>
                <a:ea typeface="Poppins"/>
                <a:cs typeface="Poppins"/>
                <a:sym typeface="Poppins"/>
              </a:rPr>
              <a:t> SQL son la forma principal de </a:t>
            </a:r>
            <a:r>
              <a:rPr lang="en-US" sz="1400" dirty="0" err="1">
                <a:latin typeface="Calibri (Cuerpo)"/>
                <a:ea typeface="Poppins"/>
                <a:cs typeface="Poppins"/>
                <a:sym typeface="Poppins"/>
              </a:rPr>
              <a:t>interactuar</a:t>
            </a:r>
            <a:r>
              <a:rPr lang="en-US" sz="1400" dirty="0">
                <a:latin typeface="Calibri (Cuerpo)"/>
                <a:ea typeface="Poppins"/>
                <a:cs typeface="Poppins"/>
                <a:sym typeface="Poppins"/>
              </a:rPr>
              <a:t> con el SGBD. se </a:t>
            </a:r>
            <a:r>
              <a:rPr lang="en-US" sz="1400" dirty="0" err="1">
                <a:latin typeface="Calibri (Cuerpo)"/>
                <a:ea typeface="Poppins"/>
                <a:cs typeface="Poppins"/>
                <a:sym typeface="Poppins"/>
              </a:rPr>
              <a:t>presentan</a:t>
            </a:r>
            <a:r>
              <a:rPr lang="en-US" sz="1400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400" dirty="0" err="1">
                <a:latin typeface="Calibri (Cuerpo)"/>
                <a:ea typeface="Poppins"/>
                <a:cs typeface="Poppins"/>
                <a:sym typeface="Poppins"/>
              </a:rPr>
              <a:t>los</a:t>
            </a:r>
            <a:r>
              <a:rPr lang="en-US" sz="1400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400" dirty="0" err="1">
                <a:latin typeface="Calibri (Cuerpo)"/>
                <a:ea typeface="Poppins"/>
                <a:cs typeface="Poppins"/>
                <a:sym typeface="Poppins"/>
              </a:rPr>
              <a:t>comandos</a:t>
            </a:r>
            <a:r>
              <a:rPr lang="en-US" sz="1400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400" dirty="0" err="1">
                <a:latin typeface="Calibri (Cuerpo)"/>
                <a:ea typeface="Poppins"/>
                <a:cs typeface="Poppins"/>
                <a:sym typeface="Poppins"/>
              </a:rPr>
              <a:t>básicos</a:t>
            </a:r>
            <a:r>
              <a:rPr lang="en-US" sz="1400" dirty="0">
                <a:latin typeface="Calibri (Cuerpo)"/>
                <a:ea typeface="Poppins"/>
                <a:cs typeface="Poppins"/>
                <a:sym typeface="Poppins"/>
              </a:rPr>
              <a:t> para </a:t>
            </a:r>
            <a:r>
              <a:rPr lang="en-US" sz="1400" dirty="0" err="1">
                <a:latin typeface="Calibri (Cuerpo)"/>
                <a:ea typeface="Poppins"/>
                <a:cs typeface="Poppins"/>
                <a:sym typeface="Poppins"/>
              </a:rPr>
              <a:t>gestión</a:t>
            </a:r>
            <a:r>
              <a:rPr lang="en-US" sz="1400" dirty="0">
                <a:latin typeface="Calibri (Cuerpo)"/>
                <a:ea typeface="Poppins"/>
                <a:cs typeface="Poppins"/>
                <a:sym typeface="Poppins"/>
              </a:rPr>
              <a:t> de bases de </a:t>
            </a:r>
            <a:r>
              <a:rPr lang="en-US" sz="1400" dirty="0" err="1">
                <a:latin typeface="Calibri (Cuerpo)"/>
                <a:ea typeface="Poppins"/>
                <a:cs typeface="Poppins"/>
                <a:sym typeface="Poppins"/>
              </a:rPr>
              <a:t>datos</a:t>
            </a:r>
            <a:r>
              <a:rPr lang="en-US" sz="1400" dirty="0">
                <a:latin typeface="Calibri (Cuerpo)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00277" y="1694385"/>
            <a:ext cx="4215313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b="1" dirty="0" err="1">
                <a:sym typeface="Arimo"/>
              </a:rPr>
              <a:t>Ejemplo</a:t>
            </a:r>
            <a:r>
              <a:rPr lang="en-US" sz="2000" b="1" dirty="0">
                <a:sym typeface="Arimo"/>
              </a:rPr>
              <a:t> de </a:t>
            </a:r>
            <a:r>
              <a:rPr lang="es-MX" sz="2000" b="1" dirty="0"/>
              <a:t>Creación de base de datos</a:t>
            </a:r>
            <a:endParaRPr lang="es-MX" sz="2000" dirty="0"/>
          </a:p>
        </p:txBody>
      </p:sp>
      <p:sp>
        <p:nvSpPr>
          <p:cNvPr id="45" name="TextBox 45"/>
          <p:cNvSpPr txBox="1"/>
          <p:nvPr/>
        </p:nvSpPr>
        <p:spPr>
          <a:xfrm>
            <a:off x="679844" y="2166985"/>
            <a:ext cx="219767" cy="143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49"/>
              </a:lnSpc>
            </a:pPr>
            <a:r>
              <a:rPr lang="en-US" sz="833">
                <a:latin typeface="Calibri (Cuerpo)"/>
                <a:ea typeface="Arimo"/>
                <a:cs typeface="Arimo"/>
                <a:sym typeface="Arimo"/>
              </a:rPr>
              <a:t>01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679844" y="2372662"/>
            <a:ext cx="5371503" cy="12700"/>
            <a:chOff x="0" y="0"/>
            <a:chExt cx="10743006" cy="254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743057" cy="25400"/>
            </a:xfrm>
            <a:custGeom>
              <a:avLst/>
              <a:gdLst/>
              <a:ahLst/>
              <a:cxnLst/>
              <a:rect l="l" t="t" r="r" b="b"/>
              <a:pathLst>
                <a:path w="10743057" h="25400">
                  <a:moveTo>
                    <a:pt x="0" y="0"/>
                  </a:moveTo>
                  <a:lnTo>
                    <a:pt x="10743057" y="0"/>
                  </a:lnTo>
                  <a:lnTo>
                    <a:pt x="10743057" y="25400"/>
                  </a:lnTo>
                  <a:lnTo>
                    <a:pt x="0" y="2540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sp>
        <p:nvSpPr>
          <p:cNvPr id="48" name="TextBox 48"/>
          <p:cNvSpPr txBox="1"/>
          <p:nvPr/>
        </p:nvSpPr>
        <p:spPr>
          <a:xfrm>
            <a:off x="679844" y="2433882"/>
            <a:ext cx="1974551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7"/>
              </a:lnSpc>
            </a:pP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Conectar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 al SGBD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79844" y="2727766"/>
            <a:ext cx="5371503" cy="156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49"/>
              </a:lnSpc>
            </a:pPr>
            <a:r>
              <a:rPr lang="en-US" sz="1200" dirty="0" err="1">
                <a:latin typeface="Calibri (Cuerpo)"/>
                <a:ea typeface="Poppins"/>
                <a:cs typeface="Poppins"/>
                <a:sym typeface="Poppins"/>
              </a:rPr>
              <a:t>Establecer</a:t>
            </a:r>
            <a:r>
              <a:rPr lang="en-US" sz="1200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latin typeface="Calibri (Cuerpo)"/>
                <a:ea typeface="Poppins"/>
                <a:cs typeface="Poppins"/>
                <a:sym typeface="Poppins"/>
              </a:rPr>
              <a:t>conexión</a:t>
            </a:r>
            <a:r>
              <a:rPr lang="en-US" sz="1200" dirty="0">
                <a:latin typeface="Calibri (Cuerpo)"/>
                <a:ea typeface="Poppins"/>
                <a:cs typeface="Poppins"/>
                <a:sym typeface="Poppins"/>
              </a:rPr>
              <a:t> con el </a:t>
            </a:r>
            <a:r>
              <a:rPr lang="en-US" sz="1200" dirty="0" err="1">
                <a:latin typeface="Calibri (Cuerpo)"/>
                <a:ea typeface="Poppins"/>
                <a:cs typeface="Poppins"/>
                <a:sym typeface="Poppins"/>
              </a:rPr>
              <a:t>servidor</a:t>
            </a:r>
            <a:r>
              <a:rPr lang="en-US" sz="1200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latin typeface="Calibri (Cuerpo)"/>
                <a:ea typeface="Poppins"/>
                <a:cs typeface="Poppins"/>
                <a:sym typeface="Poppins"/>
              </a:rPr>
              <a:t>usando</a:t>
            </a:r>
            <a:r>
              <a:rPr lang="en-US" sz="1200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latin typeface="Calibri (Cuerpo)"/>
                <a:ea typeface="Poppins"/>
                <a:cs typeface="Poppins"/>
                <a:sym typeface="Poppins"/>
              </a:rPr>
              <a:t>credenciales</a:t>
            </a:r>
            <a:endParaRPr lang="en-US" sz="1200" dirty="0">
              <a:latin typeface="Calibri (Cuerpo)"/>
              <a:ea typeface="Poppins"/>
              <a:cs typeface="Poppins"/>
              <a:sym typeface="Poppins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679844" y="2997529"/>
            <a:ext cx="219767" cy="143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49"/>
              </a:lnSpc>
            </a:pPr>
            <a:r>
              <a:rPr lang="en-US" sz="833">
                <a:latin typeface="Calibri (Cuerpo)"/>
                <a:ea typeface="Arimo"/>
                <a:cs typeface="Arimo"/>
                <a:sym typeface="Arimo"/>
              </a:rPr>
              <a:t>02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679844" y="3203206"/>
            <a:ext cx="5371503" cy="12700"/>
            <a:chOff x="0" y="0"/>
            <a:chExt cx="10743006" cy="254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52" name="Freeform 52"/>
            <p:cNvSpPr/>
            <p:nvPr/>
          </p:nvSpPr>
          <p:spPr>
            <a:xfrm>
              <a:off x="0" y="0"/>
              <a:ext cx="10743057" cy="25400"/>
            </a:xfrm>
            <a:custGeom>
              <a:avLst/>
              <a:gdLst/>
              <a:ahLst/>
              <a:cxnLst/>
              <a:rect l="l" t="t" r="r" b="b"/>
              <a:pathLst>
                <a:path w="10743057" h="25400">
                  <a:moveTo>
                    <a:pt x="0" y="0"/>
                  </a:moveTo>
                  <a:lnTo>
                    <a:pt x="10743057" y="0"/>
                  </a:lnTo>
                  <a:lnTo>
                    <a:pt x="10743057" y="25400"/>
                  </a:lnTo>
                  <a:lnTo>
                    <a:pt x="0" y="2540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sp>
        <p:nvSpPr>
          <p:cNvPr id="53" name="TextBox 53"/>
          <p:cNvSpPr txBox="1"/>
          <p:nvPr/>
        </p:nvSpPr>
        <p:spPr>
          <a:xfrm>
            <a:off x="679843" y="3294792"/>
            <a:ext cx="2445741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7"/>
              </a:lnSpc>
            </a:pP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Ejecutar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comando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 CREATE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79844" y="3558310"/>
            <a:ext cx="5371503" cy="156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49"/>
              </a:lnSpc>
            </a:pPr>
            <a:r>
              <a:rPr lang="en-US" sz="1200" dirty="0" err="1">
                <a:latin typeface="Calibri (Cuerpo)"/>
                <a:cs typeface="Poppins"/>
                <a:sym typeface="Poppins"/>
              </a:rPr>
              <a:t>Enviar</a:t>
            </a:r>
            <a:r>
              <a:rPr lang="en-US" sz="1200" dirty="0">
                <a:latin typeface="Calibri (Cuerpo)"/>
                <a:cs typeface="Poppins"/>
                <a:sym typeface="Poppins"/>
              </a:rPr>
              <a:t> el </a:t>
            </a:r>
            <a:r>
              <a:rPr lang="en-US" sz="1200" dirty="0" err="1">
                <a:latin typeface="Calibri (Cuerpo)"/>
                <a:cs typeface="Poppins"/>
                <a:sym typeface="Poppins"/>
              </a:rPr>
              <a:t>comando</a:t>
            </a:r>
            <a:r>
              <a:rPr lang="en-US" sz="1200" dirty="0">
                <a:latin typeface="Calibri (Cuerpo)"/>
                <a:cs typeface="Poppins"/>
                <a:sym typeface="Poppins"/>
              </a:rPr>
              <a:t> SQL para </a:t>
            </a:r>
            <a:r>
              <a:rPr lang="en-US" sz="1200" dirty="0" err="1">
                <a:latin typeface="Calibri (Cuerpo)"/>
                <a:cs typeface="Poppins"/>
                <a:sym typeface="Poppins"/>
              </a:rPr>
              <a:t>crear</a:t>
            </a:r>
            <a:r>
              <a:rPr lang="en-US" sz="1200" dirty="0">
                <a:latin typeface="Calibri (Cuerpo)"/>
                <a:cs typeface="Poppins"/>
                <a:sym typeface="Poppins"/>
              </a:rPr>
              <a:t> la </a:t>
            </a:r>
            <a:r>
              <a:rPr lang="en-US" sz="1200" dirty="0" err="1">
                <a:latin typeface="Calibri (Cuerpo)"/>
                <a:cs typeface="Poppins"/>
                <a:sym typeface="Poppins"/>
              </a:rPr>
              <a:t>estructura</a:t>
            </a:r>
            <a:endParaRPr lang="en-US" sz="1200" dirty="0">
              <a:latin typeface="Calibri (Cuerpo)"/>
              <a:cs typeface="Poppins"/>
              <a:sym typeface="Poppins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679844" y="3943426"/>
            <a:ext cx="219767" cy="143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49"/>
              </a:lnSpc>
            </a:pPr>
            <a:r>
              <a:rPr lang="en-US" sz="833">
                <a:latin typeface="Calibri (Cuerpo)"/>
                <a:ea typeface="Arimo"/>
                <a:cs typeface="Arimo"/>
                <a:sym typeface="Arimo"/>
              </a:rPr>
              <a:t>03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679844" y="4149102"/>
            <a:ext cx="5371503" cy="12700"/>
            <a:chOff x="0" y="0"/>
            <a:chExt cx="10743006" cy="254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57" name="Freeform 57"/>
            <p:cNvSpPr/>
            <p:nvPr/>
          </p:nvSpPr>
          <p:spPr>
            <a:xfrm>
              <a:off x="0" y="0"/>
              <a:ext cx="10743057" cy="25400"/>
            </a:xfrm>
            <a:custGeom>
              <a:avLst/>
              <a:gdLst/>
              <a:ahLst/>
              <a:cxnLst/>
              <a:rect l="l" t="t" r="r" b="b"/>
              <a:pathLst>
                <a:path w="10743057" h="25400">
                  <a:moveTo>
                    <a:pt x="0" y="0"/>
                  </a:moveTo>
                  <a:lnTo>
                    <a:pt x="10743057" y="0"/>
                  </a:lnTo>
                  <a:lnTo>
                    <a:pt x="10743057" y="25400"/>
                  </a:lnTo>
                  <a:lnTo>
                    <a:pt x="0" y="2540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sp>
        <p:nvSpPr>
          <p:cNvPr id="58" name="TextBox 58"/>
          <p:cNvSpPr txBox="1"/>
          <p:nvPr/>
        </p:nvSpPr>
        <p:spPr>
          <a:xfrm>
            <a:off x="679844" y="4210323"/>
            <a:ext cx="1974551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7"/>
              </a:lnSpc>
            </a:pP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Verificar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creación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alibri (Cuerpo)"/>
              <a:ea typeface="Arimo"/>
              <a:cs typeface="Arimo"/>
              <a:sym typeface="Arimo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679844" y="4504207"/>
            <a:ext cx="5371503" cy="156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49"/>
              </a:lnSpc>
            </a:pPr>
            <a:r>
              <a:rPr lang="en-US" sz="1200" dirty="0" err="1">
                <a:latin typeface="Calibri (Cuerpo)"/>
                <a:cs typeface="Poppins"/>
                <a:sym typeface="Poppins"/>
              </a:rPr>
              <a:t>Confirmar</a:t>
            </a:r>
            <a:r>
              <a:rPr lang="en-US" sz="1200" dirty="0">
                <a:latin typeface="Calibri (Cuerpo)"/>
                <a:cs typeface="Poppins"/>
                <a:sym typeface="Poppins"/>
              </a:rPr>
              <a:t> que la base </a:t>
            </a:r>
            <a:r>
              <a:rPr lang="en-US" sz="1200" dirty="0" err="1">
                <a:latin typeface="Calibri (Cuerpo)"/>
                <a:cs typeface="Poppins"/>
                <a:sym typeface="Poppins"/>
              </a:rPr>
              <a:t>aparece</a:t>
            </a:r>
            <a:r>
              <a:rPr lang="en-US" sz="1200" dirty="0">
                <a:latin typeface="Calibri (Cuerpo)"/>
                <a:cs typeface="Poppins"/>
                <a:sym typeface="Poppins"/>
              </a:rPr>
              <a:t> en la </a:t>
            </a:r>
            <a:r>
              <a:rPr lang="en-US" sz="1200" dirty="0" err="1">
                <a:latin typeface="Calibri (Cuerpo)"/>
                <a:cs typeface="Poppins"/>
                <a:sym typeface="Poppins"/>
              </a:rPr>
              <a:t>lista</a:t>
            </a:r>
            <a:endParaRPr lang="en-US" sz="1200" dirty="0">
              <a:latin typeface="Calibri (Cuerpo)"/>
              <a:cs typeface="Poppins"/>
              <a:sym typeface="Poppins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689368" y="4879178"/>
            <a:ext cx="219767" cy="143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49"/>
              </a:lnSpc>
            </a:pPr>
            <a:r>
              <a:rPr lang="en-US" sz="833" dirty="0">
                <a:latin typeface="Calibri (Cuerpo)"/>
                <a:ea typeface="Arimo"/>
                <a:cs typeface="Arimo"/>
                <a:sym typeface="Arimo"/>
              </a:rPr>
              <a:t>04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679844" y="5003032"/>
            <a:ext cx="5371503" cy="12700"/>
            <a:chOff x="0" y="0"/>
            <a:chExt cx="10743006" cy="254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62" name="Freeform 62"/>
            <p:cNvSpPr/>
            <p:nvPr/>
          </p:nvSpPr>
          <p:spPr>
            <a:xfrm>
              <a:off x="0" y="0"/>
              <a:ext cx="10743057" cy="25400"/>
            </a:xfrm>
            <a:custGeom>
              <a:avLst/>
              <a:gdLst/>
              <a:ahLst/>
              <a:cxnLst/>
              <a:rect l="l" t="t" r="r" b="b"/>
              <a:pathLst>
                <a:path w="10743057" h="25400">
                  <a:moveTo>
                    <a:pt x="0" y="0"/>
                  </a:moveTo>
                  <a:lnTo>
                    <a:pt x="10743057" y="0"/>
                  </a:lnTo>
                  <a:lnTo>
                    <a:pt x="10743057" y="25400"/>
                  </a:lnTo>
                  <a:lnTo>
                    <a:pt x="0" y="2540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sp>
        <p:nvSpPr>
          <p:cNvPr id="63" name="TextBox 63"/>
          <p:cNvSpPr txBox="1"/>
          <p:nvPr/>
        </p:nvSpPr>
        <p:spPr>
          <a:xfrm>
            <a:off x="679844" y="5064253"/>
            <a:ext cx="1974551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7"/>
              </a:lnSpc>
            </a:pP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Configurar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permisos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alibri (Cuerpo)"/>
              <a:ea typeface="Arimo"/>
              <a:cs typeface="Arimo"/>
              <a:sym typeface="Arimo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679843" y="5449072"/>
            <a:ext cx="5371503" cy="156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49"/>
              </a:lnSpc>
            </a:pPr>
            <a:r>
              <a:rPr lang="en-US" sz="1200" dirty="0" err="1">
                <a:latin typeface="Calibri (Cuerpo)"/>
                <a:cs typeface="Poppins"/>
                <a:sym typeface="Poppins"/>
              </a:rPr>
              <a:t>Asignar</a:t>
            </a:r>
            <a:r>
              <a:rPr lang="en-US" sz="1200" dirty="0">
                <a:latin typeface="Calibri (Cuerpo)"/>
                <a:cs typeface="Poppins"/>
                <a:sym typeface="Poppins"/>
              </a:rPr>
              <a:t> </a:t>
            </a:r>
            <a:r>
              <a:rPr lang="en-US" sz="1200" dirty="0" err="1">
                <a:latin typeface="Calibri (Cuerpo)"/>
                <a:cs typeface="Poppins"/>
                <a:sym typeface="Poppins"/>
              </a:rPr>
              <a:t>usuarios</a:t>
            </a:r>
            <a:r>
              <a:rPr lang="en-US" sz="1200" dirty="0">
                <a:latin typeface="Calibri (Cuerpo)"/>
                <a:cs typeface="Poppins"/>
                <a:sym typeface="Poppins"/>
              </a:rPr>
              <a:t> y </a:t>
            </a:r>
            <a:r>
              <a:rPr lang="en-US" sz="1200" dirty="0" err="1">
                <a:latin typeface="Calibri (Cuerpo)"/>
                <a:cs typeface="Poppins"/>
                <a:sym typeface="Poppins"/>
              </a:rPr>
              <a:t>privilegios</a:t>
            </a:r>
            <a:r>
              <a:rPr lang="en-US" sz="1200" dirty="0">
                <a:latin typeface="Calibri (Cuerpo)"/>
                <a:cs typeface="Poppins"/>
                <a:sym typeface="Poppins"/>
              </a:rPr>
              <a:t> de </a:t>
            </a:r>
            <a:r>
              <a:rPr lang="en-US" sz="1200" dirty="0" err="1">
                <a:latin typeface="Calibri (Cuerpo)"/>
                <a:cs typeface="Poppins"/>
                <a:sym typeface="Poppins"/>
              </a:rPr>
              <a:t>acceso</a:t>
            </a:r>
            <a:endParaRPr lang="en-US" sz="1200" dirty="0">
              <a:latin typeface="Calibri (Cuerpo)"/>
              <a:cs typeface="Poppins"/>
              <a:sym typeface="Poppins"/>
            </a:endParaRPr>
          </a:p>
        </p:txBody>
      </p:sp>
      <p:grpSp>
        <p:nvGrpSpPr>
          <p:cNvPr id="65" name="Group 65"/>
          <p:cNvGrpSpPr/>
          <p:nvPr/>
        </p:nvGrpSpPr>
        <p:grpSpPr>
          <a:xfrm>
            <a:off x="679844" y="6065540"/>
            <a:ext cx="10832205" cy="411061"/>
            <a:chOff x="0" y="0"/>
            <a:chExt cx="21664409" cy="822122"/>
          </a:xfrm>
          <a:solidFill>
            <a:schemeClr val="bg1"/>
          </a:solidFill>
        </p:grpSpPr>
        <p:sp>
          <p:nvSpPr>
            <p:cNvPr id="66" name="Freeform 66"/>
            <p:cNvSpPr/>
            <p:nvPr/>
          </p:nvSpPr>
          <p:spPr>
            <a:xfrm>
              <a:off x="0" y="0"/>
              <a:ext cx="21664422" cy="822198"/>
            </a:xfrm>
            <a:custGeom>
              <a:avLst/>
              <a:gdLst/>
              <a:ahLst/>
              <a:cxnLst/>
              <a:rect l="l" t="t" r="r" b="b"/>
              <a:pathLst>
                <a:path w="21664422" h="822198">
                  <a:moveTo>
                    <a:pt x="0" y="329692"/>
                  </a:moveTo>
                  <a:cubicBezTo>
                    <a:pt x="0" y="147574"/>
                    <a:pt x="147574" y="0"/>
                    <a:pt x="329692" y="0"/>
                  </a:cubicBezTo>
                  <a:lnTo>
                    <a:pt x="21334730" y="0"/>
                  </a:lnTo>
                  <a:cubicBezTo>
                    <a:pt x="21516848" y="0"/>
                    <a:pt x="21664422" y="147574"/>
                    <a:pt x="21664422" y="329692"/>
                  </a:cubicBezTo>
                  <a:lnTo>
                    <a:pt x="21664422" y="492506"/>
                  </a:lnTo>
                  <a:cubicBezTo>
                    <a:pt x="21664422" y="674624"/>
                    <a:pt x="21516848" y="822198"/>
                    <a:pt x="21334730" y="822198"/>
                  </a:cubicBezTo>
                  <a:lnTo>
                    <a:pt x="329692" y="822198"/>
                  </a:lnTo>
                  <a:cubicBezTo>
                    <a:pt x="147574" y="822071"/>
                    <a:pt x="0" y="674497"/>
                    <a:pt x="0" y="492506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sp>
        <p:nvSpPr>
          <p:cNvPr id="69" name="TextBox 69"/>
          <p:cNvSpPr txBox="1"/>
          <p:nvPr/>
        </p:nvSpPr>
        <p:spPr>
          <a:xfrm>
            <a:off x="1036835" y="6156719"/>
            <a:ext cx="10365385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49"/>
              </a:lnSpc>
            </a:pPr>
            <a:r>
              <a:rPr lang="en-US" sz="1000" b="1" dirty="0" err="1">
                <a:latin typeface="Calibri (Cuerpo)"/>
                <a:ea typeface="Poppins Bold"/>
                <a:cs typeface="Poppins Bold"/>
                <a:sym typeface="Poppins Bold"/>
              </a:rPr>
              <a:t>Herramientas</a:t>
            </a:r>
            <a:r>
              <a:rPr lang="en-US" sz="1000" b="1" dirty="0">
                <a:latin typeface="Calibri (Cuerpo)"/>
                <a:ea typeface="Poppins Bold"/>
                <a:cs typeface="Poppins Bold"/>
                <a:sym typeface="Poppins Bold"/>
              </a:rPr>
              <a:t> </a:t>
            </a:r>
            <a:r>
              <a:rPr lang="en-US" sz="1000" b="1" dirty="0" err="1">
                <a:latin typeface="Calibri (Cuerpo)"/>
                <a:ea typeface="Poppins Bold"/>
                <a:cs typeface="Poppins Bold"/>
                <a:sym typeface="Poppins Bold"/>
              </a:rPr>
              <a:t>recomendadas</a:t>
            </a:r>
            <a:r>
              <a:rPr lang="en-US" sz="1000" b="1" dirty="0">
                <a:latin typeface="Calibri (Cuerpo)"/>
                <a:ea typeface="Poppins Bold"/>
                <a:cs typeface="Poppins Bold"/>
                <a:sym typeface="Poppins Bold"/>
              </a:rPr>
              <a:t>:</a:t>
            </a:r>
            <a:r>
              <a:rPr lang="en-US" sz="1000" b="1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000" b="1" dirty="0" err="1">
                <a:latin typeface="Calibri (Cuerpo)"/>
                <a:ea typeface="Poppins"/>
                <a:cs typeface="Poppins"/>
                <a:sym typeface="Poppins"/>
              </a:rPr>
              <a:t>DBeaver</a:t>
            </a:r>
            <a:r>
              <a:rPr lang="en-US" sz="1000" b="1" dirty="0">
                <a:latin typeface="Calibri (Cuerpo)"/>
                <a:ea typeface="Poppins"/>
                <a:cs typeface="Poppins"/>
                <a:sym typeface="Poppins"/>
              </a:rPr>
              <a:t>, </a:t>
            </a:r>
            <a:r>
              <a:rPr lang="en-US" sz="1000" b="1" dirty="0" err="1">
                <a:latin typeface="Calibri (Cuerpo)"/>
                <a:ea typeface="Poppins"/>
                <a:cs typeface="Poppins"/>
                <a:sym typeface="Poppins"/>
              </a:rPr>
              <a:t>pgAdmin</a:t>
            </a:r>
            <a:r>
              <a:rPr lang="en-US" sz="1000" b="1" dirty="0">
                <a:latin typeface="Calibri (Cuerpo)"/>
                <a:ea typeface="Poppins"/>
                <a:cs typeface="Poppins"/>
                <a:sym typeface="Poppins"/>
              </a:rPr>
              <a:t>, MySQL Workbench para interfaces </a:t>
            </a:r>
            <a:r>
              <a:rPr lang="en-US" sz="1000" b="1" dirty="0" err="1">
                <a:latin typeface="Calibri (Cuerpo)"/>
                <a:ea typeface="Poppins"/>
                <a:cs typeface="Poppins"/>
                <a:sym typeface="Poppins"/>
              </a:rPr>
              <a:t>gráficas</a:t>
            </a:r>
            <a:r>
              <a:rPr lang="en-US" sz="1000" b="1" dirty="0">
                <a:latin typeface="Calibri (Cuerpo)"/>
                <a:ea typeface="Poppins"/>
                <a:cs typeface="Poppins"/>
                <a:sym typeface="Poppins"/>
              </a:rPr>
              <a:t>. Docker </a:t>
            </a:r>
            <a:r>
              <a:rPr lang="en-US" sz="1100" b="1" dirty="0">
                <a:latin typeface="Calibri (Cuerpo)"/>
                <a:ea typeface="Poppins"/>
                <a:cs typeface="Poppins"/>
                <a:sym typeface="Poppins"/>
              </a:rPr>
              <a:t>para</a:t>
            </a:r>
            <a:r>
              <a:rPr lang="en-US" sz="1000" b="1" dirty="0">
                <a:latin typeface="Calibri (Cuerpo)"/>
                <a:ea typeface="Poppins"/>
                <a:cs typeface="Poppins"/>
                <a:sym typeface="Poppins"/>
              </a:rPr>
              <a:t> </a:t>
            </a:r>
            <a:r>
              <a:rPr lang="en-US" sz="1000" b="1" dirty="0" err="1">
                <a:latin typeface="Calibri (Cuerpo)"/>
                <a:ea typeface="Poppins"/>
                <a:cs typeface="Poppins"/>
                <a:sym typeface="Poppins"/>
              </a:rPr>
              <a:t>contenedores</a:t>
            </a:r>
            <a:r>
              <a:rPr lang="en-US" sz="1000" b="1" dirty="0">
                <a:latin typeface="Calibri (Cuerpo)"/>
                <a:ea typeface="Poppins"/>
                <a:cs typeface="Poppins"/>
                <a:sym typeface="Poppins"/>
              </a:rPr>
              <a:t> y </a:t>
            </a:r>
            <a:r>
              <a:rPr lang="en-US" sz="1000" b="1" dirty="0" err="1">
                <a:latin typeface="Calibri (Cuerpo)"/>
                <a:ea typeface="Poppins"/>
                <a:cs typeface="Poppins"/>
                <a:sym typeface="Poppins"/>
              </a:rPr>
              <a:t>portabilidad</a:t>
            </a:r>
            <a:r>
              <a:rPr lang="en-US" sz="1000" b="1" dirty="0">
                <a:latin typeface="Calibri (Cuerpo)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id="32" name="Group 8">
            <a:extLst>
              <a:ext uri="{FF2B5EF4-FFF2-40B4-BE49-F238E27FC236}">
                <a16:creationId xmlns:a16="http://schemas.microsoft.com/office/drawing/2014/main" id="{DDE59247-2247-628E-EC23-5FDDF9821404}"/>
              </a:ext>
            </a:extLst>
          </p:cNvPr>
          <p:cNvGrpSpPr/>
          <p:nvPr/>
        </p:nvGrpSpPr>
        <p:grpSpPr>
          <a:xfrm>
            <a:off x="6216736" y="3385027"/>
            <a:ext cx="5400240" cy="1195860"/>
            <a:chOff x="0" y="0"/>
            <a:chExt cx="10915853" cy="1747838"/>
          </a:xfrm>
          <a:blipFill>
            <a:blip r:embed="rId2"/>
            <a:tile tx="0" ty="0" sx="100000" sy="100000" flip="none" algn="tl"/>
          </a:blipFill>
        </p:grpSpPr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3A435475-8CE9-C99C-3EE7-55535E7FA68C}"/>
                </a:ext>
              </a:extLst>
            </p:cNvPr>
            <p:cNvSpPr/>
            <p:nvPr/>
          </p:nvSpPr>
          <p:spPr>
            <a:xfrm>
              <a:off x="12700" y="12700"/>
              <a:ext cx="10890504" cy="1722374"/>
            </a:xfrm>
            <a:custGeom>
              <a:avLst/>
              <a:gdLst/>
              <a:ahLst/>
              <a:cxnLst/>
              <a:rect l="l" t="t" r="r" b="b"/>
              <a:pathLst>
                <a:path w="10890504" h="1722374">
                  <a:moveTo>
                    <a:pt x="0" y="374015"/>
                  </a:moveTo>
                  <a:cubicBezTo>
                    <a:pt x="0" y="167513"/>
                    <a:pt x="169545" y="0"/>
                    <a:pt x="378714" y="0"/>
                  </a:cubicBezTo>
                  <a:lnTo>
                    <a:pt x="10511790" y="0"/>
                  </a:lnTo>
                  <a:cubicBezTo>
                    <a:pt x="10720959" y="0"/>
                    <a:pt x="10890504" y="167513"/>
                    <a:pt x="10890504" y="374015"/>
                  </a:cubicBezTo>
                  <a:lnTo>
                    <a:pt x="10890504" y="1348359"/>
                  </a:lnTo>
                  <a:cubicBezTo>
                    <a:pt x="10890504" y="1554988"/>
                    <a:pt x="10720959" y="1722374"/>
                    <a:pt x="10511790" y="1722374"/>
                  </a:cubicBezTo>
                  <a:lnTo>
                    <a:pt x="378714" y="1722374"/>
                  </a:lnTo>
                  <a:cubicBezTo>
                    <a:pt x="169545" y="1722374"/>
                    <a:pt x="0" y="1554988"/>
                    <a:pt x="0" y="1348359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  <p:sp>
          <p:nvSpPr>
            <p:cNvPr id="41" name="Freeform 10">
              <a:extLst>
                <a:ext uri="{FF2B5EF4-FFF2-40B4-BE49-F238E27FC236}">
                  <a16:creationId xmlns:a16="http://schemas.microsoft.com/office/drawing/2014/main" id="{B38285B2-5D61-8EC1-473B-39CD3BDE997F}"/>
                </a:ext>
              </a:extLst>
            </p:cNvPr>
            <p:cNvSpPr/>
            <p:nvPr/>
          </p:nvSpPr>
          <p:spPr>
            <a:xfrm>
              <a:off x="0" y="0"/>
              <a:ext cx="10915904" cy="1747774"/>
            </a:xfrm>
            <a:custGeom>
              <a:avLst/>
              <a:gdLst/>
              <a:ahLst/>
              <a:cxnLst/>
              <a:rect l="l" t="t" r="r" b="b"/>
              <a:pathLst>
                <a:path w="10915904" h="1747774">
                  <a:moveTo>
                    <a:pt x="0" y="386715"/>
                  </a:moveTo>
                  <a:cubicBezTo>
                    <a:pt x="0" y="172974"/>
                    <a:pt x="175387" y="0"/>
                    <a:pt x="391414" y="0"/>
                  </a:cubicBezTo>
                  <a:lnTo>
                    <a:pt x="10524490" y="0"/>
                  </a:lnTo>
                  <a:lnTo>
                    <a:pt x="10524490" y="12700"/>
                  </a:lnTo>
                  <a:lnTo>
                    <a:pt x="10524490" y="0"/>
                  </a:lnTo>
                  <a:cubicBezTo>
                    <a:pt x="10740517" y="0"/>
                    <a:pt x="10915904" y="172974"/>
                    <a:pt x="10915904" y="386715"/>
                  </a:cubicBezTo>
                  <a:lnTo>
                    <a:pt x="10903204" y="386715"/>
                  </a:lnTo>
                  <a:lnTo>
                    <a:pt x="10915904" y="386715"/>
                  </a:lnTo>
                  <a:lnTo>
                    <a:pt x="10915904" y="1361059"/>
                  </a:lnTo>
                  <a:lnTo>
                    <a:pt x="10903204" y="1361059"/>
                  </a:lnTo>
                  <a:lnTo>
                    <a:pt x="10915904" y="1361059"/>
                  </a:lnTo>
                  <a:cubicBezTo>
                    <a:pt x="10915904" y="1574800"/>
                    <a:pt x="10740517" y="1747774"/>
                    <a:pt x="10524490" y="1747774"/>
                  </a:cubicBezTo>
                  <a:lnTo>
                    <a:pt x="10524490" y="1735074"/>
                  </a:lnTo>
                  <a:lnTo>
                    <a:pt x="10524490" y="1747774"/>
                  </a:lnTo>
                  <a:lnTo>
                    <a:pt x="391414" y="1747774"/>
                  </a:lnTo>
                  <a:lnTo>
                    <a:pt x="391414" y="1735074"/>
                  </a:lnTo>
                  <a:lnTo>
                    <a:pt x="391414" y="1747774"/>
                  </a:lnTo>
                  <a:cubicBezTo>
                    <a:pt x="175387" y="1747774"/>
                    <a:pt x="0" y="1574800"/>
                    <a:pt x="0" y="1361059"/>
                  </a:cubicBezTo>
                  <a:lnTo>
                    <a:pt x="0" y="386715"/>
                  </a:lnTo>
                  <a:lnTo>
                    <a:pt x="12700" y="386715"/>
                  </a:lnTo>
                  <a:lnTo>
                    <a:pt x="0" y="386715"/>
                  </a:lnTo>
                  <a:moveTo>
                    <a:pt x="25400" y="386715"/>
                  </a:moveTo>
                  <a:lnTo>
                    <a:pt x="25400" y="1361059"/>
                  </a:lnTo>
                  <a:lnTo>
                    <a:pt x="12700" y="1361059"/>
                  </a:lnTo>
                  <a:lnTo>
                    <a:pt x="25400" y="1361059"/>
                  </a:lnTo>
                  <a:cubicBezTo>
                    <a:pt x="25400" y="1560449"/>
                    <a:pt x="189103" y="1722374"/>
                    <a:pt x="391414" y="1722374"/>
                  </a:cubicBezTo>
                  <a:lnTo>
                    <a:pt x="10524490" y="1722374"/>
                  </a:lnTo>
                  <a:cubicBezTo>
                    <a:pt x="10726801" y="1722374"/>
                    <a:pt x="10890504" y="1560449"/>
                    <a:pt x="10890504" y="1361059"/>
                  </a:cubicBezTo>
                  <a:lnTo>
                    <a:pt x="10890504" y="386715"/>
                  </a:lnTo>
                  <a:cubicBezTo>
                    <a:pt x="10890504" y="187325"/>
                    <a:pt x="10726674" y="25400"/>
                    <a:pt x="10524490" y="25400"/>
                  </a:cubicBezTo>
                  <a:lnTo>
                    <a:pt x="391414" y="25400"/>
                  </a:lnTo>
                  <a:lnTo>
                    <a:pt x="391414" y="12700"/>
                  </a:lnTo>
                  <a:lnTo>
                    <a:pt x="391414" y="25400"/>
                  </a:lnTo>
                  <a:cubicBezTo>
                    <a:pt x="189103" y="25400"/>
                    <a:pt x="25400" y="187325"/>
                    <a:pt x="25400" y="386715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grpSp>
        <p:nvGrpSpPr>
          <p:cNvPr id="42" name="Group 8">
            <a:extLst>
              <a:ext uri="{FF2B5EF4-FFF2-40B4-BE49-F238E27FC236}">
                <a16:creationId xmlns:a16="http://schemas.microsoft.com/office/drawing/2014/main" id="{B7498130-EA38-2264-7EE9-C7A2D167963A}"/>
              </a:ext>
            </a:extLst>
          </p:cNvPr>
          <p:cNvGrpSpPr/>
          <p:nvPr/>
        </p:nvGrpSpPr>
        <p:grpSpPr>
          <a:xfrm>
            <a:off x="6216748" y="4712225"/>
            <a:ext cx="5400240" cy="1195860"/>
            <a:chOff x="0" y="0"/>
            <a:chExt cx="10915853" cy="1747838"/>
          </a:xfrm>
          <a:blipFill>
            <a:blip r:embed="rId2"/>
            <a:tile tx="0" ty="0" sx="100000" sy="100000" flip="none" algn="tl"/>
          </a:blipFill>
        </p:grpSpPr>
        <p:sp>
          <p:nvSpPr>
            <p:cNvPr id="70" name="Freeform 9">
              <a:extLst>
                <a:ext uri="{FF2B5EF4-FFF2-40B4-BE49-F238E27FC236}">
                  <a16:creationId xmlns:a16="http://schemas.microsoft.com/office/drawing/2014/main" id="{9D51684F-577A-EDF6-0049-E590625F52F6}"/>
                </a:ext>
              </a:extLst>
            </p:cNvPr>
            <p:cNvSpPr/>
            <p:nvPr/>
          </p:nvSpPr>
          <p:spPr>
            <a:xfrm>
              <a:off x="12700" y="12700"/>
              <a:ext cx="10890504" cy="1722374"/>
            </a:xfrm>
            <a:custGeom>
              <a:avLst/>
              <a:gdLst/>
              <a:ahLst/>
              <a:cxnLst/>
              <a:rect l="l" t="t" r="r" b="b"/>
              <a:pathLst>
                <a:path w="10890504" h="1722374">
                  <a:moveTo>
                    <a:pt x="0" y="374015"/>
                  </a:moveTo>
                  <a:cubicBezTo>
                    <a:pt x="0" y="167513"/>
                    <a:pt x="169545" y="0"/>
                    <a:pt x="378714" y="0"/>
                  </a:cubicBezTo>
                  <a:lnTo>
                    <a:pt x="10511790" y="0"/>
                  </a:lnTo>
                  <a:cubicBezTo>
                    <a:pt x="10720959" y="0"/>
                    <a:pt x="10890504" y="167513"/>
                    <a:pt x="10890504" y="374015"/>
                  </a:cubicBezTo>
                  <a:lnTo>
                    <a:pt x="10890504" y="1348359"/>
                  </a:lnTo>
                  <a:cubicBezTo>
                    <a:pt x="10890504" y="1554988"/>
                    <a:pt x="10720959" y="1722374"/>
                    <a:pt x="10511790" y="1722374"/>
                  </a:cubicBezTo>
                  <a:lnTo>
                    <a:pt x="378714" y="1722374"/>
                  </a:lnTo>
                  <a:cubicBezTo>
                    <a:pt x="169545" y="1722374"/>
                    <a:pt x="0" y="1554988"/>
                    <a:pt x="0" y="1348359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  <p:sp>
          <p:nvSpPr>
            <p:cNvPr id="71" name="Freeform 10">
              <a:extLst>
                <a:ext uri="{FF2B5EF4-FFF2-40B4-BE49-F238E27FC236}">
                  <a16:creationId xmlns:a16="http://schemas.microsoft.com/office/drawing/2014/main" id="{BC1CF5FB-474E-CF2A-0FDD-BA77DBAE63DD}"/>
                </a:ext>
              </a:extLst>
            </p:cNvPr>
            <p:cNvSpPr/>
            <p:nvPr/>
          </p:nvSpPr>
          <p:spPr>
            <a:xfrm>
              <a:off x="0" y="0"/>
              <a:ext cx="10915904" cy="1747774"/>
            </a:xfrm>
            <a:custGeom>
              <a:avLst/>
              <a:gdLst/>
              <a:ahLst/>
              <a:cxnLst/>
              <a:rect l="l" t="t" r="r" b="b"/>
              <a:pathLst>
                <a:path w="10915904" h="1747774">
                  <a:moveTo>
                    <a:pt x="0" y="386715"/>
                  </a:moveTo>
                  <a:cubicBezTo>
                    <a:pt x="0" y="172974"/>
                    <a:pt x="175387" y="0"/>
                    <a:pt x="391414" y="0"/>
                  </a:cubicBezTo>
                  <a:lnTo>
                    <a:pt x="10524490" y="0"/>
                  </a:lnTo>
                  <a:lnTo>
                    <a:pt x="10524490" y="12700"/>
                  </a:lnTo>
                  <a:lnTo>
                    <a:pt x="10524490" y="0"/>
                  </a:lnTo>
                  <a:cubicBezTo>
                    <a:pt x="10740517" y="0"/>
                    <a:pt x="10915904" y="172974"/>
                    <a:pt x="10915904" y="386715"/>
                  </a:cubicBezTo>
                  <a:lnTo>
                    <a:pt x="10903204" y="386715"/>
                  </a:lnTo>
                  <a:lnTo>
                    <a:pt x="10915904" y="386715"/>
                  </a:lnTo>
                  <a:lnTo>
                    <a:pt x="10915904" y="1361059"/>
                  </a:lnTo>
                  <a:lnTo>
                    <a:pt x="10903204" y="1361059"/>
                  </a:lnTo>
                  <a:lnTo>
                    <a:pt x="10915904" y="1361059"/>
                  </a:lnTo>
                  <a:cubicBezTo>
                    <a:pt x="10915904" y="1574800"/>
                    <a:pt x="10740517" y="1747774"/>
                    <a:pt x="10524490" y="1747774"/>
                  </a:cubicBezTo>
                  <a:lnTo>
                    <a:pt x="10524490" y="1735074"/>
                  </a:lnTo>
                  <a:lnTo>
                    <a:pt x="10524490" y="1747774"/>
                  </a:lnTo>
                  <a:lnTo>
                    <a:pt x="391414" y="1747774"/>
                  </a:lnTo>
                  <a:lnTo>
                    <a:pt x="391414" y="1735074"/>
                  </a:lnTo>
                  <a:lnTo>
                    <a:pt x="391414" y="1747774"/>
                  </a:lnTo>
                  <a:cubicBezTo>
                    <a:pt x="175387" y="1747774"/>
                    <a:pt x="0" y="1574800"/>
                    <a:pt x="0" y="1361059"/>
                  </a:cubicBezTo>
                  <a:lnTo>
                    <a:pt x="0" y="386715"/>
                  </a:lnTo>
                  <a:lnTo>
                    <a:pt x="12700" y="386715"/>
                  </a:lnTo>
                  <a:lnTo>
                    <a:pt x="0" y="386715"/>
                  </a:lnTo>
                  <a:moveTo>
                    <a:pt x="25400" y="386715"/>
                  </a:moveTo>
                  <a:lnTo>
                    <a:pt x="25400" y="1361059"/>
                  </a:lnTo>
                  <a:lnTo>
                    <a:pt x="12700" y="1361059"/>
                  </a:lnTo>
                  <a:lnTo>
                    <a:pt x="25400" y="1361059"/>
                  </a:lnTo>
                  <a:cubicBezTo>
                    <a:pt x="25400" y="1560449"/>
                    <a:pt x="189103" y="1722374"/>
                    <a:pt x="391414" y="1722374"/>
                  </a:cubicBezTo>
                  <a:lnTo>
                    <a:pt x="10524490" y="1722374"/>
                  </a:lnTo>
                  <a:cubicBezTo>
                    <a:pt x="10726801" y="1722374"/>
                    <a:pt x="10890504" y="1560449"/>
                    <a:pt x="10890504" y="1361059"/>
                  </a:cubicBezTo>
                  <a:lnTo>
                    <a:pt x="10890504" y="386715"/>
                  </a:lnTo>
                  <a:cubicBezTo>
                    <a:pt x="10890504" y="187325"/>
                    <a:pt x="10726674" y="25400"/>
                    <a:pt x="10524490" y="25400"/>
                  </a:cubicBezTo>
                  <a:lnTo>
                    <a:pt x="391414" y="25400"/>
                  </a:lnTo>
                  <a:lnTo>
                    <a:pt x="391414" y="12700"/>
                  </a:lnTo>
                  <a:lnTo>
                    <a:pt x="391414" y="25400"/>
                  </a:lnTo>
                  <a:cubicBezTo>
                    <a:pt x="189103" y="25400"/>
                    <a:pt x="25400" y="187325"/>
                    <a:pt x="25400" y="386715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grpSp>
        <p:nvGrpSpPr>
          <p:cNvPr id="72" name="Group 8">
            <a:extLst>
              <a:ext uri="{FF2B5EF4-FFF2-40B4-BE49-F238E27FC236}">
                <a16:creationId xmlns:a16="http://schemas.microsoft.com/office/drawing/2014/main" id="{D15E4BC3-CB19-4CF3-4636-4A26A7468410}"/>
              </a:ext>
            </a:extLst>
          </p:cNvPr>
          <p:cNvGrpSpPr/>
          <p:nvPr/>
        </p:nvGrpSpPr>
        <p:grpSpPr>
          <a:xfrm>
            <a:off x="6216736" y="2110310"/>
            <a:ext cx="5400240" cy="1195860"/>
            <a:chOff x="0" y="0"/>
            <a:chExt cx="10915853" cy="1747838"/>
          </a:xfrm>
          <a:blipFill>
            <a:blip r:embed="rId2"/>
            <a:tile tx="0" ty="0" sx="100000" sy="100000" flip="none" algn="tl"/>
          </a:blipFill>
        </p:grpSpPr>
        <p:sp>
          <p:nvSpPr>
            <p:cNvPr id="73" name="Freeform 9">
              <a:extLst>
                <a:ext uri="{FF2B5EF4-FFF2-40B4-BE49-F238E27FC236}">
                  <a16:creationId xmlns:a16="http://schemas.microsoft.com/office/drawing/2014/main" id="{99EFF56B-23F3-5A5F-FA1F-BECC3BFCFF7C}"/>
                </a:ext>
              </a:extLst>
            </p:cNvPr>
            <p:cNvSpPr/>
            <p:nvPr/>
          </p:nvSpPr>
          <p:spPr>
            <a:xfrm>
              <a:off x="12700" y="12700"/>
              <a:ext cx="10890504" cy="1722374"/>
            </a:xfrm>
            <a:custGeom>
              <a:avLst/>
              <a:gdLst/>
              <a:ahLst/>
              <a:cxnLst/>
              <a:rect l="l" t="t" r="r" b="b"/>
              <a:pathLst>
                <a:path w="10890504" h="1722374">
                  <a:moveTo>
                    <a:pt x="0" y="374015"/>
                  </a:moveTo>
                  <a:cubicBezTo>
                    <a:pt x="0" y="167513"/>
                    <a:pt x="169545" y="0"/>
                    <a:pt x="378714" y="0"/>
                  </a:cubicBezTo>
                  <a:lnTo>
                    <a:pt x="10511790" y="0"/>
                  </a:lnTo>
                  <a:cubicBezTo>
                    <a:pt x="10720959" y="0"/>
                    <a:pt x="10890504" y="167513"/>
                    <a:pt x="10890504" y="374015"/>
                  </a:cubicBezTo>
                  <a:lnTo>
                    <a:pt x="10890504" y="1348359"/>
                  </a:lnTo>
                  <a:cubicBezTo>
                    <a:pt x="10890504" y="1554988"/>
                    <a:pt x="10720959" y="1722374"/>
                    <a:pt x="10511790" y="1722374"/>
                  </a:cubicBezTo>
                  <a:lnTo>
                    <a:pt x="378714" y="1722374"/>
                  </a:lnTo>
                  <a:cubicBezTo>
                    <a:pt x="169545" y="1722374"/>
                    <a:pt x="0" y="1554988"/>
                    <a:pt x="0" y="1348359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8DC871DF-E00C-84C5-AF50-2B92ED20EC80}"/>
                </a:ext>
              </a:extLst>
            </p:cNvPr>
            <p:cNvSpPr/>
            <p:nvPr/>
          </p:nvSpPr>
          <p:spPr>
            <a:xfrm>
              <a:off x="0" y="0"/>
              <a:ext cx="10915904" cy="1747774"/>
            </a:xfrm>
            <a:custGeom>
              <a:avLst/>
              <a:gdLst/>
              <a:ahLst/>
              <a:cxnLst/>
              <a:rect l="l" t="t" r="r" b="b"/>
              <a:pathLst>
                <a:path w="10915904" h="1747774">
                  <a:moveTo>
                    <a:pt x="0" y="386715"/>
                  </a:moveTo>
                  <a:cubicBezTo>
                    <a:pt x="0" y="172974"/>
                    <a:pt x="175387" y="0"/>
                    <a:pt x="391414" y="0"/>
                  </a:cubicBezTo>
                  <a:lnTo>
                    <a:pt x="10524490" y="0"/>
                  </a:lnTo>
                  <a:lnTo>
                    <a:pt x="10524490" y="12700"/>
                  </a:lnTo>
                  <a:lnTo>
                    <a:pt x="10524490" y="0"/>
                  </a:lnTo>
                  <a:cubicBezTo>
                    <a:pt x="10740517" y="0"/>
                    <a:pt x="10915904" y="172974"/>
                    <a:pt x="10915904" y="386715"/>
                  </a:cubicBezTo>
                  <a:lnTo>
                    <a:pt x="10903204" y="386715"/>
                  </a:lnTo>
                  <a:lnTo>
                    <a:pt x="10915904" y="386715"/>
                  </a:lnTo>
                  <a:lnTo>
                    <a:pt x="10915904" y="1361059"/>
                  </a:lnTo>
                  <a:lnTo>
                    <a:pt x="10903204" y="1361059"/>
                  </a:lnTo>
                  <a:lnTo>
                    <a:pt x="10915904" y="1361059"/>
                  </a:lnTo>
                  <a:cubicBezTo>
                    <a:pt x="10915904" y="1574800"/>
                    <a:pt x="10740517" y="1747774"/>
                    <a:pt x="10524490" y="1747774"/>
                  </a:cubicBezTo>
                  <a:lnTo>
                    <a:pt x="10524490" y="1735074"/>
                  </a:lnTo>
                  <a:lnTo>
                    <a:pt x="10524490" y="1747774"/>
                  </a:lnTo>
                  <a:lnTo>
                    <a:pt x="391414" y="1747774"/>
                  </a:lnTo>
                  <a:lnTo>
                    <a:pt x="391414" y="1735074"/>
                  </a:lnTo>
                  <a:lnTo>
                    <a:pt x="391414" y="1747774"/>
                  </a:lnTo>
                  <a:cubicBezTo>
                    <a:pt x="175387" y="1747774"/>
                    <a:pt x="0" y="1574800"/>
                    <a:pt x="0" y="1361059"/>
                  </a:cubicBezTo>
                  <a:lnTo>
                    <a:pt x="0" y="386715"/>
                  </a:lnTo>
                  <a:lnTo>
                    <a:pt x="12700" y="386715"/>
                  </a:lnTo>
                  <a:lnTo>
                    <a:pt x="0" y="386715"/>
                  </a:lnTo>
                  <a:moveTo>
                    <a:pt x="25400" y="386715"/>
                  </a:moveTo>
                  <a:lnTo>
                    <a:pt x="25400" y="1361059"/>
                  </a:lnTo>
                  <a:lnTo>
                    <a:pt x="12700" y="1361059"/>
                  </a:lnTo>
                  <a:lnTo>
                    <a:pt x="25400" y="1361059"/>
                  </a:lnTo>
                  <a:cubicBezTo>
                    <a:pt x="25400" y="1560449"/>
                    <a:pt x="189103" y="1722374"/>
                    <a:pt x="391414" y="1722374"/>
                  </a:cubicBezTo>
                  <a:lnTo>
                    <a:pt x="10524490" y="1722374"/>
                  </a:lnTo>
                  <a:cubicBezTo>
                    <a:pt x="10726801" y="1722374"/>
                    <a:pt x="10890504" y="1560449"/>
                    <a:pt x="10890504" y="1361059"/>
                  </a:cubicBezTo>
                  <a:lnTo>
                    <a:pt x="10890504" y="386715"/>
                  </a:lnTo>
                  <a:cubicBezTo>
                    <a:pt x="10890504" y="187325"/>
                    <a:pt x="10726674" y="25400"/>
                    <a:pt x="10524490" y="25400"/>
                  </a:cubicBezTo>
                  <a:lnTo>
                    <a:pt x="391414" y="25400"/>
                  </a:lnTo>
                  <a:lnTo>
                    <a:pt x="391414" y="12700"/>
                  </a:lnTo>
                  <a:lnTo>
                    <a:pt x="391414" y="25400"/>
                  </a:lnTo>
                  <a:cubicBezTo>
                    <a:pt x="189103" y="25400"/>
                    <a:pt x="25400" y="187325"/>
                    <a:pt x="25400" y="386715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grpSp>
        <p:nvGrpSpPr>
          <p:cNvPr id="75" name="Group 8">
            <a:extLst>
              <a:ext uri="{FF2B5EF4-FFF2-40B4-BE49-F238E27FC236}">
                <a16:creationId xmlns:a16="http://schemas.microsoft.com/office/drawing/2014/main" id="{79C262E2-A741-9925-7FBB-FB800BE118A0}"/>
              </a:ext>
            </a:extLst>
          </p:cNvPr>
          <p:cNvGrpSpPr/>
          <p:nvPr/>
        </p:nvGrpSpPr>
        <p:grpSpPr>
          <a:xfrm>
            <a:off x="6216736" y="849669"/>
            <a:ext cx="5400240" cy="1195860"/>
            <a:chOff x="0" y="0"/>
            <a:chExt cx="10915853" cy="1747838"/>
          </a:xfrm>
          <a:blipFill>
            <a:blip r:embed="rId2"/>
            <a:tile tx="0" ty="0" sx="100000" sy="100000" flip="none" algn="tl"/>
          </a:blipFill>
        </p:grpSpPr>
        <p:sp>
          <p:nvSpPr>
            <p:cNvPr id="76" name="Freeform 9">
              <a:extLst>
                <a:ext uri="{FF2B5EF4-FFF2-40B4-BE49-F238E27FC236}">
                  <a16:creationId xmlns:a16="http://schemas.microsoft.com/office/drawing/2014/main" id="{47022754-0344-C09E-E2C1-B792746BC6F1}"/>
                </a:ext>
              </a:extLst>
            </p:cNvPr>
            <p:cNvSpPr/>
            <p:nvPr/>
          </p:nvSpPr>
          <p:spPr>
            <a:xfrm>
              <a:off x="12700" y="12700"/>
              <a:ext cx="10890504" cy="1722374"/>
            </a:xfrm>
            <a:custGeom>
              <a:avLst/>
              <a:gdLst/>
              <a:ahLst/>
              <a:cxnLst/>
              <a:rect l="l" t="t" r="r" b="b"/>
              <a:pathLst>
                <a:path w="10890504" h="1722374">
                  <a:moveTo>
                    <a:pt x="0" y="374015"/>
                  </a:moveTo>
                  <a:cubicBezTo>
                    <a:pt x="0" y="167513"/>
                    <a:pt x="169545" y="0"/>
                    <a:pt x="378714" y="0"/>
                  </a:cubicBezTo>
                  <a:lnTo>
                    <a:pt x="10511790" y="0"/>
                  </a:lnTo>
                  <a:cubicBezTo>
                    <a:pt x="10720959" y="0"/>
                    <a:pt x="10890504" y="167513"/>
                    <a:pt x="10890504" y="374015"/>
                  </a:cubicBezTo>
                  <a:lnTo>
                    <a:pt x="10890504" y="1348359"/>
                  </a:lnTo>
                  <a:cubicBezTo>
                    <a:pt x="10890504" y="1554988"/>
                    <a:pt x="10720959" y="1722374"/>
                    <a:pt x="10511790" y="1722374"/>
                  </a:cubicBezTo>
                  <a:lnTo>
                    <a:pt x="378714" y="1722374"/>
                  </a:lnTo>
                  <a:cubicBezTo>
                    <a:pt x="169545" y="1722374"/>
                    <a:pt x="0" y="1554988"/>
                    <a:pt x="0" y="1348359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  <p:sp>
          <p:nvSpPr>
            <p:cNvPr id="77" name="Freeform 10">
              <a:extLst>
                <a:ext uri="{FF2B5EF4-FFF2-40B4-BE49-F238E27FC236}">
                  <a16:creationId xmlns:a16="http://schemas.microsoft.com/office/drawing/2014/main" id="{DA053743-22D9-6309-804D-39A752C9C178}"/>
                </a:ext>
              </a:extLst>
            </p:cNvPr>
            <p:cNvSpPr/>
            <p:nvPr/>
          </p:nvSpPr>
          <p:spPr>
            <a:xfrm>
              <a:off x="0" y="0"/>
              <a:ext cx="10915904" cy="1747774"/>
            </a:xfrm>
            <a:custGeom>
              <a:avLst/>
              <a:gdLst/>
              <a:ahLst/>
              <a:cxnLst/>
              <a:rect l="l" t="t" r="r" b="b"/>
              <a:pathLst>
                <a:path w="10915904" h="1747774">
                  <a:moveTo>
                    <a:pt x="0" y="386715"/>
                  </a:moveTo>
                  <a:cubicBezTo>
                    <a:pt x="0" y="172974"/>
                    <a:pt x="175387" y="0"/>
                    <a:pt x="391414" y="0"/>
                  </a:cubicBezTo>
                  <a:lnTo>
                    <a:pt x="10524490" y="0"/>
                  </a:lnTo>
                  <a:lnTo>
                    <a:pt x="10524490" y="12700"/>
                  </a:lnTo>
                  <a:lnTo>
                    <a:pt x="10524490" y="0"/>
                  </a:lnTo>
                  <a:cubicBezTo>
                    <a:pt x="10740517" y="0"/>
                    <a:pt x="10915904" y="172974"/>
                    <a:pt x="10915904" y="386715"/>
                  </a:cubicBezTo>
                  <a:lnTo>
                    <a:pt x="10903204" y="386715"/>
                  </a:lnTo>
                  <a:lnTo>
                    <a:pt x="10915904" y="386715"/>
                  </a:lnTo>
                  <a:lnTo>
                    <a:pt x="10915904" y="1361059"/>
                  </a:lnTo>
                  <a:lnTo>
                    <a:pt x="10903204" y="1361059"/>
                  </a:lnTo>
                  <a:lnTo>
                    <a:pt x="10915904" y="1361059"/>
                  </a:lnTo>
                  <a:cubicBezTo>
                    <a:pt x="10915904" y="1574800"/>
                    <a:pt x="10740517" y="1747774"/>
                    <a:pt x="10524490" y="1747774"/>
                  </a:cubicBezTo>
                  <a:lnTo>
                    <a:pt x="10524490" y="1735074"/>
                  </a:lnTo>
                  <a:lnTo>
                    <a:pt x="10524490" y="1747774"/>
                  </a:lnTo>
                  <a:lnTo>
                    <a:pt x="391414" y="1747774"/>
                  </a:lnTo>
                  <a:lnTo>
                    <a:pt x="391414" y="1735074"/>
                  </a:lnTo>
                  <a:lnTo>
                    <a:pt x="391414" y="1747774"/>
                  </a:lnTo>
                  <a:cubicBezTo>
                    <a:pt x="175387" y="1747774"/>
                    <a:pt x="0" y="1574800"/>
                    <a:pt x="0" y="1361059"/>
                  </a:cubicBezTo>
                  <a:lnTo>
                    <a:pt x="0" y="386715"/>
                  </a:lnTo>
                  <a:lnTo>
                    <a:pt x="12700" y="386715"/>
                  </a:lnTo>
                  <a:lnTo>
                    <a:pt x="0" y="386715"/>
                  </a:lnTo>
                  <a:moveTo>
                    <a:pt x="25400" y="386715"/>
                  </a:moveTo>
                  <a:lnTo>
                    <a:pt x="25400" y="1361059"/>
                  </a:lnTo>
                  <a:lnTo>
                    <a:pt x="12700" y="1361059"/>
                  </a:lnTo>
                  <a:lnTo>
                    <a:pt x="25400" y="1361059"/>
                  </a:lnTo>
                  <a:cubicBezTo>
                    <a:pt x="25400" y="1560449"/>
                    <a:pt x="189103" y="1722374"/>
                    <a:pt x="391414" y="1722374"/>
                  </a:cubicBezTo>
                  <a:lnTo>
                    <a:pt x="10524490" y="1722374"/>
                  </a:lnTo>
                  <a:cubicBezTo>
                    <a:pt x="10726801" y="1722374"/>
                    <a:pt x="10890504" y="1560449"/>
                    <a:pt x="10890504" y="1361059"/>
                  </a:cubicBezTo>
                  <a:lnTo>
                    <a:pt x="10890504" y="386715"/>
                  </a:lnTo>
                  <a:cubicBezTo>
                    <a:pt x="10890504" y="187325"/>
                    <a:pt x="10726674" y="25400"/>
                    <a:pt x="10524490" y="25400"/>
                  </a:cubicBezTo>
                  <a:lnTo>
                    <a:pt x="391414" y="25400"/>
                  </a:lnTo>
                  <a:lnTo>
                    <a:pt x="391414" y="12700"/>
                  </a:lnTo>
                  <a:lnTo>
                    <a:pt x="391414" y="25400"/>
                  </a:lnTo>
                  <a:cubicBezTo>
                    <a:pt x="189103" y="25400"/>
                    <a:pt x="25400" y="187325"/>
                    <a:pt x="25400" y="386715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</p:sp>
      </p:grpSp>
      <p:sp>
        <p:nvSpPr>
          <p:cNvPr id="78" name="TextBox 10">
            <a:extLst>
              <a:ext uri="{FF2B5EF4-FFF2-40B4-BE49-F238E27FC236}">
                <a16:creationId xmlns:a16="http://schemas.microsoft.com/office/drawing/2014/main" id="{CB398F49-D87E-5EC9-2C47-72275895AAD3}"/>
              </a:ext>
            </a:extLst>
          </p:cNvPr>
          <p:cNvSpPr txBox="1"/>
          <p:nvPr/>
        </p:nvSpPr>
        <p:spPr>
          <a:xfrm>
            <a:off x="6398000" y="950023"/>
            <a:ext cx="1974551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7"/>
              </a:lnSpc>
            </a:pPr>
            <a:r>
              <a:rPr lang="en-US" dirty="0">
                <a:latin typeface="Calibri (Cuerpo)"/>
                <a:ea typeface="Arimo"/>
                <a:cs typeface="Arimo"/>
                <a:sym typeface="Arimo"/>
              </a:rPr>
              <a:t>CREATE DATABASE</a:t>
            </a:r>
          </a:p>
        </p:txBody>
      </p:sp>
      <p:sp>
        <p:nvSpPr>
          <p:cNvPr id="79" name="TextBox 11">
            <a:extLst>
              <a:ext uri="{FF2B5EF4-FFF2-40B4-BE49-F238E27FC236}">
                <a16:creationId xmlns:a16="http://schemas.microsoft.com/office/drawing/2014/main" id="{6B8369B0-0A9F-B672-09A3-F75FA9B868AC}"/>
              </a:ext>
            </a:extLst>
          </p:cNvPr>
          <p:cNvSpPr txBox="1"/>
          <p:nvPr/>
        </p:nvSpPr>
        <p:spPr>
          <a:xfrm>
            <a:off x="6398000" y="1243914"/>
            <a:ext cx="5151831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49"/>
              </a:lnSpc>
            </a:pPr>
            <a:r>
              <a:rPr lang="en-US" sz="1000" dirty="0">
                <a:latin typeface="Calibri (Cuerpo)"/>
                <a:ea typeface="Poppins"/>
                <a:cs typeface="Poppins"/>
                <a:sym typeface="Poppins"/>
              </a:rPr>
              <a:t>Crea una </a:t>
            </a:r>
            <a:r>
              <a:rPr lang="en-US" sz="1000" dirty="0" err="1">
                <a:latin typeface="Calibri (Cuerpo)"/>
                <a:ea typeface="Poppins"/>
                <a:cs typeface="Poppins"/>
                <a:sym typeface="Poppins"/>
              </a:rPr>
              <a:t>nueva</a:t>
            </a:r>
            <a:r>
              <a:rPr lang="en-US" sz="1000" dirty="0">
                <a:latin typeface="Calibri (Cuerpo)"/>
                <a:ea typeface="Poppins"/>
                <a:cs typeface="Poppins"/>
                <a:sym typeface="Poppins"/>
              </a:rPr>
              <a:t> base de </a:t>
            </a:r>
            <a:r>
              <a:rPr lang="en-US" sz="1000" dirty="0" err="1">
                <a:latin typeface="Calibri (Cuerpo)"/>
                <a:ea typeface="Poppins"/>
                <a:cs typeface="Poppins"/>
                <a:sym typeface="Poppins"/>
              </a:rPr>
              <a:t>datos</a:t>
            </a:r>
            <a:endParaRPr lang="en-US" sz="1000" dirty="0">
              <a:latin typeface="Calibri (Cuerpo)"/>
              <a:ea typeface="Poppins"/>
              <a:cs typeface="Poppins"/>
              <a:sym typeface="Poppins"/>
            </a:endParaRPr>
          </a:p>
        </p:txBody>
      </p:sp>
      <p:sp>
        <p:nvSpPr>
          <p:cNvPr id="80" name="TextBox 16">
            <a:extLst>
              <a:ext uri="{FF2B5EF4-FFF2-40B4-BE49-F238E27FC236}">
                <a16:creationId xmlns:a16="http://schemas.microsoft.com/office/drawing/2014/main" id="{683DF0A6-6C21-D529-035A-BF83BD1290AA}"/>
              </a:ext>
            </a:extLst>
          </p:cNvPr>
          <p:cNvSpPr txBox="1"/>
          <p:nvPr/>
        </p:nvSpPr>
        <p:spPr>
          <a:xfrm>
            <a:off x="6529864" y="1600803"/>
            <a:ext cx="4888109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49"/>
              </a:lnSpc>
            </a:pPr>
            <a:r>
              <a:rPr lang="en-US" sz="1000" dirty="0">
                <a:solidFill>
                  <a:srgbClr val="C00000"/>
                </a:solidFill>
                <a:latin typeface="Calibri (Cuerpo)"/>
                <a:ea typeface="Consolas"/>
                <a:cs typeface="Consolas"/>
                <a:sym typeface="Consolas"/>
              </a:rPr>
              <a:t>CREATE DATABASE </a:t>
            </a:r>
            <a:r>
              <a:rPr lang="en-US" sz="1000" dirty="0" err="1">
                <a:solidFill>
                  <a:srgbClr val="C00000"/>
                </a:solidFill>
                <a:latin typeface="Calibri (Cuerpo)"/>
                <a:ea typeface="Consolas"/>
                <a:cs typeface="Consolas"/>
                <a:sym typeface="Consolas"/>
              </a:rPr>
              <a:t>escuela</a:t>
            </a:r>
            <a:r>
              <a:rPr lang="en-US" sz="1000" dirty="0">
                <a:solidFill>
                  <a:srgbClr val="C00000"/>
                </a:solidFill>
                <a:latin typeface="Calibri (Cuerpo)"/>
                <a:ea typeface="Consolas"/>
                <a:cs typeface="Consolas"/>
                <a:sym typeface="Consolas"/>
              </a:rPr>
              <a:t>;</a:t>
            </a:r>
          </a:p>
        </p:txBody>
      </p:sp>
      <p:sp>
        <p:nvSpPr>
          <p:cNvPr id="81" name="TextBox 19">
            <a:extLst>
              <a:ext uri="{FF2B5EF4-FFF2-40B4-BE49-F238E27FC236}">
                <a16:creationId xmlns:a16="http://schemas.microsoft.com/office/drawing/2014/main" id="{C8D2C63F-6B65-F999-B159-7EAC171CC394}"/>
              </a:ext>
            </a:extLst>
          </p:cNvPr>
          <p:cNvSpPr txBox="1"/>
          <p:nvPr/>
        </p:nvSpPr>
        <p:spPr>
          <a:xfrm>
            <a:off x="6398000" y="2314576"/>
            <a:ext cx="1974551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7"/>
              </a:lnSpc>
            </a:pPr>
            <a:r>
              <a:rPr lang="en-US" dirty="0">
                <a:latin typeface="Calibri (Cuerpo)"/>
                <a:ea typeface="Arimo"/>
                <a:cs typeface="Arimo"/>
                <a:sym typeface="Arimo"/>
              </a:rPr>
              <a:t>DROP DATABASE</a:t>
            </a:r>
          </a:p>
        </p:txBody>
      </p:sp>
      <p:sp>
        <p:nvSpPr>
          <p:cNvPr id="82" name="TextBox 20">
            <a:extLst>
              <a:ext uri="{FF2B5EF4-FFF2-40B4-BE49-F238E27FC236}">
                <a16:creationId xmlns:a16="http://schemas.microsoft.com/office/drawing/2014/main" id="{68704992-06EB-464C-9D28-8D306559F716}"/>
              </a:ext>
            </a:extLst>
          </p:cNvPr>
          <p:cNvSpPr txBox="1"/>
          <p:nvPr/>
        </p:nvSpPr>
        <p:spPr>
          <a:xfrm>
            <a:off x="6398000" y="2608467"/>
            <a:ext cx="5151831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49"/>
              </a:lnSpc>
            </a:pPr>
            <a:r>
              <a:rPr lang="en-US" sz="1000">
                <a:latin typeface="Calibri (Cuerpo)"/>
                <a:ea typeface="Poppins"/>
                <a:cs typeface="Poppins"/>
                <a:sym typeface="Poppins"/>
              </a:rPr>
              <a:t>Elimina una base de datos existente</a:t>
            </a:r>
          </a:p>
        </p:txBody>
      </p:sp>
      <p:sp>
        <p:nvSpPr>
          <p:cNvPr id="83" name="TextBox 25">
            <a:extLst>
              <a:ext uri="{FF2B5EF4-FFF2-40B4-BE49-F238E27FC236}">
                <a16:creationId xmlns:a16="http://schemas.microsoft.com/office/drawing/2014/main" id="{14A97ECE-CFBD-9A01-9954-B71C757F36A0}"/>
              </a:ext>
            </a:extLst>
          </p:cNvPr>
          <p:cNvSpPr txBox="1"/>
          <p:nvPr/>
        </p:nvSpPr>
        <p:spPr>
          <a:xfrm>
            <a:off x="6529864" y="2965356"/>
            <a:ext cx="4888109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49"/>
              </a:lnSpc>
            </a:pPr>
            <a:r>
              <a:rPr lang="en-US" sz="1000" dirty="0">
                <a:solidFill>
                  <a:srgbClr val="C00000"/>
                </a:solidFill>
                <a:latin typeface="Calibri (Cuerpo)"/>
                <a:ea typeface="Consolas"/>
                <a:cs typeface="Consolas"/>
                <a:sym typeface="Consolas"/>
              </a:rPr>
              <a:t>DROP DATABASE </a:t>
            </a:r>
            <a:r>
              <a:rPr lang="en-US" sz="1000" dirty="0" err="1">
                <a:solidFill>
                  <a:srgbClr val="C00000"/>
                </a:solidFill>
                <a:latin typeface="Calibri (Cuerpo)"/>
                <a:ea typeface="Consolas"/>
                <a:cs typeface="Consolas"/>
                <a:sym typeface="Consolas"/>
              </a:rPr>
              <a:t>escuela</a:t>
            </a:r>
            <a:r>
              <a:rPr lang="en-US" sz="1000" dirty="0">
                <a:solidFill>
                  <a:srgbClr val="C00000"/>
                </a:solidFill>
                <a:latin typeface="Calibri (Cuerpo)"/>
                <a:ea typeface="Consolas"/>
                <a:cs typeface="Consolas"/>
                <a:sym typeface="Consolas"/>
              </a:rPr>
              <a:t>;</a:t>
            </a:r>
          </a:p>
        </p:txBody>
      </p:sp>
      <p:sp>
        <p:nvSpPr>
          <p:cNvPr id="84" name="TextBox 37">
            <a:extLst>
              <a:ext uri="{FF2B5EF4-FFF2-40B4-BE49-F238E27FC236}">
                <a16:creationId xmlns:a16="http://schemas.microsoft.com/office/drawing/2014/main" id="{7189B44F-92FB-84B3-3A4A-29FD526AB422}"/>
              </a:ext>
            </a:extLst>
          </p:cNvPr>
          <p:cNvSpPr txBox="1"/>
          <p:nvPr/>
        </p:nvSpPr>
        <p:spPr>
          <a:xfrm>
            <a:off x="6458887" y="4922406"/>
            <a:ext cx="1974551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7"/>
              </a:lnSpc>
            </a:pPr>
            <a:r>
              <a:rPr lang="en-US" dirty="0">
                <a:latin typeface="Calibri (Cuerpo)"/>
                <a:ea typeface="Arimo"/>
                <a:cs typeface="Arimo"/>
                <a:sym typeface="Arimo"/>
              </a:rPr>
              <a:t>USE DATABASE</a:t>
            </a:r>
          </a:p>
        </p:txBody>
      </p:sp>
      <p:sp>
        <p:nvSpPr>
          <p:cNvPr id="85" name="TextBox 38">
            <a:extLst>
              <a:ext uri="{FF2B5EF4-FFF2-40B4-BE49-F238E27FC236}">
                <a16:creationId xmlns:a16="http://schemas.microsoft.com/office/drawing/2014/main" id="{F44091E0-D777-FFE3-CF27-7B187F15EE96}"/>
              </a:ext>
            </a:extLst>
          </p:cNvPr>
          <p:cNvSpPr txBox="1"/>
          <p:nvPr/>
        </p:nvSpPr>
        <p:spPr>
          <a:xfrm>
            <a:off x="6458887" y="5216290"/>
            <a:ext cx="5151831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49"/>
              </a:lnSpc>
            </a:pPr>
            <a:r>
              <a:rPr lang="en-US" sz="1000">
                <a:latin typeface="Calibri (Cuerpo)"/>
                <a:ea typeface="Poppins"/>
                <a:cs typeface="Poppins"/>
                <a:sym typeface="Poppins"/>
              </a:rPr>
              <a:t>Seleccionar base de trabajo</a:t>
            </a:r>
          </a:p>
        </p:txBody>
      </p:sp>
      <p:sp>
        <p:nvSpPr>
          <p:cNvPr id="86" name="TextBox 43">
            <a:extLst>
              <a:ext uri="{FF2B5EF4-FFF2-40B4-BE49-F238E27FC236}">
                <a16:creationId xmlns:a16="http://schemas.microsoft.com/office/drawing/2014/main" id="{573796CE-B19D-5B23-DC26-B0E198E59A92}"/>
              </a:ext>
            </a:extLst>
          </p:cNvPr>
          <p:cNvSpPr txBox="1"/>
          <p:nvPr/>
        </p:nvSpPr>
        <p:spPr>
          <a:xfrm>
            <a:off x="6590751" y="5573179"/>
            <a:ext cx="4888109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49"/>
              </a:lnSpc>
            </a:pPr>
            <a:r>
              <a:rPr lang="en-US" sz="1000" dirty="0">
                <a:solidFill>
                  <a:srgbClr val="C00000"/>
                </a:solidFill>
                <a:latin typeface="Calibri (Cuerpo)"/>
                <a:ea typeface="Consolas"/>
                <a:cs typeface="Consolas"/>
                <a:sym typeface="Consolas"/>
              </a:rPr>
              <a:t>USE </a:t>
            </a:r>
            <a:r>
              <a:rPr lang="en-US" sz="1000" dirty="0" err="1">
                <a:solidFill>
                  <a:srgbClr val="C00000"/>
                </a:solidFill>
                <a:latin typeface="Calibri (Cuerpo)"/>
                <a:ea typeface="Consolas"/>
                <a:cs typeface="Consolas"/>
                <a:sym typeface="Consolas"/>
              </a:rPr>
              <a:t>escuela</a:t>
            </a:r>
            <a:r>
              <a:rPr lang="en-US" sz="1000" dirty="0">
                <a:solidFill>
                  <a:srgbClr val="C00000"/>
                </a:solidFill>
                <a:latin typeface="Calibri (Cuerpo)"/>
                <a:ea typeface="Consolas"/>
                <a:cs typeface="Consolas"/>
                <a:sym typeface="Consolas"/>
              </a:rPr>
              <a:t>;</a:t>
            </a:r>
          </a:p>
        </p:txBody>
      </p:sp>
      <p:sp>
        <p:nvSpPr>
          <p:cNvPr id="87" name="TextBox 28">
            <a:extLst>
              <a:ext uri="{FF2B5EF4-FFF2-40B4-BE49-F238E27FC236}">
                <a16:creationId xmlns:a16="http://schemas.microsoft.com/office/drawing/2014/main" id="{994405BC-99CD-D37C-8003-8F1A165D0186}"/>
              </a:ext>
            </a:extLst>
          </p:cNvPr>
          <p:cNvSpPr txBox="1"/>
          <p:nvPr/>
        </p:nvSpPr>
        <p:spPr>
          <a:xfrm>
            <a:off x="6398000" y="3566535"/>
            <a:ext cx="1974551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7"/>
              </a:lnSpc>
            </a:pPr>
            <a:r>
              <a:rPr lang="en-US" dirty="0">
                <a:latin typeface="Calibri (Cuerpo)"/>
                <a:ea typeface="Arimo"/>
                <a:cs typeface="Arimo"/>
                <a:sym typeface="Arimo"/>
              </a:rPr>
              <a:t>SHOW DATABASES</a:t>
            </a:r>
          </a:p>
        </p:txBody>
      </p:sp>
      <p:sp>
        <p:nvSpPr>
          <p:cNvPr id="88" name="TextBox 29">
            <a:extLst>
              <a:ext uri="{FF2B5EF4-FFF2-40B4-BE49-F238E27FC236}">
                <a16:creationId xmlns:a16="http://schemas.microsoft.com/office/drawing/2014/main" id="{0B953829-5B9B-7FFB-8773-F81DFC1A311A}"/>
              </a:ext>
            </a:extLst>
          </p:cNvPr>
          <p:cNvSpPr txBox="1"/>
          <p:nvPr/>
        </p:nvSpPr>
        <p:spPr>
          <a:xfrm>
            <a:off x="6398000" y="3860419"/>
            <a:ext cx="5151831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49"/>
              </a:lnSpc>
            </a:pPr>
            <a:r>
              <a:rPr lang="en-US" sz="1000">
                <a:latin typeface="Calibri (Cuerpo)"/>
                <a:ea typeface="Poppins"/>
                <a:cs typeface="Poppins"/>
                <a:sym typeface="Poppins"/>
              </a:rPr>
              <a:t>Listar todas las bases disponibles</a:t>
            </a:r>
          </a:p>
        </p:txBody>
      </p:sp>
      <p:sp>
        <p:nvSpPr>
          <p:cNvPr id="89" name="TextBox 34">
            <a:extLst>
              <a:ext uri="{FF2B5EF4-FFF2-40B4-BE49-F238E27FC236}">
                <a16:creationId xmlns:a16="http://schemas.microsoft.com/office/drawing/2014/main" id="{7933D3E2-6B28-343D-E370-AAA07605BD5B}"/>
              </a:ext>
            </a:extLst>
          </p:cNvPr>
          <p:cNvSpPr txBox="1"/>
          <p:nvPr/>
        </p:nvSpPr>
        <p:spPr>
          <a:xfrm>
            <a:off x="6529864" y="4217308"/>
            <a:ext cx="4888109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49"/>
              </a:lnSpc>
            </a:pPr>
            <a:r>
              <a:rPr lang="en-US" sz="1000" dirty="0">
                <a:solidFill>
                  <a:srgbClr val="C00000"/>
                </a:solidFill>
                <a:latin typeface="Calibri (Cuerpo)"/>
                <a:ea typeface="Consolas"/>
                <a:cs typeface="Consolas"/>
                <a:sym typeface="Consolas"/>
              </a:rPr>
              <a:t>SHOW DATABASES;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305611" y="1902655"/>
            <a:ext cx="2299259" cy="2119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99"/>
              </a:lnSpc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Uso en Empresas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01589" y="4215750"/>
            <a:ext cx="2535479" cy="2119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99"/>
              </a:lnSpc>
            </a:pP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Aprendizajes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libri (Cuerpo)"/>
                <a:ea typeface="Arimo"/>
                <a:cs typeface="Arimo"/>
                <a:sym typeface="Arimo"/>
              </a:rPr>
              <a:t> Clave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30707" y="3178074"/>
            <a:ext cx="3090736" cy="3090736"/>
            <a:chOff x="1485900" y="2118846"/>
            <a:chExt cx="6181472" cy="6181472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1485900" y="2118846"/>
              <a:ext cx="6181472" cy="6181472"/>
            </a:xfrm>
            <a:custGeom>
              <a:avLst/>
              <a:gdLst/>
              <a:ahLst/>
              <a:cxnLst/>
              <a:rect l="l" t="t" r="r" b="b"/>
              <a:pathLst>
                <a:path w="6181471" h="6181471">
                  <a:moveTo>
                    <a:pt x="0" y="0"/>
                  </a:moveTo>
                  <a:lnTo>
                    <a:pt x="6181471" y="0"/>
                  </a:lnTo>
                  <a:lnTo>
                    <a:pt x="6181471" y="6181471"/>
                  </a:lnTo>
                  <a:lnTo>
                    <a:pt x="0" y="6181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C7BA4721-0D4F-79EB-E998-14BCB065AA14}"/>
              </a:ext>
            </a:extLst>
          </p:cNvPr>
          <p:cNvSpPr txBox="1"/>
          <p:nvPr/>
        </p:nvSpPr>
        <p:spPr>
          <a:xfrm>
            <a:off x="1113511" y="2096520"/>
            <a:ext cx="6096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MX" sz="1400" dirty="0"/>
              <a:t>Los SGBD son el corazón de los sistemas empresariales modernos.</a:t>
            </a:r>
            <a:br>
              <a:rPr lang="es-MX" sz="1400" dirty="0"/>
            </a:br>
            <a:r>
              <a:rPr lang="es-MX" sz="1400" dirty="0"/>
              <a:t>Gestionan información crítica en bancos, e-</a:t>
            </a:r>
            <a:r>
              <a:rPr lang="es-MX" sz="1400" dirty="0" err="1"/>
              <a:t>commerce</a:t>
            </a:r>
            <a:r>
              <a:rPr lang="es-MX" sz="1400" dirty="0"/>
              <a:t>, sistemas de salud, redes sociales y aplicaciones móviles.</a:t>
            </a:r>
          </a:p>
          <a:p>
            <a:pPr algn="just">
              <a:buNone/>
            </a:pPr>
            <a:r>
              <a:rPr lang="es-MX" sz="1400" dirty="0"/>
              <a:t>Sistemas como Oracle y SQL Server gestionan grandes volúmenes de datos transaccionales, mientras que MySQL y PostgreSQL dominan el ecosistema web.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81F414E-D7A5-38CC-8E5A-0F05DAAA3586}"/>
              </a:ext>
            </a:extLst>
          </p:cNvPr>
          <p:cNvSpPr txBox="1"/>
          <p:nvPr/>
        </p:nvSpPr>
        <p:spPr>
          <a:xfrm>
            <a:off x="4438639" y="4496983"/>
            <a:ext cx="421225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sz="1400" dirty="0"/>
              <a:t>Comprensión de la arquitectura de capas del SGBD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400" dirty="0"/>
              <a:t>Gestión eficiente de memoria y procesos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400" dirty="0"/>
              <a:t>Instalación y configuración profesional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400" dirty="0"/>
              <a:t>Manejo de comandos SQL básicos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400" dirty="0"/>
              <a:t>Importancia de la estructura física 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5F09971-0267-1A0C-5251-227092659259}"/>
              </a:ext>
            </a:extLst>
          </p:cNvPr>
          <p:cNvSpPr txBox="1"/>
          <p:nvPr/>
        </p:nvSpPr>
        <p:spPr>
          <a:xfrm>
            <a:off x="7676464" y="731645"/>
            <a:ext cx="36582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90%</a:t>
            </a:r>
            <a:br>
              <a:rPr lang="es-MX" dirty="0"/>
            </a:br>
            <a:r>
              <a:rPr lang="es-MX" dirty="0"/>
              <a:t>Aplicaciones empresariales</a:t>
            </a:r>
            <a:br>
              <a:rPr lang="es-MX" dirty="0"/>
            </a:br>
            <a:r>
              <a:rPr lang="es-MX" dirty="0"/>
              <a:t>Usan SGBD para gestión de datos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F536CC2A-EAD9-2A51-1088-59DEB8B6EC57}"/>
              </a:ext>
            </a:extLst>
          </p:cNvPr>
          <p:cNvSpPr txBox="1"/>
          <p:nvPr/>
        </p:nvSpPr>
        <p:spPr>
          <a:xfrm>
            <a:off x="7676464" y="1824327"/>
            <a:ext cx="36582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24/7</a:t>
            </a:r>
            <a:br>
              <a:rPr lang="es-MX" dirty="0"/>
            </a:br>
            <a:r>
              <a:rPr lang="es-MX" dirty="0"/>
              <a:t>Disponibilidad</a:t>
            </a:r>
            <a:br>
              <a:rPr lang="es-MX" dirty="0"/>
            </a:br>
            <a:r>
              <a:rPr lang="es-MX" dirty="0"/>
              <a:t>Requerida en sistemas críticos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7314A0CD-EE77-3909-9752-8873ED171023}"/>
              </a:ext>
            </a:extLst>
          </p:cNvPr>
          <p:cNvSpPr txBox="1"/>
          <p:nvPr/>
        </p:nvSpPr>
        <p:spPr>
          <a:xfrm>
            <a:off x="7637068" y="2828835"/>
            <a:ext cx="33242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100%</a:t>
            </a:r>
            <a:br>
              <a:rPr lang="es-MX" dirty="0"/>
            </a:br>
            <a:r>
              <a:rPr lang="es-MX" dirty="0"/>
              <a:t>Integridad</a:t>
            </a:r>
            <a:br>
              <a:rPr lang="es-MX" dirty="0"/>
            </a:br>
            <a:r>
              <a:rPr lang="es-MX" dirty="0"/>
              <a:t>Garantizada por transacciones ACID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A6F8D31-2A24-EF7A-85B2-B7FF7B3B6EF2}"/>
              </a:ext>
            </a:extLst>
          </p:cNvPr>
          <p:cNvSpPr txBox="1"/>
          <p:nvPr/>
        </p:nvSpPr>
        <p:spPr>
          <a:xfrm>
            <a:off x="1113511" y="151373"/>
            <a:ext cx="663230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 err="1">
                <a:solidFill>
                  <a:schemeClr val="accent1">
                    <a:lumMod val="75000"/>
                  </a:schemeClr>
                </a:solidFill>
                <a:latin typeface="Calibri (titulo)"/>
                <a:ea typeface="Arimo"/>
                <a:cs typeface="Arimo"/>
                <a:sym typeface="Arimo"/>
              </a:rPr>
              <a:t>Aplicación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Calibri (titulo)"/>
                <a:ea typeface="Arimo"/>
                <a:cs typeface="Arimo"/>
                <a:sym typeface="Arimo"/>
              </a:rPr>
              <a:t> en Sistemas </a:t>
            </a:r>
            <a:r>
              <a:rPr lang="en-US" sz="4400" dirty="0" err="1">
                <a:solidFill>
                  <a:schemeClr val="accent1">
                    <a:lumMod val="75000"/>
                  </a:schemeClr>
                </a:solidFill>
                <a:latin typeface="Calibri (titulo)"/>
                <a:ea typeface="Arimo"/>
                <a:cs typeface="Arimo"/>
                <a:sym typeface="Arimo"/>
              </a:rPr>
              <a:t>Modernos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Calibri (titulo)"/>
                <a:ea typeface="Arimo"/>
                <a:cs typeface="Arimo"/>
                <a:sym typeface="Arimo"/>
              </a:rPr>
              <a:t> y </a:t>
            </a:r>
            <a:r>
              <a:rPr lang="en-US" sz="4400" dirty="0" err="1">
                <a:solidFill>
                  <a:schemeClr val="accent1">
                    <a:lumMod val="75000"/>
                  </a:schemeClr>
                </a:solidFill>
                <a:latin typeface="Calibri (titulo)"/>
                <a:ea typeface="Arimo"/>
                <a:cs typeface="Arimo"/>
                <a:sym typeface="Arimo"/>
              </a:rPr>
              <a:t>Conclusiones</a:t>
            </a:r>
            <a:endParaRPr lang="en-US" sz="4400" dirty="0">
              <a:solidFill>
                <a:schemeClr val="accent1">
                  <a:lumMod val="75000"/>
                </a:schemeClr>
              </a:solidFill>
              <a:latin typeface="Calibri (titulo)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56F1CB-6CE9-C255-CC88-AC117A7CD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5207BCB-66B8-2C66-B5D1-6F02A67B2F5D}"/>
              </a:ext>
            </a:extLst>
          </p:cNvPr>
          <p:cNvSpPr txBox="1"/>
          <p:nvPr/>
        </p:nvSpPr>
        <p:spPr>
          <a:xfrm>
            <a:off x="1152940" y="54420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400" dirty="0">
                <a:solidFill>
                  <a:schemeClr val="accent1"/>
                </a:solidFill>
              </a:rPr>
              <a:t>Conclusión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55F5DFE-97D1-FEAC-3384-66BB6603E5B7}"/>
              </a:ext>
            </a:extLst>
          </p:cNvPr>
          <p:cNvSpPr txBox="1"/>
          <p:nvPr/>
        </p:nvSpPr>
        <p:spPr>
          <a:xfrm>
            <a:off x="1152940" y="2026360"/>
            <a:ext cx="966083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MX" sz="2000" dirty="0"/>
              <a:t>Los Sistemas Gestores de Bases de Datos (SGBD) son fundamentales en los sistemas modernos, ya que permiten almacenar, organizar y gestionar grandes volúmenes de información de forma segura y eficiente.</a:t>
            </a:r>
          </a:p>
          <a:p>
            <a:pPr algn="just">
              <a:buNone/>
            </a:pPr>
            <a:r>
              <a:rPr lang="es-MX" sz="2000" dirty="0"/>
              <a:t>Comprender su arquitectura, así como el proceso de instalación y configuración, es esencial para garantizar el correcto funcionamiento, el rendimiento y la integridad de los datos en cualquier entorno.</a:t>
            </a:r>
          </a:p>
        </p:txBody>
      </p:sp>
    </p:spTree>
    <p:extLst>
      <p:ext uri="{BB962C8B-B14F-4D97-AF65-F5344CB8AC3E}">
        <p14:creationId xmlns:p14="http://schemas.microsoft.com/office/powerpoint/2010/main" val="2788755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019303E-945F-66A9-9609-79FF11D41637}"/>
              </a:ext>
            </a:extLst>
          </p:cNvPr>
          <p:cNvSpPr txBox="1"/>
          <p:nvPr/>
        </p:nvSpPr>
        <p:spPr>
          <a:xfrm>
            <a:off x="1610139" y="744229"/>
            <a:ext cx="777198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400" b="1" dirty="0">
                <a:solidFill>
                  <a:schemeClr val="accent1"/>
                </a:solidFill>
              </a:rPr>
              <a:t>FUENTE DE INFORMACION</a:t>
            </a:r>
            <a:endParaRPr lang="es-MX" sz="4400" dirty="0">
              <a:solidFill>
                <a:schemeClr val="accent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D3DB2E-19F1-7F37-8314-662DC2FA1201}"/>
              </a:ext>
            </a:extLst>
          </p:cNvPr>
          <p:cNvSpPr txBox="1"/>
          <p:nvPr/>
        </p:nvSpPr>
        <p:spPr>
          <a:xfrm>
            <a:off x="790990" y="1673935"/>
            <a:ext cx="966083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s-MX" sz="2000" dirty="0"/>
              <a:t>Aquino Villanueva, R. (2026). ABD-E-J-26. GitHub. </a:t>
            </a:r>
            <a:r>
              <a:rPr lang="es-MX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https://github.com/rafaelrav8770/ABD-E-J-26.git</a:t>
            </a:r>
            <a:endParaRPr lang="es-MX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MX" sz="2000" dirty="0"/>
              <a:t>Hostinger Tutoriales — Explicación clara de qué es un SGBD, tipos (MySQL, PostgreSQL, Oracle) y arquitectura cliente-servidor. 🔗 </a:t>
            </a:r>
            <a:r>
              <a:rPr lang="es-MX" sz="20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https://www.hostinger.com/mx/tutoriales/sgbd</a:t>
            </a:r>
            <a:r>
              <a:rPr lang="es-MX" sz="2000" dirty="0"/>
              <a:t> NAPS Tecnología y Educación —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MX" sz="2000" dirty="0"/>
              <a:t>Descripción detallada de la arquitectura de un SGBD con componentes como gestor de memoria intermedia, gestor de transacciones y procesador de consultas. 🔗 </a:t>
            </a:r>
            <a:r>
              <a:rPr lang="es-MX" sz="2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https://naps.com.mx/blog/arquitectura-de-un-sistema-gestor-de-bases-de-datos/</a:t>
            </a:r>
            <a:r>
              <a:rPr lang="es-MX" sz="2000" dirty="0"/>
              <a:t> ITCA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MX" sz="2000" dirty="0"/>
              <a:t>El Salvador (Virtual) — Explicación académica del SGBD, DDL, DML y estructura de esquemas. Muy útil para el tema de arquitectura de capas. 🔗 </a:t>
            </a:r>
            <a:r>
              <a:rPr lang="es-MX" sz="20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https://virtual.itca.edu.sv/Mediadores/dbd/u2/11_arquitectura_del_sgbd.html</a:t>
            </a:r>
            <a:r>
              <a:rPr lang="es-MX" sz="2000" dirty="0"/>
              <a:t> </a:t>
            </a:r>
            <a:r>
              <a:rPr lang="es-MX" sz="2000" dirty="0" err="1"/>
              <a:t>Dongee</a:t>
            </a:r>
            <a:r>
              <a:rPr lang="es-MX" sz="2000" dirty="0"/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MX" sz="2000" dirty="0"/>
              <a:t>Tutoriales — Guía sobre mejores prácticas y estrategias modernas en arquitectura de SGBD enfocada en entornos empresariales. 🔗 </a:t>
            </a:r>
            <a:r>
              <a:rPr lang="es-MX" sz="20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https://www.dongee.com/tutoriales/arquitectura-de-sistemas-gestores-de-bases-de-datos/</a:t>
            </a: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1003356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1503</TotalTime>
  <Words>1385</Words>
  <Application>Microsoft Office PowerPoint</Application>
  <PresentationFormat>Panorámica</PresentationFormat>
  <Paragraphs>167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5" baseType="lpstr">
      <vt:lpstr>Arial</vt:lpstr>
      <vt:lpstr>Arimo</vt:lpstr>
      <vt:lpstr>Calibri</vt:lpstr>
      <vt:lpstr>Calibri (Cuerpo)</vt:lpstr>
      <vt:lpstr>Calibri (titulo)</vt:lpstr>
      <vt:lpstr>Calibri Light</vt:lpstr>
      <vt:lpstr>Poppins</vt:lpstr>
      <vt:lpstr>Poppins Bold</vt:lpstr>
      <vt:lpstr>Wingdings</vt:lpstr>
      <vt:lpstr>Tema de Office</vt:lpstr>
      <vt:lpstr>Presentación de PowerPoint</vt:lpstr>
      <vt:lpstr>Presentación de PowerPoint</vt:lpstr>
      <vt:lpstr>INTRODUCCION</vt:lpstr>
      <vt:lpstr>justificación</vt:lpstr>
      <vt:lpstr>¿Qué es un SGBD?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aquino villanueva</dc:creator>
  <cp:lastModifiedBy>rafael aquino villanueva</cp:lastModifiedBy>
  <cp:revision>35</cp:revision>
  <dcterms:created xsi:type="dcterms:W3CDTF">2026-02-14T13:39:49Z</dcterms:created>
  <dcterms:modified xsi:type="dcterms:W3CDTF">2026-05-30T05:22:58Z</dcterms:modified>
</cp:coreProperties>
</file>