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8" r:id="rId4"/>
    <p:sldId id="303" r:id="rId5"/>
    <p:sldId id="355" r:id="rId6"/>
    <p:sldId id="361" r:id="rId7"/>
    <p:sldId id="356" r:id="rId8"/>
    <p:sldId id="357" r:id="rId9"/>
    <p:sldId id="358" r:id="rId10"/>
    <p:sldId id="343" r:id="rId11"/>
    <p:sldId id="359" r:id="rId12"/>
    <p:sldId id="260" r:id="rId13"/>
    <p:sldId id="318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faelrav8770/ABD-E-J-26.git" TargetMode="External"/><Relationship Id="rId2" Type="http://schemas.openxmlformats.org/officeDocument/2006/relationships/hyperlink" Target="https://youtu.be/t0D4OPcugy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19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ADMINISTRACION DE BASE DE DATOS 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2.3 –</a:t>
            </a:r>
            <a:r>
              <a:rPr lang="es-MX" sz="2000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BANCO DE EJERCICIO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76835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SEXTO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07 DE </a:t>
            </a:r>
            <a:r>
              <a:rPr lang="es-MX" sz="2000" b="1" ker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MAY</a:t>
            </a:r>
            <a:r>
              <a:rPr lang="es-MX" sz="2000" b="1" ker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52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Introducción</a:t>
            </a:r>
          </a:p>
          <a:p>
            <a:pPr marL="0" indent="0" algn="just">
              <a:buNone/>
            </a:pPr>
            <a:r>
              <a:rPr lang="es-MX" dirty="0"/>
              <a:t>En el presente banco de ejercicios se realizaron diferentes actividades prácticas relacionadas con la administración de bases de datos y microservicios utilizando Spring Boot. Los ejercicios permitieron aplicar conocimientos sobre creación de índices, operaciones CRUD, respaldo y recuperación de bases de datos, así como pruebas de funcionamiento de los microservicios desarrollados.</a:t>
            </a:r>
          </a:p>
        </p:txBody>
      </p:sp>
    </p:spTree>
    <p:extLst>
      <p:ext uri="{BB962C8B-B14F-4D97-AF65-F5344CB8AC3E}">
        <p14:creationId xmlns:p14="http://schemas.microsoft.com/office/powerpoint/2010/main" val="21603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F6C57-A8B1-DC96-5869-560383E7A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s-MX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Objetivo</a:t>
            </a:r>
          </a:p>
          <a:p>
            <a:pPr marL="0" indent="0" algn="just">
              <a:buNone/>
            </a:pPr>
            <a:r>
              <a:rPr lang="es-MX" dirty="0"/>
              <a:t>Aplicar ejercicios prácticos relacionados con administración de bases de datos y microservicios para fortalecer el manejo de consultas, optimización, respaldo y funcionamiento de servicios distribuidos.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9266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3867A-3E04-8632-141B-8C5FDD171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800" b="1" dirty="0" err="1">
                <a:solidFill>
                  <a:schemeClr val="accent1"/>
                </a:solidFill>
              </a:rPr>
              <a:t>justificacion</a:t>
            </a:r>
            <a:endParaRPr lang="es-MX" sz="4800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EA835B-7257-6BC0-9849-98A1416C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La realización de ejercicios prácticos permite comprender el funcionamiento interno de los sistemas gestores de bases de datos y la interacción de los microservicios con las bases de datos relacionales, fortaleciendo habilidades técnicas para el desarrollo de sistemas modernos.</a:t>
            </a: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2723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94B19-0EA2-F1C3-6F2D-6394D08A8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1 — Creación de bases de datos en </a:t>
            </a:r>
            <a:r>
              <a:rPr lang="es-MX" sz="4800" b="1" dirty="0" err="1">
                <a:solidFill>
                  <a:schemeClr val="accent1"/>
                </a:solidFill>
              </a:rPr>
              <a:t>mysql</a:t>
            </a:r>
            <a:endParaRPr lang="es-MX" sz="4800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194718-8F8A-17FD-0DAB-8C9F2BE72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Se realizó la creación de las bases de datos </a:t>
            </a:r>
            <a:r>
              <a:rPr lang="es-MX" dirty="0" err="1"/>
              <a:t>studentdb</a:t>
            </a:r>
            <a:r>
              <a:rPr lang="es-MX" dirty="0"/>
              <a:t> para almacenar la información utilizada por los microservicios Student.</a:t>
            </a:r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BCB139-6286-9DC4-17DF-53477138A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3295650"/>
            <a:ext cx="4524800" cy="254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6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4053F-1182-5AF6-B661-9636E5F19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2 — verificación de la base de datos Student en </a:t>
            </a:r>
            <a:r>
              <a:rPr lang="es-MX" sz="4800" b="1" dirty="0" err="1">
                <a:solidFill>
                  <a:schemeClr val="accent1"/>
                </a:solidFill>
              </a:rPr>
              <a:t>mysql</a:t>
            </a:r>
            <a:endParaRPr lang="es-MX" sz="4800" b="1" dirty="0">
              <a:solidFill>
                <a:schemeClr val="accent1"/>
              </a:solidFill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C6E7755-10A8-479B-45E3-5B61DAE3F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9988" y="2200275"/>
            <a:ext cx="5952068" cy="334803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B906309-768F-7B66-2091-2191718D3CB8}"/>
              </a:ext>
            </a:extLst>
          </p:cNvPr>
          <p:cNvSpPr txBox="1"/>
          <p:nvPr/>
        </p:nvSpPr>
        <p:spPr>
          <a:xfrm>
            <a:off x="904875" y="2828835"/>
            <a:ext cx="38576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Verificación de la tabla </a:t>
            </a:r>
            <a:r>
              <a:rPr lang="es-MX" dirty="0" err="1"/>
              <a:t>students</a:t>
            </a:r>
            <a:r>
              <a:rPr lang="es-MX" dirty="0"/>
              <a:t> en MySQL </a:t>
            </a:r>
            <a:r>
              <a:rPr lang="es-MX" dirty="0" err="1"/>
              <a:t>Workbench</a:t>
            </a:r>
            <a:r>
              <a:rPr lang="es-MX" dirty="0"/>
              <a:t> mediante la consulta SELECT * FROM </a:t>
            </a:r>
            <a:r>
              <a:rPr lang="es-MX" dirty="0" err="1"/>
              <a:t>students</a:t>
            </a:r>
            <a:r>
              <a:rPr lang="es-MX" dirty="0"/>
              <a:t>;, mostrando los registros almacenados correctamente en la base de datos </a:t>
            </a:r>
            <a:r>
              <a:rPr lang="es-MX" dirty="0" err="1"/>
              <a:t>studentdb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1449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1792E-F0D7-60B0-EB82-58A2727A3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3 — Creación de bases de datos en PostgreSQL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AF3A62F-3D75-0081-7AFE-6B8308682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238005"/>
            <a:ext cx="4704863" cy="254489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374EEE5-D5B9-4C86-560B-389001321DFD}"/>
              </a:ext>
            </a:extLst>
          </p:cNvPr>
          <p:cNvSpPr txBox="1"/>
          <p:nvPr/>
        </p:nvSpPr>
        <p:spPr>
          <a:xfrm>
            <a:off x="1257300" y="1636217"/>
            <a:ext cx="98580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2800" dirty="0"/>
              <a:t>Se realizó la creación de las bases de datos </a:t>
            </a:r>
            <a:r>
              <a:rPr lang="es-MX" sz="2800" dirty="0" err="1"/>
              <a:t>course</a:t>
            </a:r>
            <a:r>
              <a:rPr lang="es-MX" sz="2800" dirty="0"/>
              <a:t> para almacenar la información utilizada por los microservicios </a:t>
            </a:r>
            <a:r>
              <a:rPr lang="es-MX" sz="2800" dirty="0" err="1"/>
              <a:t>course</a:t>
            </a:r>
            <a:r>
              <a:rPr lang="es-MX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1845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8A5CF-414E-BFA3-B47D-EC4C9E32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4 — verificación de la base de datos </a:t>
            </a:r>
            <a:r>
              <a:rPr lang="es-MX" sz="4800" b="1" dirty="0" err="1">
                <a:solidFill>
                  <a:schemeClr val="accent1"/>
                </a:solidFill>
              </a:rPr>
              <a:t>course</a:t>
            </a:r>
            <a:r>
              <a:rPr lang="es-MX" sz="4800" b="1" dirty="0">
                <a:solidFill>
                  <a:schemeClr val="accent1"/>
                </a:solidFill>
              </a:rPr>
              <a:t> en PostgreSQL</a:t>
            </a:r>
          </a:p>
        </p:txBody>
      </p:sp>
      <p:pic>
        <p:nvPicPr>
          <p:cNvPr id="8" name="Marcador de contenido 3">
            <a:extLst>
              <a:ext uri="{FF2B5EF4-FFF2-40B4-BE49-F238E27FC236}">
                <a16:creationId xmlns:a16="http://schemas.microsoft.com/office/drawing/2014/main" id="{2C77A373-DA0E-D0E1-AD9D-DF55FBF639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E18A64E-548F-12D0-E1AF-912614E377A3}"/>
              </a:ext>
            </a:extLst>
          </p:cNvPr>
          <p:cNvSpPr txBox="1"/>
          <p:nvPr/>
        </p:nvSpPr>
        <p:spPr>
          <a:xfrm>
            <a:off x="753532" y="2954070"/>
            <a:ext cx="39899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Consulta realizada en </a:t>
            </a:r>
            <a:r>
              <a:rPr lang="es-MX" dirty="0" err="1"/>
              <a:t>pgAdmin</a:t>
            </a:r>
            <a:r>
              <a:rPr lang="es-MX" dirty="0"/>
              <a:t> 4 utilizando PostgreSQL para verificar la estructura y contenido de la tabla </a:t>
            </a:r>
            <a:r>
              <a:rPr lang="es-MX" dirty="0" err="1"/>
              <a:t>courses</a:t>
            </a:r>
            <a:r>
              <a:rPr lang="es-MX" dirty="0"/>
              <a:t> perteneciente a la base de datos </a:t>
            </a:r>
            <a:r>
              <a:rPr lang="es-MX" dirty="0" err="1"/>
              <a:t>coursedb</a:t>
            </a:r>
            <a:r>
              <a:rPr lang="es-MX" dirty="0"/>
              <a:t>, comprobando la correcta inserción de registros del microservicio Course.</a:t>
            </a:r>
          </a:p>
        </p:txBody>
      </p:sp>
    </p:spTree>
    <p:extLst>
      <p:ext uri="{BB962C8B-B14F-4D97-AF65-F5344CB8AC3E}">
        <p14:creationId xmlns:p14="http://schemas.microsoft.com/office/powerpoint/2010/main" val="3502112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9EFE1-7C6B-2144-628B-A959480EF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5 — Funcionamiento de Eureka Server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53A4EFD-A844-DAE6-7847-A271AD1E2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447924"/>
            <a:ext cx="4885268" cy="274796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F7E28DA-C29B-DC6B-8341-761F80E4268A}"/>
              </a:ext>
            </a:extLst>
          </p:cNvPr>
          <p:cNvSpPr txBox="1"/>
          <p:nvPr/>
        </p:nvSpPr>
        <p:spPr>
          <a:xfrm>
            <a:off x="1038225" y="2898575"/>
            <a:ext cx="4457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Panel principal de Eureka Server mostrando el registro y estado activo de los microservicios que conforman la arquitectura distribuida. En http://localhost:8761</a:t>
            </a:r>
          </a:p>
        </p:txBody>
      </p:sp>
    </p:spTree>
    <p:extLst>
      <p:ext uri="{BB962C8B-B14F-4D97-AF65-F5344CB8AC3E}">
        <p14:creationId xmlns:p14="http://schemas.microsoft.com/office/powerpoint/2010/main" val="4044673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CB4AA-3990-E5FE-9520-1ABF3B59C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6 — prueba GET Course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9B1A328-68B7-4445-631F-142992386F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5888" y="2276474"/>
            <a:ext cx="6002868" cy="337661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7E87895-A54A-1825-4595-B1C9E2ACA55A}"/>
              </a:ext>
            </a:extLst>
          </p:cNvPr>
          <p:cNvSpPr txBox="1"/>
          <p:nvPr/>
        </p:nvSpPr>
        <p:spPr>
          <a:xfrm>
            <a:off x="1123244" y="2096869"/>
            <a:ext cx="3352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Prueba  del </a:t>
            </a:r>
            <a:r>
              <a:rPr lang="es-MX" dirty="0" err="1"/>
              <a:t>endpoint</a:t>
            </a:r>
            <a:r>
              <a:rPr lang="es-MX" dirty="0"/>
              <a:t> GET del microservicio Course mediante navegador web, mostrando la respuesta con los registros almacenados en la base de datos PostgreSQL. La consulta se realizó a través de la URL http://localhost:8765/api/course/all, verificando la correcta comunicación entre el microservicio, el API Gateway y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2601134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DA9B3D-35B0-C2FC-6699-55C22472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7 — prueba GET </a:t>
            </a:r>
            <a:r>
              <a:rPr lang="es-MX" sz="4800" b="1" dirty="0" err="1">
                <a:solidFill>
                  <a:schemeClr val="accent1"/>
                </a:solidFill>
              </a:rPr>
              <a:t>student</a:t>
            </a:r>
            <a:endParaRPr lang="es-MX" sz="4800" b="1" dirty="0">
              <a:solidFill>
                <a:schemeClr val="accent1"/>
              </a:solidFill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1E2A526-4879-920C-B758-79C2A2BE1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2206" y="2590640"/>
            <a:ext cx="5797410" cy="326104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75C28A7-DE18-F658-0353-8C561DB02123}"/>
              </a:ext>
            </a:extLst>
          </p:cNvPr>
          <p:cNvSpPr txBox="1"/>
          <p:nvPr/>
        </p:nvSpPr>
        <p:spPr>
          <a:xfrm>
            <a:off x="995680" y="2707978"/>
            <a:ext cx="43078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Prueba del </a:t>
            </a:r>
            <a:r>
              <a:rPr lang="es-MX" dirty="0" err="1"/>
              <a:t>endpoint</a:t>
            </a:r>
            <a:r>
              <a:rPr lang="es-MX" dirty="0"/>
              <a:t> GET del microservicio Student mediante navegador web, mostrando la respuesta en formato JSON con los registros almacenados en la base de datos MySQL. La consulta se realizó a través de la URL http://localhost:8765/api/student/all, verificando la correcta comunicación entre el microservicio, el API Gateway y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3067484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AC5D9-9FD1-99B5-CB0C-FC5B34DE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3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800" b="1" dirty="0">
                <a:solidFill>
                  <a:schemeClr val="accent1"/>
                </a:solidFill>
                <a:latin typeface="+mj-lt"/>
              </a:rPr>
              <a:t>Conclusión</a:t>
            </a:r>
          </a:p>
          <a:p>
            <a:pPr marL="0" indent="0" algn="just">
              <a:buNone/>
            </a:pP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924C07-95B6-B9C7-743A-BFD957C89E03}"/>
              </a:ext>
            </a:extLst>
          </p:cNvPr>
          <p:cNvSpPr txBox="1"/>
          <p:nvPr/>
        </p:nvSpPr>
        <p:spPr>
          <a:xfrm>
            <a:off x="904875" y="1997839"/>
            <a:ext cx="10629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Los ejercicios realizados permitieron comprender el funcionamiento de los microservicios y la administración de bases de datos relacionales utilizando Spring Boot, MySQL y PostgreSQL. </a:t>
            </a:r>
            <a:r>
              <a:rPr lang="es-MX"/>
              <a:t>Además, se reforzaron conocimientos relacionados con operaciones CRUD, índices, respaldo de información y arquitectura distribuida.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55922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124EC-CD38-C073-CDBA-5D847311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FUENTE DE INFORMACION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E1AAE65-9562-9925-D276-7BEFB1317329}"/>
              </a:ext>
            </a:extLst>
          </p:cNvPr>
          <p:cNvSpPr txBox="1"/>
          <p:nvPr/>
        </p:nvSpPr>
        <p:spPr>
          <a:xfrm>
            <a:off x="1238491" y="3247227"/>
            <a:ext cx="79026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Un Programador Nace. (2023, octubre 12). </a:t>
            </a:r>
            <a:r>
              <a:rPr lang="es-MX" i="1" dirty="0"/>
              <a:t>Spring Boot 3: Guía de Microservicios</a:t>
            </a:r>
            <a:r>
              <a:rPr lang="es-MX" dirty="0"/>
              <a:t> [Video]. YouTube. </a:t>
            </a:r>
            <a:r>
              <a:rPr lang="es-MX" dirty="0">
                <a:hlinkClick r:id="rId2"/>
              </a:rPr>
              <a:t>https://youtu.be/t0D4OPcugyI</a:t>
            </a:r>
            <a:endParaRPr lang="es-MX" dirty="0"/>
          </a:p>
          <a:p>
            <a:endParaRPr lang="es-MX" dirty="0"/>
          </a:p>
          <a:p>
            <a:r>
              <a:rPr lang="es-MX" dirty="0"/>
              <a:t>Aquino Villanueva, R. (2026). </a:t>
            </a:r>
            <a:r>
              <a:rPr lang="es-MX" i="1" dirty="0"/>
              <a:t>ABD-E-J-26</a:t>
            </a:r>
            <a:r>
              <a:rPr lang="es-MX" dirty="0"/>
              <a:t>. GitHub. </a:t>
            </a:r>
            <a:r>
              <a:rPr lang="es-MX" dirty="0">
                <a:hlinkClick r:id="rId3"/>
              </a:rPr>
              <a:t>https://github.com/rafaelrav8770/ABD-E-J-26.git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36335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1942</TotalTime>
  <Words>606</Words>
  <Application>Microsoft Office PowerPoint</Application>
  <PresentationFormat>Panorámica</PresentationFormat>
  <Paragraphs>45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justificacion</vt:lpstr>
      <vt:lpstr>Ejercicio 1 — Creación de bases de datos en mysql</vt:lpstr>
      <vt:lpstr>Ejercicio 2 — verificación de la base de datos Student en mysql</vt:lpstr>
      <vt:lpstr>Ejercicio 3 — Creación de bases de datos en PostgreSQL</vt:lpstr>
      <vt:lpstr>Ejercicio 4 — verificación de la base de datos course en PostgreSQL</vt:lpstr>
      <vt:lpstr>Ejercicio 5 — Funcionamiento de Eureka Server</vt:lpstr>
      <vt:lpstr>Ejercicio 6 — prueba GET Course</vt:lpstr>
      <vt:lpstr>Ejercicio 7 — prueba GET student</vt:lpstr>
      <vt:lpstr>Presentación de PowerPoint</vt:lpstr>
      <vt:lpstr>FUENTE DE INFORMACION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56</cp:revision>
  <dcterms:created xsi:type="dcterms:W3CDTF">2026-02-14T13:39:49Z</dcterms:created>
  <dcterms:modified xsi:type="dcterms:W3CDTF">2026-05-30T05:35:41Z</dcterms:modified>
</cp:coreProperties>
</file>