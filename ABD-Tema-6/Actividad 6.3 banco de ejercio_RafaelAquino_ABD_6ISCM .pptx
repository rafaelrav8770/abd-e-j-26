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3" r:id="rId3"/>
    <p:sldId id="257" r:id="rId4"/>
    <p:sldId id="320" r:id="rId5"/>
    <p:sldId id="359" r:id="rId6"/>
    <p:sldId id="360" r:id="rId7"/>
    <p:sldId id="361" r:id="rId8"/>
    <p:sldId id="371" r:id="rId9"/>
    <p:sldId id="363" r:id="rId10"/>
    <p:sldId id="362" r:id="rId11"/>
    <p:sldId id="364" r:id="rId12"/>
    <p:sldId id="365" r:id="rId13"/>
    <p:sldId id="366" r:id="rId14"/>
    <p:sldId id="367" r:id="rId15"/>
    <p:sldId id="377" r:id="rId16"/>
    <p:sldId id="378" r:id="rId17"/>
    <p:sldId id="370" r:id="rId18"/>
    <p:sldId id="368" r:id="rId19"/>
    <p:sldId id="260" r:id="rId20"/>
    <p:sldId id="318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7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B5F02-D1F5-4A8C-9E16-879D2FAAE6D2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E338-237A-4FD6-91E8-AE3330CCA9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5143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97A6B-C8A5-A893-2EB4-EAD802D17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E9E8D3-983C-1FBA-F097-D58F78BA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00B84-F10B-751B-5908-FC18C6422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A144F6-9197-16C1-A989-50C7A0E49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DBAAEB-1ABF-E979-BAC2-66927C69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7284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53055-0E2B-CB93-6D72-F6BFE456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4E3AF4-F79F-763A-9DAF-C6C175A55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555DC5-3E01-56E7-631E-04D4A90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B53975-0403-0D44-401F-71EA01B2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86F-F27C-248A-D498-ADFFEFE9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429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57E10-4726-7D0A-E1F8-93439BFF2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C9CE40-9232-9AC4-A9C6-59A9B8473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1E2653-A3E2-493F-59D0-04D925E1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FD983-ED4E-38A6-DCD5-DB9EF634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502D16-37E0-4D0D-5BB7-68A3BDB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2089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0EA5F-E2E9-67F7-E292-C84FCB6F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13239D-44F0-8AD1-FF8A-D79A0CA81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69FD3F-356E-6F60-6A25-56717337F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7C736D-F3D7-D82B-BB73-E65F46C1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92062B-BCCF-C2B2-D017-588DE122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51BE1-2995-E957-66B3-46B9B160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492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DADCE-63AC-54B1-31D4-48CC1F828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E131CC-B953-9DA0-84D7-342F7661F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ADC272-3617-466E-F6F0-16A810751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DDCA87-61A0-8976-E9D1-03EDE6E11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B0352-2822-B688-0216-B6F8FB988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0D192A-B4AB-FABE-D934-62F9F766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44D7369-D1D8-1689-1054-CDA28986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8CB792-19CD-5761-B36C-DC7CC94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624A4-077D-5486-B7D9-11FE3E1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9D86B5-34D8-63DA-CA5E-EB64FC37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1CB502-05EE-237F-2E29-626516E35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4E0509-4D7E-FE6F-A441-351026901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198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D2BB40-084A-590A-568A-4FBC55A7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31945B-3C8A-CC04-90CF-86A6FB92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54383D-C3B6-AF0C-D3F1-2DB73EE0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5390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07E4E-5A62-92CA-7ACA-D3C6DC7B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3F851-D00D-6093-A986-6C5F35C56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6ECEE2-9260-2C2E-BC65-C11DE6DF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AE17B-F1FD-90D4-9A7D-49AAC564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728C9-30AA-559A-CB48-C6B86631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F8E15D-A90F-EA63-7DF9-46C7810D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931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D758-F948-B2A7-DC08-B687F91B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1C892A9-AD64-6F7D-FEE0-967756CA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38B53-DBF4-A3CB-9E1A-386EDC498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447764-59A7-8823-1D1A-CF02217F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A3D35F-6746-D59D-FB36-01BA85D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FE247-F7A5-5BF6-7419-4D0C9940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346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FDA35-B0B4-E787-3D72-F031788E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F0C38B-FF72-ABBA-A9A3-57F2D48A3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F98C5-01BB-732B-11CB-7FADA289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9513AF-E2D8-C50D-31BA-5F9705122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C0206-8F5E-04A4-613D-6EC2B598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0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F840C8-6BFA-8DB5-04D9-2FFF606B9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3C22F2-C176-59C9-19E7-C3A94CBB2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12D9B4-8F58-BE69-EF19-A521A08A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B5D75A-9186-AC95-3F60-D715E515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889DC-3AEB-704A-0884-C0B1EAD8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617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D456B8-F474-DC21-CA32-71136C73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76B21C-E071-F827-CAB6-8D305BED3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4E7BC-1E44-2D21-548A-97F953824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4A13C-A177-47DD-903A-D74B08377F6A}" type="datetimeFigureOut">
              <a:rPr lang="es-MX" smtClean="0"/>
              <a:t>10/06/2026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6E618A-2674-067F-A9B5-F000F804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6479D-49A2-2EF0-B936-306AEE0B0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C0401-0789-4F42-8B4F-18107AD066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225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ocker.com/" TargetMode="External"/><Relationship Id="rId3" Type="http://schemas.openxmlformats.org/officeDocument/2006/relationships/hyperlink" Target="https://www.youtube.com/watch?v=z1_YebQfVeI" TargetMode="External"/><Relationship Id="rId7" Type="http://schemas.openxmlformats.org/officeDocument/2006/relationships/hyperlink" Target="https://angular.io/docs" TargetMode="External"/><Relationship Id="rId2" Type="http://schemas.openxmlformats.org/officeDocument/2006/relationships/hyperlink" Target="https://www.youtube.com/watch?v=o7DSHPji1m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pring.io/spring-boot/docs/current/reference/html/" TargetMode="External"/><Relationship Id="rId5" Type="http://schemas.openxmlformats.org/officeDocument/2006/relationships/hyperlink" Target="https://nginx.org/en/docs/" TargetMode="External"/><Relationship Id="rId10" Type="http://schemas.openxmlformats.org/officeDocument/2006/relationships/hyperlink" Target="https://github.com/rafaelrav8770/ABD-E-J-26.git" TargetMode="External"/><Relationship Id="rId4" Type="http://schemas.openxmlformats.org/officeDocument/2006/relationships/hyperlink" Target="https://www.youtube.com/watch?v=yEtUfhd13Cs" TargetMode="External"/><Relationship Id="rId9" Type="http://schemas.openxmlformats.org/officeDocument/2006/relationships/hyperlink" Target="https://maven.apache.org/gu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13792C0E-56A4-038E-25C8-41619E973B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1815" y="510540"/>
            <a:ext cx="5303520" cy="5836920"/>
          </a:xfrm>
          <a:prstGeom prst="rect">
            <a:avLst/>
          </a:prstGeom>
          <a:noFill/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76F1C2F9-DDFC-CBF2-E48A-E64DE4A37D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905" y="46990"/>
            <a:ext cx="2301875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E3447-738B-D8B1-B47D-8EBA647E114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7495" y="46990"/>
            <a:ext cx="1516380" cy="10896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9E7C584-C5C9-2730-50A7-5B38CB386E43}"/>
              </a:ext>
            </a:extLst>
          </p:cNvPr>
          <p:cNvSpPr txBox="1"/>
          <p:nvPr/>
        </p:nvSpPr>
        <p:spPr>
          <a:xfrm>
            <a:off x="1943100" y="374015"/>
            <a:ext cx="7124700" cy="799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TECNOLÓGICO NACIONAL DE MÉXICO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UNIDAD ACADÉMICA VENUSTIANO CARRANZA</a:t>
            </a:r>
            <a:endParaRPr lang="es-MX" sz="16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A9E771-2CE9-85CC-E1A4-169697077E49}"/>
              </a:ext>
            </a:extLst>
          </p:cNvPr>
          <p:cNvSpPr txBox="1"/>
          <p:nvPr/>
        </p:nvSpPr>
        <p:spPr>
          <a:xfrm>
            <a:off x="2550694" y="1329363"/>
            <a:ext cx="6096000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A8327A-BF41-1978-27AD-7942D85077F5}"/>
              </a:ext>
            </a:extLst>
          </p:cNvPr>
          <p:cNvSpPr txBox="1"/>
          <p:nvPr/>
        </p:nvSpPr>
        <p:spPr>
          <a:xfrm>
            <a:off x="2550694" y="1824715"/>
            <a:ext cx="6096000" cy="119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ADMINISTRACION DE BASE DE DATOS 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ACTIVIDAD 6.3 –</a:t>
            </a:r>
            <a:r>
              <a:rPr lang="es-MX" sz="2000" b="1" kern="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BANCO DE EJERCICIO</a:t>
            </a:r>
            <a:r>
              <a:rPr lang="es-MX" sz="20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3F20D4B-4AB8-951E-96AB-E5F9938AB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76835"/>
              </p:ext>
            </p:extLst>
          </p:nvPr>
        </p:nvGraphicFramePr>
        <p:xfrm>
          <a:off x="3249461" y="3714744"/>
          <a:ext cx="4505960" cy="76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3511045433"/>
                    </a:ext>
                  </a:extLst>
                </a:gridCol>
                <a:gridCol w="1808480">
                  <a:extLst>
                    <a:ext uri="{9D8B030D-6E8A-4147-A177-3AD203B41FA5}">
                      <a16:colId xmlns:a16="http://schemas.microsoft.com/office/drawing/2014/main" val="22061977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SEMESTRE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SEXTO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4884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NOMBRE DEL ALUMNO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MATRICULA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20187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Rafael Aquino Villanueva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231260073</a:t>
                      </a:r>
                      <a:endParaRPr lang="es-MX" sz="1200" b="1" kern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94392"/>
                  </a:ext>
                </a:extLst>
              </a:tr>
            </a:tbl>
          </a:graphicData>
        </a:graphic>
      </p:graphicFrame>
      <p:sp>
        <p:nvSpPr>
          <p:cNvPr id="21" name="CuadroTexto 20">
            <a:extLst>
              <a:ext uri="{FF2B5EF4-FFF2-40B4-BE49-F238E27FC236}">
                <a16:creationId xmlns:a16="http://schemas.microsoft.com/office/drawing/2014/main" id="{2BBA4D31-60C9-991B-3D34-3585F8C8348E}"/>
              </a:ext>
            </a:extLst>
          </p:cNvPr>
          <p:cNvSpPr txBox="1"/>
          <p:nvPr/>
        </p:nvSpPr>
        <p:spPr>
          <a:xfrm>
            <a:off x="4010525" y="3048181"/>
            <a:ext cx="2983833" cy="1165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PRESENTA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2284A4D-D83A-881E-63B3-639ACAB1ACB4}"/>
              </a:ext>
            </a:extLst>
          </p:cNvPr>
          <p:cNvSpPr txBox="1"/>
          <p:nvPr/>
        </p:nvSpPr>
        <p:spPr>
          <a:xfrm>
            <a:off x="2550694" y="4809176"/>
            <a:ext cx="6096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600" b="1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DOCENTE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ING. FRANCISCO JAVIER MINGO VELAZQUEZ</a:t>
            </a:r>
            <a:endParaRPr lang="es-MX" sz="18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9DBE5-FAF1-35CF-08F0-D08353CB1B1B}"/>
              </a:ext>
            </a:extLst>
          </p:cNvPr>
          <p:cNvSpPr txBox="1"/>
          <p:nvPr/>
        </p:nvSpPr>
        <p:spPr>
          <a:xfrm>
            <a:off x="1793875" y="6265557"/>
            <a:ext cx="7812505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  <a:buNone/>
            </a:pPr>
            <a:r>
              <a:rPr lang="es-MX" sz="2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14 DE JUNIO DE 2026</a:t>
            </a:r>
            <a:r>
              <a:rPr lang="es-MX" sz="1800" b="1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VENUSTIANO CARRANZA, CHIAPAS</a:t>
            </a:r>
            <a:endParaRPr lang="es-MX" sz="20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sz="1800" kern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10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3D5AD-B34F-94DE-CA8C-4E027E6ED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750"/>
            <a:ext cx="10515600" cy="5129213"/>
          </a:xfrm>
          <a:ln>
            <a:solidFill>
              <a:schemeClr val="accent5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5200" b="1" kern="0" dirty="0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Introducción</a:t>
            </a:r>
          </a:p>
          <a:p>
            <a:pPr marL="0" indent="0" algn="just">
              <a:buNone/>
            </a:pPr>
            <a:r>
              <a:rPr lang="es-MX" dirty="0"/>
              <a:t>se realizó el despliegue de una arquitectura basada en microservicios sobre un servidor Linux. Para ello se utilizaron tecnologías como Docker, MySQL, PostgreSQL, Maven, Angular y NGINX. Durante el desarrollo se llevaron a cabo actividades de instalación, configuración, compilación y validación de servicios, permitiendo comprobar el correcto funcionamiento de la aplicación tanto a nivel de </a:t>
            </a:r>
            <a:r>
              <a:rPr lang="es-MX" dirty="0" err="1"/>
              <a:t>backend</a:t>
            </a:r>
            <a:r>
              <a:rPr lang="es-MX" dirty="0"/>
              <a:t> como de </a:t>
            </a:r>
            <a:r>
              <a:rPr lang="es-MX" dirty="0" err="1"/>
              <a:t>frontend</a:t>
            </a:r>
            <a:r>
              <a:rPr lang="es-MX" dirty="0"/>
              <a:t> dentro de una red local.</a:t>
            </a:r>
          </a:p>
        </p:txBody>
      </p:sp>
    </p:spTree>
    <p:extLst>
      <p:ext uri="{BB962C8B-B14F-4D97-AF65-F5344CB8AC3E}">
        <p14:creationId xmlns:p14="http://schemas.microsoft.com/office/powerpoint/2010/main" val="216031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23FAD-4120-8ED8-B051-0825C4BD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4800" b="1" dirty="0">
                <a:solidFill>
                  <a:schemeClr val="accent1"/>
                </a:solidFill>
              </a:rPr>
              <a:t>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7B8FC4-39B5-FB1A-F16C-84E0A3527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Implementar y validar un entorno Linux para el despliegue de microservicios utilizando Docker, bases de datos MySQL y PostgreSQL, Angular y NGINX, verificando la correcta comunicación entre todos los componentes del sistema.</a:t>
            </a:r>
          </a:p>
        </p:txBody>
      </p:sp>
    </p:spTree>
    <p:extLst>
      <p:ext uri="{BB962C8B-B14F-4D97-AF65-F5344CB8AC3E}">
        <p14:creationId xmlns:p14="http://schemas.microsoft.com/office/powerpoint/2010/main" val="1199536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0D980-2544-321A-9362-6FDF6AB3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ED68CC-9B7C-133A-FC3D-7B4812DD7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práctica permite aplicar conocimientos de administración de bases de datos, </a:t>
            </a:r>
            <a:r>
              <a:rPr lang="es-MX" dirty="0" err="1"/>
              <a:t>contenedorización</a:t>
            </a:r>
            <a:r>
              <a:rPr lang="es-MX" dirty="0"/>
              <a:t> y despliegue de aplicaciones en Linux. Además, fortalece las competencias relacionadas con la integración de microservicios, servidores web y bases de datos en un entorno real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2702467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FD408-863E-F206-2BBF-F02D7BDA7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5"/>
            <a:ext cx="11363325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 — Instalación de Docker en Linux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EFB4EE-5F42-C145-096B-BAE5D00F4B66}"/>
              </a:ext>
            </a:extLst>
          </p:cNvPr>
          <p:cNvSpPr txBox="1"/>
          <p:nvPr/>
        </p:nvSpPr>
        <p:spPr>
          <a:xfrm>
            <a:off x="429508" y="2112288"/>
            <a:ext cx="56664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instaló Docker en Ubuntu Server para permitir la creación y ejecución de contenedores necesarios para el despliegue de los microservicios y la aplicación Angular.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/>
              <a:t>sudo </a:t>
            </a:r>
            <a:r>
              <a:rPr lang="es-MX" dirty="0" err="1"/>
              <a:t>apt</a:t>
            </a:r>
            <a:r>
              <a:rPr lang="es-MX" dirty="0"/>
              <a:t> </a:t>
            </a:r>
            <a:r>
              <a:rPr lang="es-MX" dirty="0" err="1"/>
              <a:t>update</a:t>
            </a:r>
            <a:br>
              <a:rPr lang="es-MX" dirty="0"/>
            </a:br>
            <a:r>
              <a:rPr lang="es-MX" dirty="0"/>
              <a:t>sudo </a:t>
            </a:r>
            <a:r>
              <a:rPr lang="es-MX" dirty="0" err="1"/>
              <a:t>apt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docker.io -y</a:t>
            </a:r>
          </a:p>
          <a:p>
            <a:r>
              <a:rPr lang="es-MX" b="1" dirty="0"/>
              <a:t>Resultados</a:t>
            </a:r>
          </a:p>
          <a:p>
            <a:r>
              <a:rPr lang="es-MX" dirty="0"/>
              <a:t>Docker quedó instalado correctamente en el servidor Linux, permitiendo la administración de contenedores para el despliegue de la aplicación.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22F99A7-B71B-2ECB-02AF-81D0AE819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2687" y="2352674"/>
            <a:ext cx="5250508" cy="295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8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EC003-FBBE-7976-D8B9-3AC2E42A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2 — Verificación de contenedores Docker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9A20B8-4508-2690-9757-7256772F63F2}"/>
              </a:ext>
            </a:extLst>
          </p:cNvPr>
          <p:cNvSpPr txBox="1"/>
          <p:nvPr/>
        </p:nvSpPr>
        <p:spPr>
          <a:xfrm>
            <a:off x="733425" y="1690688"/>
            <a:ext cx="57531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verificó el funcionamiento de Docker mediante el inicio y validación de los contenedores MySQL y PostgreSQL utilizados por los microservicios del proyecto.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start</a:t>
            </a:r>
            <a:r>
              <a:rPr lang="es-MX" dirty="0"/>
              <a:t> </a:t>
            </a:r>
            <a:r>
              <a:rPr lang="es-MX" dirty="0" err="1"/>
              <a:t>mysql</a:t>
            </a:r>
            <a:r>
              <a:rPr lang="es-MX" dirty="0"/>
              <a:t>-container</a:t>
            </a:r>
            <a:br>
              <a:rPr lang="es-MX" dirty="0"/>
            </a:br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start</a:t>
            </a:r>
            <a:r>
              <a:rPr lang="es-MX" dirty="0"/>
              <a:t> </a:t>
            </a:r>
            <a:r>
              <a:rPr lang="es-MX" dirty="0" err="1"/>
              <a:t>postgres</a:t>
            </a:r>
            <a:r>
              <a:rPr lang="es-MX" dirty="0"/>
              <a:t>-container</a:t>
            </a:r>
            <a:br>
              <a:rPr lang="es-MX" dirty="0"/>
            </a:br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ps</a:t>
            </a:r>
            <a:endParaRPr lang="es-MX" dirty="0"/>
          </a:p>
          <a:p>
            <a:r>
              <a:rPr lang="es-MX" b="1" dirty="0"/>
              <a:t>Resultados</a:t>
            </a:r>
          </a:p>
          <a:p>
            <a:r>
              <a:rPr lang="es-MX" dirty="0"/>
              <a:t>Se comprobó que los contenedores de MySQL y PostgreSQL iniciaron correctamente, mostrando el estado </a:t>
            </a:r>
            <a:r>
              <a:rPr lang="es-MX" b="1" dirty="0"/>
              <a:t>UP</a:t>
            </a:r>
            <a:r>
              <a:rPr lang="es-MX" dirty="0"/>
              <a:t> dentro de Docker. Esto confirmó que el entorno de bases de datos estaba disponible para los microservicios desplegados en Linux.</a:t>
            </a:r>
          </a:p>
        </p:txBody>
      </p:sp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1473049A-EA2E-D6B5-CB3C-7708E72B8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539" y="2419349"/>
            <a:ext cx="5095502" cy="287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1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239D1-373C-423F-BB0B-D751D35C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3 — Transferencia del proyecto al servidor Linux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E8DB7E-54E9-E454-D712-B11E2ABDF166}"/>
              </a:ext>
            </a:extLst>
          </p:cNvPr>
          <p:cNvSpPr txBox="1"/>
          <p:nvPr/>
        </p:nvSpPr>
        <p:spPr>
          <a:xfrm>
            <a:off x="542925" y="1690688"/>
            <a:ext cx="55530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copiaron los archivos del proyecto de microservicios y la aplicación Angular desde un dispositivo USB hacia el servidor Linux para preparar el despliegue de la solución.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 err="1"/>
              <a:t>mkdir</a:t>
            </a:r>
            <a:r>
              <a:rPr lang="es-MX" dirty="0"/>
              <a:t> -p ~/proyectos</a:t>
            </a:r>
            <a:br>
              <a:rPr lang="es-MX" dirty="0"/>
            </a:br>
            <a:r>
              <a:rPr lang="es-MX" dirty="0" err="1"/>
              <a:t>cp</a:t>
            </a:r>
            <a:r>
              <a:rPr lang="es-MX" dirty="0"/>
              <a:t> -r /</a:t>
            </a:r>
            <a:r>
              <a:rPr lang="es-MX" dirty="0" err="1"/>
              <a:t>mnt</a:t>
            </a:r>
            <a:r>
              <a:rPr lang="es-MX" dirty="0"/>
              <a:t>/</a:t>
            </a:r>
            <a:r>
              <a:rPr lang="es-MX" dirty="0" err="1"/>
              <a:t>usb</a:t>
            </a:r>
            <a:r>
              <a:rPr lang="es-MX" dirty="0"/>
              <a:t>/</a:t>
            </a:r>
            <a:r>
              <a:rPr lang="es-MX" dirty="0" err="1"/>
              <a:t>microservice</a:t>
            </a:r>
            <a:r>
              <a:rPr lang="es-MX" dirty="0"/>
              <a:t> ~/proyectos/</a:t>
            </a:r>
            <a:br>
              <a:rPr lang="es-MX" dirty="0"/>
            </a:br>
            <a:r>
              <a:rPr lang="es-MX" dirty="0" err="1"/>
              <a:t>cp</a:t>
            </a:r>
            <a:r>
              <a:rPr lang="es-MX" dirty="0"/>
              <a:t> -r /</a:t>
            </a:r>
            <a:r>
              <a:rPr lang="es-MX" dirty="0" err="1"/>
              <a:t>mnt</a:t>
            </a:r>
            <a:r>
              <a:rPr lang="es-MX" dirty="0"/>
              <a:t>/</a:t>
            </a:r>
            <a:r>
              <a:rPr lang="es-MX" dirty="0" err="1"/>
              <a:t>usb</a:t>
            </a:r>
            <a:r>
              <a:rPr lang="es-MX" dirty="0"/>
              <a:t>/</a:t>
            </a:r>
            <a:r>
              <a:rPr lang="es-MX" dirty="0" err="1"/>
              <a:t>frontend-microservices</a:t>
            </a:r>
            <a:r>
              <a:rPr lang="es-MX" dirty="0"/>
              <a:t> ~/proyectos/</a:t>
            </a:r>
            <a:br>
              <a:rPr lang="es-MX" dirty="0"/>
            </a:br>
            <a:r>
              <a:rPr lang="es-MX" dirty="0" err="1"/>
              <a:t>ls</a:t>
            </a:r>
            <a:r>
              <a:rPr lang="es-MX" dirty="0"/>
              <a:t> ~/proyectos</a:t>
            </a:r>
          </a:p>
          <a:p>
            <a:r>
              <a:rPr lang="es-MX" b="1" dirty="0"/>
              <a:t>Resultados</a:t>
            </a:r>
          </a:p>
          <a:p>
            <a:r>
              <a:rPr lang="es-MX" dirty="0"/>
              <a:t>Se verificó que las carpetas </a:t>
            </a:r>
            <a:r>
              <a:rPr lang="es-MX" b="1" dirty="0" err="1"/>
              <a:t>microservice</a:t>
            </a:r>
            <a:r>
              <a:rPr lang="es-MX" dirty="0"/>
              <a:t> y </a:t>
            </a:r>
            <a:r>
              <a:rPr lang="es-MX" b="1" dirty="0" err="1"/>
              <a:t>frontend-microservices</a:t>
            </a:r>
            <a:r>
              <a:rPr lang="es-MX" dirty="0"/>
              <a:t> fueron copiadas correctamente al directorio ~/proyectos, quedando disponibles para su posterior compilación y despliegue en Docker.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97DEC7-E788-4CC7-327A-21208EB42A1C}"/>
              </a:ext>
            </a:extLst>
          </p:cNvPr>
          <p:cNvGrpSpPr/>
          <p:nvPr/>
        </p:nvGrpSpPr>
        <p:grpSpPr>
          <a:xfrm>
            <a:off x="6204030" y="1825625"/>
            <a:ext cx="5741044" cy="3638762"/>
            <a:chOff x="2905245" y="2181913"/>
            <a:chExt cx="9012082" cy="3638762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2C07329-838C-20B5-4AEB-24151F693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123" b="17215"/>
            <a:stretch>
              <a:fillRect/>
            </a:stretch>
          </p:blipFill>
          <p:spPr>
            <a:xfrm>
              <a:off x="2905245" y="3654978"/>
              <a:ext cx="9012082" cy="216569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5832EE0C-218F-17CF-C3C2-06E4F78AF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626" b="33603"/>
            <a:stretch>
              <a:fillRect/>
            </a:stretch>
          </p:blipFill>
          <p:spPr>
            <a:xfrm>
              <a:off x="2905245" y="2181913"/>
              <a:ext cx="9012082" cy="14730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16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F9C6-3ACB-CA1A-0B11-EF0DC77C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0012A-EF02-A913-C615-0C856A83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4— Verificación de imágenes Docker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06E96B-D457-E8BA-7B97-F3DC1A13FACE}"/>
              </a:ext>
            </a:extLst>
          </p:cNvPr>
          <p:cNvSpPr txBox="1"/>
          <p:nvPr/>
        </p:nvSpPr>
        <p:spPr>
          <a:xfrm>
            <a:off x="620688" y="2509838"/>
            <a:ext cx="60372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verificaron las imágenes Docker disponibles en el servidor Linux para comprobar que las imágenes necesarias para las bases de datos y pruebas se encontraban almacenadas localmente.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images</a:t>
            </a:r>
            <a:endParaRPr lang="es-MX" dirty="0"/>
          </a:p>
          <a:p>
            <a:r>
              <a:rPr lang="es-MX" b="1" dirty="0"/>
              <a:t>Resultados</a:t>
            </a:r>
          </a:p>
          <a:p>
            <a:r>
              <a:rPr lang="es-MX" dirty="0"/>
              <a:t>Se visualizaron las imágenes Docker almacenadas en el servidor Linux, incluyendo las correspondientes a </a:t>
            </a:r>
            <a:r>
              <a:rPr lang="es-MX" b="1" dirty="0"/>
              <a:t>MySQL</a:t>
            </a:r>
            <a:r>
              <a:rPr lang="es-MX" dirty="0"/>
              <a:t>, </a:t>
            </a:r>
            <a:r>
              <a:rPr lang="es-MX" b="1" dirty="0"/>
              <a:t>PostgreSQL</a:t>
            </a:r>
            <a:r>
              <a:rPr lang="es-MX" dirty="0"/>
              <a:t> y </a:t>
            </a:r>
            <a:r>
              <a:rPr lang="es-MX" b="1" dirty="0" err="1"/>
              <a:t>Hello</a:t>
            </a:r>
            <a:r>
              <a:rPr lang="es-MX" b="1" dirty="0"/>
              <a:t> World</a:t>
            </a:r>
            <a:r>
              <a:rPr lang="es-MX" dirty="0"/>
              <a:t>, confirmando que se encontraban disponibles para la creación y ejecución de contenedores.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5C8AACB5-B381-F398-6F80-5777212E1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497" y="3016250"/>
            <a:ext cx="5371694" cy="302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5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DBAA1-88C4-3648-26C4-3609C6C0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5 — Detección de incompatibilidad de Node.js con Angular CLI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1435571-AD15-4B1A-1EE8-AD7A233F165F}"/>
              </a:ext>
            </a:extLst>
          </p:cNvPr>
          <p:cNvSpPr txBox="1"/>
          <p:nvPr/>
        </p:nvSpPr>
        <p:spPr>
          <a:xfrm>
            <a:off x="942975" y="1876227"/>
            <a:ext cx="48672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verificó la compatibilidad entre Angular CLI y la versión de Node.js instalada en el servidor Linux. Durante la validación se detectó que la versión instalada no cumplía con los requisitos mínimos exigidos por Angular.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/>
              <a:t>ng </a:t>
            </a:r>
            <a:r>
              <a:rPr lang="es-MX" dirty="0" err="1"/>
              <a:t>version</a:t>
            </a:r>
            <a:endParaRPr lang="es-MX" dirty="0"/>
          </a:p>
          <a:p>
            <a:r>
              <a:rPr lang="es-MX" b="1" dirty="0"/>
              <a:t>Resultados</a:t>
            </a:r>
          </a:p>
          <a:p>
            <a:r>
              <a:rPr lang="es-MX" dirty="0"/>
              <a:t>Angular CLI reportó una incompatibilidad con la versión de Node.js instalada (v18.19.1), indicando la necesidad de actualizar el entorno a una versión compatible para continuar con la ejecución de la aplicación </a:t>
            </a:r>
            <a:r>
              <a:rPr lang="es-MX" dirty="0" err="1"/>
              <a:t>frontend</a:t>
            </a:r>
            <a:r>
              <a:rPr lang="es-MX" dirty="0"/>
              <a:t>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57E9068-6078-83E3-DB35-199E443675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4874" y="2295524"/>
            <a:ext cx="4878491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4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EE5AE-04CC-3E57-A645-27B0E523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060" y="272256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6 —Actualización y validación del entorno Angular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A8A086-0849-6D01-70C7-4F60E95AB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35150"/>
            <a:ext cx="6315075" cy="4351338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es-MX" sz="7200" b="1" dirty="0"/>
              <a:t>Descripción</a:t>
            </a:r>
          </a:p>
          <a:p>
            <a:pPr marL="0" indent="0" algn="just">
              <a:buNone/>
            </a:pPr>
            <a:r>
              <a:rPr lang="es-MX" sz="7200" dirty="0"/>
              <a:t>Se actualizó y verificó el entorno de desarrollo Angular en el servidor Linux, incluyendo Node.js, </a:t>
            </a:r>
            <a:r>
              <a:rPr lang="es-MX" sz="7200" dirty="0" err="1"/>
              <a:t>npm</a:t>
            </a:r>
            <a:r>
              <a:rPr lang="es-MX" sz="7200" dirty="0"/>
              <a:t> y Angular CLI, con el objetivo de preparar la compilación y el despliegue de la aplicación </a:t>
            </a:r>
            <a:r>
              <a:rPr lang="es-MX" sz="7200" dirty="0" err="1"/>
              <a:t>frontend</a:t>
            </a:r>
            <a:r>
              <a:rPr lang="es-MX" sz="7200" dirty="0"/>
              <a:t> dentro de la infraestructura de microservicios.</a:t>
            </a:r>
          </a:p>
          <a:p>
            <a:pPr marL="0" indent="0" algn="just">
              <a:buNone/>
            </a:pPr>
            <a:r>
              <a:rPr lang="es-MX" sz="7200" b="1" dirty="0"/>
              <a:t>Comandos ejecutados</a:t>
            </a:r>
          </a:p>
          <a:p>
            <a:pPr marL="0" indent="0">
              <a:buNone/>
            </a:pPr>
            <a:r>
              <a:rPr lang="es-MX" sz="7200" dirty="0"/>
              <a:t>sudo n 22</a:t>
            </a:r>
            <a:br>
              <a:rPr lang="es-MX" sz="7200" dirty="0"/>
            </a:br>
            <a:r>
              <a:rPr lang="es-MX" sz="7200" dirty="0" err="1"/>
              <a:t>node</a:t>
            </a:r>
            <a:r>
              <a:rPr lang="es-MX" sz="7200" dirty="0"/>
              <a:t> -v</a:t>
            </a:r>
            <a:br>
              <a:rPr lang="es-MX" sz="7200" dirty="0"/>
            </a:br>
            <a:r>
              <a:rPr lang="es-MX" sz="7200" dirty="0" err="1"/>
              <a:t>npm</a:t>
            </a:r>
            <a:r>
              <a:rPr lang="es-MX" sz="7200" dirty="0"/>
              <a:t> -v</a:t>
            </a:r>
            <a:br>
              <a:rPr lang="es-MX" sz="7200" dirty="0"/>
            </a:br>
            <a:r>
              <a:rPr lang="es-MX" sz="7200" dirty="0"/>
              <a:t>ng </a:t>
            </a:r>
            <a:r>
              <a:rPr lang="es-MX" sz="7200" dirty="0" err="1"/>
              <a:t>version</a:t>
            </a:r>
            <a:endParaRPr lang="es-MX" sz="7200" dirty="0"/>
          </a:p>
          <a:p>
            <a:pPr marL="0" indent="0" algn="just">
              <a:buNone/>
            </a:pPr>
            <a:r>
              <a:rPr lang="es-MX" sz="7200" b="1" dirty="0"/>
              <a:t>Resultados</a:t>
            </a:r>
          </a:p>
          <a:p>
            <a:pPr marL="0" indent="0" algn="just">
              <a:buNone/>
            </a:pPr>
            <a:r>
              <a:rPr lang="es-MX" sz="7200" dirty="0"/>
              <a:t>Se actualizó Node.js a una versión compatible con Angular CLI y se verificó el correcto funcionamiento de las herramientas Node.js, </a:t>
            </a:r>
            <a:r>
              <a:rPr lang="es-MX" sz="7200" dirty="0" err="1"/>
              <a:t>npm</a:t>
            </a:r>
            <a:r>
              <a:rPr lang="es-MX" sz="7200" dirty="0"/>
              <a:t> y Angular CLI. Mediante el comando </a:t>
            </a:r>
            <a:r>
              <a:rPr lang="es-MX" sz="7200" b="1" dirty="0"/>
              <a:t>ng </a:t>
            </a:r>
            <a:r>
              <a:rPr lang="es-MX" sz="7200" b="1" dirty="0" err="1"/>
              <a:t>version</a:t>
            </a:r>
            <a:r>
              <a:rPr lang="es-MX" sz="7200" dirty="0"/>
              <a:t> se confirmó la instalación de todas las dependencias necesarias para la compilación y despliegue de la aplicación </a:t>
            </a:r>
            <a:r>
              <a:rPr lang="es-MX" sz="7200" dirty="0" err="1"/>
              <a:t>frontend</a:t>
            </a:r>
            <a:r>
              <a:rPr lang="es-MX" sz="7200" dirty="0"/>
              <a:t> en el servidor Linux.</a:t>
            </a:r>
          </a:p>
          <a:p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3D67DC-AD63-DD77-F5F2-AE1077D7A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477" y="1259840"/>
            <a:ext cx="2845463" cy="50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67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1A802-9EAD-CEB8-1EC8-5E8C9A4A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7 — Compilación de microservicios con Maven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CDEAB4-06F1-70FD-7833-FFB78BFAC754}"/>
              </a:ext>
            </a:extLst>
          </p:cNvPr>
          <p:cNvSpPr txBox="1"/>
          <p:nvPr/>
        </p:nvSpPr>
        <p:spPr>
          <a:xfrm>
            <a:off x="666750" y="1728887"/>
            <a:ext cx="6534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realizó la compilación de los microservicios del proyecto mediante Maven para generar los archivos ejecutables necesarios para su despliegue en el servidor Linux.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 err="1"/>
              <a:t>mvn</a:t>
            </a:r>
            <a:r>
              <a:rPr lang="es-MX" dirty="0"/>
              <a:t> </a:t>
            </a:r>
            <a:r>
              <a:rPr lang="es-MX" dirty="0" err="1"/>
              <a:t>clean</a:t>
            </a:r>
            <a:r>
              <a:rPr lang="es-MX" dirty="0"/>
              <a:t> </a:t>
            </a:r>
            <a:r>
              <a:rPr lang="es-MX" dirty="0" err="1"/>
              <a:t>package</a:t>
            </a:r>
            <a:endParaRPr lang="es-MX" dirty="0"/>
          </a:p>
          <a:p>
            <a:r>
              <a:rPr lang="es-MX" b="1" dirty="0"/>
              <a:t>Resultados</a:t>
            </a:r>
          </a:p>
          <a:p>
            <a:r>
              <a:rPr lang="es-MX" dirty="0"/>
              <a:t>Maven compiló correctamente todos los microservicios del proyecto, incluyendo Gateway, Eureka Server, </a:t>
            </a:r>
            <a:r>
              <a:rPr lang="es-MX" dirty="0" err="1"/>
              <a:t>Config</a:t>
            </a:r>
            <a:r>
              <a:rPr lang="es-MX" dirty="0"/>
              <a:t> Server, Student Service y Course Service. El proceso finalizó con el mensaje </a:t>
            </a:r>
            <a:r>
              <a:rPr lang="es-MX" b="1" dirty="0"/>
              <a:t>BUILD SUCCESS</a:t>
            </a:r>
            <a:r>
              <a:rPr lang="es-MX" dirty="0"/>
              <a:t>, confirmando la generación exitosa de los artefactos necesarios para el despliegue.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8541397-FD37-8DE7-507B-783915083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4736" y="1953875"/>
            <a:ext cx="24510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2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CCCF5-D438-7B3C-7194-A6798A07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8 — Instalación de NGINX en Linux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F311052-E634-9883-B036-9BDADD7E73F6}"/>
              </a:ext>
            </a:extLst>
          </p:cNvPr>
          <p:cNvSpPr txBox="1"/>
          <p:nvPr/>
        </p:nvSpPr>
        <p:spPr>
          <a:xfrm>
            <a:off x="762000" y="1621790"/>
            <a:ext cx="52673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Descripción</a:t>
            </a:r>
          </a:p>
          <a:p>
            <a:pPr algn="just"/>
            <a:r>
              <a:rPr lang="es-MX" dirty="0"/>
              <a:t>Se instaló el servidor web NGINX en Ubuntu Server para publicar la aplicación Angular y gestionar el acceso a los microservicios mediante HTTP dentro de la red local.</a:t>
            </a:r>
          </a:p>
          <a:p>
            <a:pPr algn="just"/>
            <a:r>
              <a:rPr lang="es-MX" b="1" dirty="0"/>
              <a:t>Comandos ejecutados</a:t>
            </a:r>
          </a:p>
          <a:p>
            <a:pPr algn="just"/>
            <a:r>
              <a:rPr lang="es-MX" dirty="0"/>
              <a:t>sudo </a:t>
            </a:r>
            <a:r>
              <a:rPr lang="es-MX" dirty="0" err="1"/>
              <a:t>apt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nginx</a:t>
            </a:r>
            <a:endParaRPr lang="es-MX" dirty="0"/>
          </a:p>
          <a:p>
            <a:pPr algn="just"/>
            <a:r>
              <a:rPr lang="es-MX" b="1" dirty="0"/>
              <a:t>Resultados</a:t>
            </a:r>
          </a:p>
          <a:p>
            <a:pPr algn="just"/>
            <a:r>
              <a:rPr lang="es-MX" dirty="0"/>
              <a:t>NGINX fue instalado correctamente en el servidor Linux. Durante la instalación se configuró el servicio del sistema, quedando disponible para su posterior configuración y puesta en funcionamiento.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0DECDA9-E513-649C-42A3-4058BBE8A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800" y="1832610"/>
            <a:ext cx="4906840" cy="276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81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C8B29-B40B-2D5C-F4BD-CB5F0373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9 —Despliegue de Angular en NGINX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6110AC9-B6AA-9373-DEE8-A2581C2D6FD5}"/>
              </a:ext>
            </a:extLst>
          </p:cNvPr>
          <p:cNvSpPr txBox="1"/>
          <p:nvPr/>
        </p:nvSpPr>
        <p:spPr>
          <a:xfrm>
            <a:off x="938918" y="1946256"/>
            <a:ext cx="588751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compiló la aplicación Angular y se copiaron los archivos generados al directorio de publicación de NGINX para permitir el acceso a la aplicación desde la red local.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/>
              <a:t>ng </a:t>
            </a:r>
            <a:r>
              <a:rPr lang="es-MX" dirty="0" err="1"/>
              <a:t>build</a:t>
            </a:r>
            <a:br>
              <a:rPr lang="es-MX" dirty="0"/>
            </a:br>
            <a:r>
              <a:rPr lang="es-MX" dirty="0"/>
              <a:t>sudo </a:t>
            </a:r>
            <a:r>
              <a:rPr lang="es-MX" dirty="0" err="1"/>
              <a:t>rm</a:t>
            </a:r>
            <a:r>
              <a:rPr lang="es-MX" dirty="0"/>
              <a:t> -</a:t>
            </a:r>
            <a:r>
              <a:rPr lang="es-MX" dirty="0" err="1"/>
              <a:t>rf</a:t>
            </a:r>
            <a:r>
              <a:rPr lang="es-MX" dirty="0"/>
              <a:t> /</a:t>
            </a:r>
            <a:r>
              <a:rPr lang="es-MX" dirty="0" err="1"/>
              <a:t>var</a:t>
            </a:r>
            <a:r>
              <a:rPr lang="es-MX" dirty="0"/>
              <a:t>/www/</a:t>
            </a:r>
            <a:r>
              <a:rPr lang="es-MX" dirty="0" err="1"/>
              <a:t>html</a:t>
            </a:r>
            <a:r>
              <a:rPr lang="es-MX" dirty="0"/>
              <a:t>/*</a:t>
            </a:r>
            <a:br>
              <a:rPr lang="es-MX" dirty="0"/>
            </a:br>
            <a:r>
              <a:rPr lang="es-MX" dirty="0"/>
              <a:t>sudo </a:t>
            </a:r>
            <a:r>
              <a:rPr lang="es-MX" dirty="0" err="1"/>
              <a:t>cp</a:t>
            </a:r>
            <a:r>
              <a:rPr lang="es-MX" dirty="0"/>
              <a:t> -r </a:t>
            </a:r>
            <a:r>
              <a:rPr lang="es-MX" dirty="0" err="1"/>
              <a:t>dist</a:t>
            </a:r>
            <a:r>
              <a:rPr lang="es-MX" dirty="0"/>
              <a:t>/</a:t>
            </a:r>
            <a:r>
              <a:rPr lang="es-MX" dirty="0" err="1"/>
              <a:t>frontend-microservices</a:t>
            </a:r>
            <a:r>
              <a:rPr lang="es-MX" dirty="0"/>
              <a:t>/browser/* /</a:t>
            </a:r>
            <a:r>
              <a:rPr lang="es-MX" dirty="0" err="1"/>
              <a:t>var</a:t>
            </a:r>
            <a:r>
              <a:rPr lang="es-MX" dirty="0"/>
              <a:t>/www/</a:t>
            </a:r>
            <a:r>
              <a:rPr lang="es-MX" dirty="0" err="1"/>
              <a:t>html</a:t>
            </a:r>
            <a:r>
              <a:rPr lang="es-MX" dirty="0"/>
              <a:t>/</a:t>
            </a:r>
            <a:br>
              <a:rPr lang="es-MX" dirty="0"/>
            </a:br>
            <a:r>
              <a:rPr lang="es-MX" dirty="0" err="1"/>
              <a:t>ls</a:t>
            </a:r>
            <a:r>
              <a:rPr lang="es-MX" dirty="0"/>
              <a:t> /</a:t>
            </a:r>
            <a:r>
              <a:rPr lang="es-MX" dirty="0" err="1"/>
              <a:t>var</a:t>
            </a:r>
            <a:r>
              <a:rPr lang="es-MX" dirty="0"/>
              <a:t>/www/</a:t>
            </a:r>
            <a:r>
              <a:rPr lang="es-MX" dirty="0" err="1"/>
              <a:t>htm</a:t>
            </a:r>
            <a:endParaRPr lang="es-MX" dirty="0"/>
          </a:p>
          <a:p>
            <a:r>
              <a:rPr lang="es-MX" b="1" dirty="0"/>
              <a:t>Resultados</a:t>
            </a:r>
          </a:p>
          <a:p>
            <a:r>
              <a:rPr lang="es-MX" dirty="0"/>
              <a:t>La aplicación Angular fue compilada correctamente y sus archivos fueron copiados al directorio de publicación de NGINX. Se verificó la presencia de archivos como index.html, main.js y styles.css, necesarios para el funcionamiento de la aplicación web.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025E7DC-0D9B-0B92-5408-689849B6A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438" y="2042160"/>
            <a:ext cx="5284890" cy="29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41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47516-A1AA-D939-DB13-255FD4CF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10 —Verificación de bases de datos PostgreSQL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AFE448-8F14-F9AF-84B4-EBCF2447BC7C}"/>
              </a:ext>
            </a:extLst>
          </p:cNvPr>
          <p:cNvSpPr txBox="1"/>
          <p:nvPr/>
        </p:nvSpPr>
        <p:spPr>
          <a:xfrm>
            <a:off x="734695" y="2439868"/>
            <a:ext cx="499736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verificó el acceso al contenedor PostgreSQL y la disponibilidad de las bases de datos configuradas para los microservicios.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exec</a:t>
            </a:r>
            <a:r>
              <a:rPr lang="es-MX" dirty="0"/>
              <a:t> -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postgres</a:t>
            </a:r>
            <a:r>
              <a:rPr lang="es-MX" dirty="0"/>
              <a:t>-container </a:t>
            </a:r>
            <a:r>
              <a:rPr lang="es-MX" dirty="0" err="1"/>
              <a:t>psql</a:t>
            </a:r>
            <a:r>
              <a:rPr lang="es-MX" dirty="0"/>
              <a:t> -U </a:t>
            </a:r>
            <a:r>
              <a:rPr lang="es-MX" dirty="0" err="1"/>
              <a:t>postgres</a:t>
            </a:r>
            <a:br>
              <a:rPr lang="es-MX" dirty="0"/>
            </a:br>
            <a:r>
              <a:rPr lang="es-MX" dirty="0"/>
              <a:t>\l</a:t>
            </a:r>
          </a:p>
          <a:p>
            <a:r>
              <a:rPr lang="es-MX" b="1" dirty="0"/>
              <a:t>Resultados</a:t>
            </a:r>
          </a:p>
          <a:p>
            <a:r>
              <a:rPr lang="es-MX" dirty="0"/>
              <a:t>Se comprobó la existencia de las bases de datos del servidor PostgreSQL dentro del contenedor Docker, confirmando la correcta operación del motor de base de datos.</a:t>
            </a:r>
          </a:p>
          <a:p>
            <a:pPr>
              <a:buNone/>
            </a:pPr>
            <a:endParaRPr lang="es-MX" sz="14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35D43FC-ECB2-8B89-B239-C6EFB8698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381" y="2157729"/>
            <a:ext cx="5591523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8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52D36-D46B-F6DD-1B1F-BA509859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11 —Verificación de </a:t>
            </a:r>
            <a:r>
              <a:rPr lang="es-MX" sz="4800" b="1" dirty="0" err="1">
                <a:solidFill>
                  <a:schemeClr val="accent1"/>
                </a:solidFill>
              </a:rPr>
              <a:t>endpoints</a:t>
            </a:r>
            <a:r>
              <a:rPr lang="es-MX" sz="4800" b="1" dirty="0">
                <a:solidFill>
                  <a:schemeClr val="accent1"/>
                </a:solidFill>
              </a:rPr>
              <a:t> REST del microservicio Student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6E0488-8329-9F42-37D0-748358EC68AB}"/>
              </a:ext>
            </a:extLst>
          </p:cNvPr>
          <p:cNvSpPr txBox="1"/>
          <p:nvPr/>
        </p:nvSpPr>
        <p:spPr>
          <a:xfrm>
            <a:off x="723900" y="2221290"/>
            <a:ext cx="707898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verificó el funcionamiento del </a:t>
            </a:r>
            <a:r>
              <a:rPr lang="es-MX" dirty="0" err="1"/>
              <a:t>endpoint</a:t>
            </a:r>
            <a:r>
              <a:rPr lang="es-MX" dirty="0"/>
              <a:t> REST del microservicio Student accediendo desde un navegador web a la dirección IP del servidor Linux y al puerto configurado para el servicio.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/>
              <a:t>Acceso mediante navegador:</a:t>
            </a:r>
          </a:p>
          <a:p>
            <a:r>
              <a:rPr lang="es-MX" dirty="0"/>
              <a:t>http://192.168.1.69:8090/api/student/all</a:t>
            </a:r>
          </a:p>
          <a:p>
            <a:r>
              <a:rPr lang="es-MX" dirty="0"/>
              <a:t>o por terminal:</a:t>
            </a:r>
          </a:p>
          <a:p>
            <a:r>
              <a:rPr lang="es-MX" dirty="0" err="1"/>
              <a:t>curl</a:t>
            </a:r>
            <a:r>
              <a:rPr lang="es-MX" dirty="0"/>
              <a:t> -X GET http://192.168.1.69:8090/api/student/all</a:t>
            </a:r>
          </a:p>
          <a:p>
            <a:r>
              <a:rPr lang="es-MX" b="1" dirty="0"/>
              <a:t>Resultados</a:t>
            </a:r>
          </a:p>
          <a:p>
            <a:r>
              <a:rPr lang="es-MX" dirty="0"/>
              <a:t>El </a:t>
            </a:r>
            <a:r>
              <a:rPr lang="es-MX" dirty="0" err="1"/>
              <a:t>endpoint</a:t>
            </a:r>
            <a:r>
              <a:rPr lang="es-MX" dirty="0"/>
              <a:t> REST respondió correctamente mostrando  respuesta JSON con la información de los estudiantes registrados, incluyendo identificador, nombre, apellido, correo electrónico y curso asociado. Esto confirmó que el microservicio Student se encontraba en ejecución y accesible desde otros dispositivos de la red.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F8D718-F876-E91C-DE2D-8D77DE553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344" y="1442719"/>
            <a:ext cx="2084546" cy="463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985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1BEC4-0705-1D3B-F0D6-857BBE70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12 —Verificación de </a:t>
            </a:r>
            <a:r>
              <a:rPr lang="es-MX" sz="4800" b="1" dirty="0" err="1">
                <a:solidFill>
                  <a:schemeClr val="accent1"/>
                </a:solidFill>
              </a:rPr>
              <a:t>endpoints</a:t>
            </a:r>
            <a:r>
              <a:rPr lang="es-MX" sz="4800" b="1" dirty="0">
                <a:solidFill>
                  <a:schemeClr val="accent1"/>
                </a:solidFill>
              </a:rPr>
              <a:t> REST del microservicio Course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F564871-6E5E-6BB8-0A9B-E2BBC8423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5989" y="1541145"/>
            <a:ext cx="1958102" cy="43513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D7A3C51-E7CE-B2CE-93FB-F0924B5C8B4C}"/>
              </a:ext>
            </a:extLst>
          </p:cNvPr>
          <p:cNvSpPr txBox="1"/>
          <p:nvPr/>
        </p:nvSpPr>
        <p:spPr>
          <a:xfrm>
            <a:off x="1290320" y="1541145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Descripción</a:t>
            </a:r>
          </a:p>
          <a:p>
            <a:pPr>
              <a:buNone/>
            </a:pPr>
            <a:r>
              <a:rPr lang="es-MX" dirty="0"/>
              <a:t>Se verificó el funcionamiento del </a:t>
            </a:r>
            <a:r>
              <a:rPr lang="es-MX" dirty="0" err="1"/>
              <a:t>endpoint</a:t>
            </a:r>
            <a:r>
              <a:rPr lang="es-MX" dirty="0"/>
              <a:t> REST del microservicio Course mediante una solicitud HTTP realizada desde un dispositivo móvil conectado a la misma red local que el servidor Linux.</a:t>
            </a:r>
          </a:p>
          <a:p>
            <a:pPr>
              <a:buNone/>
            </a:pPr>
            <a:r>
              <a:rPr lang="es-MX" b="1" dirty="0"/>
              <a:t>Comandos ejecutados</a:t>
            </a:r>
          </a:p>
          <a:p>
            <a:pPr>
              <a:buNone/>
            </a:pPr>
            <a:r>
              <a:rPr lang="es-MX" dirty="0"/>
              <a:t>Acceso mediante navegador web:</a:t>
            </a:r>
          </a:p>
          <a:p>
            <a:pPr rtl="0">
              <a:buNone/>
            </a:pPr>
            <a:r>
              <a:rPr lang="es-MX" dirty="0"/>
              <a:t>http://192.168.1.69:8080/api/course/all</a:t>
            </a:r>
          </a:p>
          <a:p>
            <a:pPr>
              <a:buNone/>
            </a:pPr>
            <a:r>
              <a:rPr lang="es-MX" dirty="0"/>
              <a:t>o por terminal:</a:t>
            </a:r>
          </a:p>
          <a:p>
            <a:pPr rtl="0">
              <a:buNone/>
            </a:pPr>
            <a:r>
              <a:rPr lang="es-MX" dirty="0" err="1"/>
              <a:t>curl</a:t>
            </a:r>
            <a:r>
              <a:rPr lang="es-MX" dirty="0"/>
              <a:t> -X GET http://192.168.1.69:8080/api/course/all</a:t>
            </a:r>
          </a:p>
          <a:p>
            <a:pPr>
              <a:buNone/>
            </a:pPr>
            <a:r>
              <a:rPr lang="es-MX" b="1" dirty="0"/>
              <a:t>Resultados</a:t>
            </a:r>
          </a:p>
          <a:p>
            <a:pPr>
              <a:buNone/>
            </a:pPr>
            <a:r>
              <a:rPr lang="es-MX" dirty="0"/>
              <a:t>El </a:t>
            </a:r>
            <a:r>
              <a:rPr lang="es-MX" dirty="0" err="1"/>
              <a:t>endpoint</a:t>
            </a:r>
            <a:r>
              <a:rPr lang="es-MX" dirty="0"/>
              <a:t> REST respondió correctamente mostrando la información de los cursos registrados en formato JSON. Los datos obtenidos incluyeron identificador, nombre del curso y profesor asignado, confirmando el correcto funcionamiento del microservicio Course y su disponibilidad dentro de la red local.</a:t>
            </a:r>
          </a:p>
        </p:txBody>
      </p:sp>
    </p:spTree>
    <p:extLst>
      <p:ext uri="{BB962C8B-B14F-4D97-AF65-F5344CB8AC3E}">
        <p14:creationId xmlns:p14="http://schemas.microsoft.com/office/powerpoint/2010/main" val="1389618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CC26A-B1D2-C73E-6C8C-718B2F1A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13 —Creación de base de datos MySQL en Docker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9FECD4-D0B2-81C3-3F03-E5AAD1B75FDF}"/>
              </a:ext>
            </a:extLst>
          </p:cNvPr>
          <p:cNvSpPr txBox="1"/>
          <p:nvPr/>
        </p:nvSpPr>
        <p:spPr>
          <a:xfrm>
            <a:off x="645793" y="1971040"/>
            <a:ext cx="55314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accedió al contenedor MySQL para crear la base de datos utilizada por el microservicio Student, verificando posteriormente su correcta creación dentro del servidor de bases de datos.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exec</a:t>
            </a:r>
            <a:r>
              <a:rPr lang="es-MX" dirty="0"/>
              <a:t> -</a:t>
            </a:r>
            <a:r>
              <a:rPr lang="es-MX" dirty="0" err="1"/>
              <a:t>it</a:t>
            </a:r>
            <a:r>
              <a:rPr lang="es-MX" dirty="0"/>
              <a:t> </a:t>
            </a:r>
            <a:r>
              <a:rPr lang="es-MX" dirty="0" err="1"/>
              <a:t>mysql</a:t>
            </a:r>
            <a:r>
              <a:rPr lang="es-MX" dirty="0"/>
              <a:t>-container </a:t>
            </a:r>
            <a:r>
              <a:rPr lang="es-MX" dirty="0" err="1"/>
              <a:t>mysql</a:t>
            </a:r>
            <a:r>
              <a:rPr lang="es-MX" dirty="0"/>
              <a:t> -u </a:t>
            </a:r>
            <a:r>
              <a:rPr lang="es-MX" dirty="0" err="1"/>
              <a:t>root</a:t>
            </a:r>
            <a:r>
              <a:rPr lang="es-MX" dirty="0"/>
              <a:t> -p</a:t>
            </a:r>
            <a:br>
              <a:rPr lang="es-MX" dirty="0"/>
            </a:br>
            <a:r>
              <a:rPr lang="es-MX" dirty="0"/>
              <a:t>SHOW DATABASES</a:t>
            </a:r>
            <a:r>
              <a:rPr lang="es-MX"/>
              <a:t>; </a:t>
            </a:r>
            <a:br>
              <a:rPr lang="es-MX" dirty="0"/>
            </a:br>
            <a:r>
              <a:rPr lang="es-MX" dirty="0"/>
              <a:t>CREATE DATABASE </a:t>
            </a:r>
            <a:r>
              <a:rPr lang="es-MX" dirty="0" err="1"/>
              <a:t>studentDb</a:t>
            </a:r>
            <a:r>
              <a:rPr lang="es-MX" dirty="0"/>
              <a:t>;</a:t>
            </a:r>
            <a:br>
              <a:rPr lang="es-MX" dirty="0"/>
            </a:br>
            <a:r>
              <a:rPr lang="es-MX" dirty="0"/>
              <a:t>SHOW DATABASES;</a:t>
            </a:r>
          </a:p>
          <a:p>
            <a:r>
              <a:rPr lang="es-MX" b="1" dirty="0"/>
              <a:t>Resultados</a:t>
            </a:r>
          </a:p>
          <a:p>
            <a:r>
              <a:rPr lang="es-MX" dirty="0"/>
              <a:t>Se creó exitosamente la base de datos </a:t>
            </a:r>
            <a:r>
              <a:rPr lang="es-MX" b="1" dirty="0" err="1"/>
              <a:t>studentDb</a:t>
            </a:r>
            <a:r>
              <a:rPr lang="es-MX" dirty="0"/>
              <a:t> dentro del contenedor MySQL. Posteriormente, se verificó su existencia mediante el comando SHOW DATABASES, confirmando que quedó disponible para ser utilizada por el microservicio Student.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5847136-9B9E-0871-DA65-1DA16A713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86000"/>
            <a:ext cx="5789932" cy="326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615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AE3C9-3DEA-D67E-12AA-A066BD47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852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MX" sz="4800" b="1" dirty="0">
                <a:solidFill>
                  <a:schemeClr val="accent1"/>
                </a:solidFill>
              </a:rPr>
              <a:t>Ejercicio 14 — Acceso a la aplicación desplegada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31C6E9-AE46-A9EC-B5D3-586CE0E7DB35}"/>
              </a:ext>
            </a:extLst>
          </p:cNvPr>
          <p:cNvSpPr txBox="1"/>
          <p:nvPr/>
        </p:nvSpPr>
        <p:spPr>
          <a:xfrm>
            <a:off x="838199" y="1690688"/>
            <a:ext cx="69151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Descripción</a:t>
            </a:r>
          </a:p>
          <a:p>
            <a:r>
              <a:rPr lang="es-MX" dirty="0"/>
              <a:t>Se verificó el acceso a la aplicación Angular desplegada en el servidor Linux mediante la dirección IP del equipo. La prueba se realizó desde un dispositivo móvil utilizando el navegador Google Chrome para comprobar la conectividad y disponibilidad del sistema dentro de la red local.</a:t>
            </a:r>
          </a:p>
          <a:p>
            <a:r>
              <a:rPr lang="es-MX" b="1" dirty="0"/>
              <a:t>Comandos ejecutados</a:t>
            </a:r>
          </a:p>
          <a:p>
            <a:r>
              <a:rPr lang="es-MX" dirty="0"/>
              <a:t>Acceso desde navegador web:</a:t>
            </a:r>
          </a:p>
          <a:p>
            <a:r>
              <a:rPr lang="es-MX" dirty="0"/>
              <a:t>http://192.168.1.69</a:t>
            </a:r>
          </a:p>
          <a:p>
            <a:r>
              <a:rPr lang="es-MX" b="1" dirty="0"/>
              <a:t>Resultados</a:t>
            </a:r>
          </a:p>
          <a:p>
            <a:r>
              <a:rPr lang="es-MX" dirty="0"/>
              <a:t>La aplicación fue accesible correctamente desde un teléfono móvil utilizando el navegador Google Chrome. Se visualizaron las tablas de estudiantes y cursos obtenidas desde los microservicios desplegados en el servidor Linux, confirmando la correcta comunicación entre Angular, NGINX, Docker y los servicios </a:t>
            </a:r>
            <a:r>
              <a:rPr lang="es-MX" dirty="0" err="1"/>
              <a:t>backend</a:t>
            </a:r>
            <a:r>
              <a:rPr lang="es-MX" dirty="0"/>
              <a:t>. La prueba demostró que el sistema puede ser consultado desde otros dispositivos conectados a la misma red local.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0B99A5F-DDB5-87DF-4A93-251897B40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4524" y="1597025"/>
            <a:ext cx="19581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0AC5D9-9FD1-99B5-CB0C-FC5B34DE4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3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800" b="1" dirty="0">
                <a:solidFill>
                  <a:schemeClr val="accent1"/>
                </a:solidFill>
                <a:latin typeface="+mj-lt"/>
              </a:rPr>
              <a:t>Conclusión</a:t>
            </a:r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D46B53-CB3D-D4C9-45B6-CB2FFEA6E54D}"/>
              </a:ext>
            </a:extLst>
          </p:cNvPr>
          <p:cNvSpPr txBox="1"/>
          <p:nvPr/>
        </p:nvSpPr>
        <p:spPr>
          <a:xfrm>
            <a:off x="838199" y="2020491"/>
            <a:ext cx="10429875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La práctica permitió implementar exitosamente un entorno Linux para el despliegue de microservicios utilizando Docker, MySQL, PostgreSQL, Angular y NGINX. Se verificó la instalación y configuración de cada componente, así como la comunicación entre los servicios y la aplicación web. Finalmente, se comprobó el acceso desde dispositivos externos mediante la dirección IP del servidor, demostrando el correcto funcionamiento de la solución desarrollada.</a:t>
            </a:r>
          </a:p>
          <a:p>
            <a:pPr algn="just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5922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24EC-CD38-C073-CDBA-5D847311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FUENTE DE INFORMACION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A472A8-3D6D-1E2B-A989-ACEEBFCD5507}"/>
              </a:ext>
            </a:extLst>
          </p:cNvPr>
          <p:cNvSpPr txBox="1"/>
          <p:nvPr/>
        </p:nvSpPr>
        <p:spPr>
          <a:xfrm>
            <a:off x="1333500" y="1586984"/>
            <a:ext cx="92392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MX" dirty="0" err="1"/>
              <a:t>Glasses</a:t>
            </a:r>
            <a:r>
              <a:rPr lang="es-MX" dirty="0"/>
              <a:t> Talk. (2022). </a:t>
            </a:r>
            <a:r>
              <a:rPr lang="es-MX" i="1" dirty="0"/>
              <a:t>Enrutamiento y balanceo de carga con NGINX para tus aplicaciones de microservicios</a:t>
            </a:r>
            <a:r>
              <a:rPr lang="es-MX" dirty="0"/>
              <a:t>. YouTube. </a:t>
            </a:r>
            <a:r>
              <a:rPr lang="es-MX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https://www.youtube.com/watch?v=o7DSHPji1m0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 err="1"/>
              <a:t>Fazt</a:t>
            </a:r>
            <a:r>
              <a:rPr lang="es-MX" dirty="0"/>
              <a:t>. (2021). </a:t>
            </a:r>
            <a:r>
              <a:rPr lang="es-MX" i="1" dirty="0"/>
              <a:t>Configurar NGINX como proxy reverso</a:t>
            </a:r>
            <a:r>
              <a:rPr lang="es-MX" dirty="0"/>
              <a:t>. YouTube. </a:t>
            </a:r>
            <a:r>
              <a:rPr lang="es-MX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https://www.youtube.com/watch?v=z1_YebQfVeI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 err="1"/>
              <a:t>Bluuweb</a:t>
            </a:r>
            <a:r>
              <a:rPr lang="es-MX" dirty="0"/>
              <a:t>. (2022). </a:t>
            </a:r>
            <a:r>
              <a:rPr lang="es-MX" i="1" dirty="0"/>
              <a:t>Creando reverse proxy con </a:t>
            </a:r>
            <a:r>
              <a:rPr lang="es-MX" i="1" dirty="0" err="1"/>
              <a:t>Nginx</a:t>
            </a:r>
            <a:r>
              <a:rPr lang="es-MX" i="1" dirty="0"/>
              <a:t> | Sistema completo de </a:t>
            </a:r>
            <a:r>
              <a:rPr lang="es-MX" i="1" dirty="0" err="1"/>
              <a:t>deploy</a:t>
            </a:r>
            <a:r>
              <a:rPr lang="es-MX" dirty="0"/>
              <a:t>. YouTube. </a:t>
            </a:r>
            <a:r>
              <a:rPr lang="es-MX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https://www.youtube.com/watch?v=yEtUfhd13Cs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NGINX, Inc. (2024). </a:t>
            </a:r>
            <a:r>
              <a:rPr lang="es-MX" i="1" dirty="0"/>
              <a:t>NGINX </a:t>
            </a:r>
            <a:r>
              <a:rPr lang="es-MX" i="1" dirty="0" err="1"/>
              <a:t>documentation</a:t>
            </a:r>
            <a:r>
              <a:rPr lang="es-MX" dirty="0"/>
              <a:t>. </a:t>
            </a:r>
            <a:r>
              <a:rPr lang="es-MX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https://nginx.org/en/docs/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VMware </a:t>
            </a:r>
            <a:r>
              <a:rPr lang="es-MX" dirty="0" err="1"/>
              <a:t>Tanzu</a:t>
            </a:r>
            <a:r>
              <a:rPr lang="es-MX" dirty="0"/>
              <a:t>. (2024). </a:t>
            </a:r>
            <a:r>
              <a:rPr lang="es-MX" i="1" dirty="0"/>
              <a:t>Spring Boot </a:t>
            </a:r>
            <a:r>
              <a:rPr lang="es-MX" i="1" dirty="0" err="1"/>
              <a:t>reference</a:t>
            </a:r>
            <a:r>
              <a:rPr lang="es-MX" i="1" dirty="0"/>
              <a:t> </a:t>
            </a:r>
            <a:r>
              <a:rPr lang="es-MX" i="1" dirty="0" err="1"/>
              <a:t>documentation</a:t>
            </a:r>
            <a:r>
              <a:rPr lang="es-MX" dirty="0"/>
              <a:t>. </a:t>
            </a:r>
            <a:r>
              <a:rPr lang="es-MX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https://docs.spring.io/spring-boot/docs/current/reference/html/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Google LLC. (2024). </a:t>
            </a:r>
            <a:r>
              <a:rPr lang="es-MX" i="1" dirty="0"/>
              <a:t>Angular </a:t>
            </a:r>
            <a:r>
              <a:rPr lang="es-MX" i="1" dirty="0" err="1"/>
              <a:t>documentation</a:t>
            </a:r>
            <a:r>
              <a:rPr lang="es-MX" dirty="0"/>
              <a:t>. </a:t>
            </a:r>
            <a:r>
              <a:rPr lang="es-MX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https://angular.io/docs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Docker, Inc. (2024). </a:t>
            </a:r>
            <a:r>
              <a:rPr lang="es-MX" i="1" dirty="0"/>
              <a:t>Docker </a:t>
            </a:r>
            <a:r>
              <a:rPr lang="es-MX" i="1" dirty="0" err="1"/>
              <a:t>documentation</a:t>
            </a:r>
            <a:r>
              <a:rPr lang="es-MX" dirty="0"/>
              <a:t>. </a:t>
            </a:r>
            <a:r>
              <a:rPr lang="es-MX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Apache Software </a:t>
            </a:r>
            <a:r>
              <a:rPr lang="es-MX" dirty="0" err="1"/>
              <a:t>Foundation</a:t>
            </a:r>
            <a:r>
              <a:rPr lang="es-MX" dirty="0"/>
              <a:t>. (2024). </a:t>
            </a:r>
            <a:r>
              <a:rPr lang="es-MX" i="1" dirty="0"/>
              <a:t>Maven </a:t>
            </a:r>
            <a:r>
              <a:rPr lang="es-MX" i="1" dirty="0" err="1"/>
              <a:t>documentation</a:t>
            </a:r>
            <a:r>
              <a:rPr lang="es-MX" dirty="0"/>
              <a:t>. </a:t>
            </a:r>
            <a:r>
              <a:rPr lang="es-MX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https://maven.apache.org/guides/</a:t>
            </a:r>
            <a:endParaRPr lang="es-MX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Aquino Villanueva, R. (2026). </a:t>
            </a:r>
            <a:r>
              <a:rPr lang="es-MX" i="1" dirty="0"/>
              <a:t>ABD-E-J-26</a:t>
            </a:r>
            <a:r>
              <a:rPr lang="es-MX" dirty="0"/>
              <a:t>. GitHub. </a:t>
            </a:r>
            <a:r>
              <a:rPr lang="es-MX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https://github.com/rafaelrav8770/ABD-E-J-26.git</a:t>
            </a:r>
            <a:endParaRPr lang="es-MX" dirty="0"/>
          </a:p>
          <a:p>
            <a:pPr algn="just"/>
            <a:r>
              <a:rPr lang="en-US" dirty="0"/>
              <a:t> </a:t>
            </a:r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6335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3824</TotalTime>
  <Words>1908</Words>
  <Application>Microsoft Office PowerPoint</Application>
  <PresentationFormat>Panorámica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Objetivo</vt:lpstr>
      <vt:lpstr>Justificación</vt:lpstr>
      <vt:lpstr>Ejercicio 1 — Instalación de Docker en Linux</vt:lpstr>
      <vt:lpstr>Ejercicio 2 — Verificación de contenedores Docker</vt:lpstr>
      <vt:lpstr>Ejercicio 3 — Transferencia del proyecto al servidor Linux</vt:lpstr>
      <vt:lpstr>Ejercicio 4— Verificación de imágenes Docker</vt:lpstr>
      <vt:lpstr>Ejercicio 5 — Detección de incompatibilidad de Node.js con Angular CLI</vt:lpstr>
      <vt:lpstr>Ejercicio 6 —Actualización y validación del entorno Angular</vt:lpstr>
      <vt:lpstr>Ejercicio 7 — Compilación de microservicios con Maven</vt:lpstr>
      <vt:lpstr>Ejercicio 8 — Instalación de NGINX en Linux</vt:lpstr>
      <vt:lpstr>Ejercicio 9 —Despliegue de Angular en NGINX </vt:lpstr>
      <vt:lpstr>Ejercicio 10 —Verificación de bases de datos PostgreSQL </vt:lpstr>
      <vt:lpstr>Ejercicio 11 —Verificación de endpoints REST del microservicio Student  </vt:lpstr>
      <vt:lpstr>Ejercicio 12 —Verificación de endpoints REST del microservicio Course </vt:lpstr>
      <vt:lpstr>Ejercicio 13 —Creación de base de datos MySQL en Docker </vt:lpstr>
      <vt:lpstr>Ejercicio 14 — Acceso a la aplicación desplegada</vt:lpstr>
      <vt:lpstr>Presentación de PowerPoint</vt:lpstr>
      <vt:lpstr>FUENTE DE INFORMACION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aquino villanueva</dc:creator>
  <cp:lastModifiedBy>rafael aquino villanueva</cp:lastModifiedBy>
  <cp:revision>68</cp:revision>
  <dcterms:created xsi:type="dcterms:W3CDTF">2026-02-14T13:39:49Z</dcterms:created>
  <dcterms:modified xsi:type="dcterms:W3CDTF">2026-06-11T00:37:26Z</dcterms:modified>
</cp:coreProperties>
</file>