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8" r:id="rId4"/>
    <p:sldId id="303" r:id="rId5"/>
    <p:sldId id="357" r:id="rId6"/>
    <p:sldId id="344" r:id="rId7"/>
    <p:sldId id="354" r:id="rId8"/>
    <p:sldId id="356" r:id="rId9"/>
    <p:sldId id="323" r:id="rId10"/>
    <p:sldId id="324" r:id="rId11"/>
    <p:sldId id="260" r:id="rId12"/>
    <p:sldId id="318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student/%7Bid%7D" TargetMode="External"/><Relationship Id="rId2" Type="http://schemas.openxmlformats.org/officeDocument/2006/relationships/hyperlink" Target="http://localhost:8090/api/student/al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://localhost:8080/api/student/%7bid%7d" TargetMode="External"/><Relationship Id="rId4" Type="http://schemas.openxmlformats.org/officeDocument/2006/relationships/hyperlink" Target="http://localhost:8090/api/studen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OTPARGWm08" TargetMode="External"/><Relationship Id="rId2" Type="http://schemas.openxmlformats.org/officeDocument/2006/relationships/hyperlink" Target="https://youtu.be/t0D4OPcugy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rafaelrav8770/ABD-E-J-26.git" TargetMode="External"/><Relationship Id="rId4" Type="http://schemas.openxmlformats.org/officeDocument/2006/relationships/hyperlink" Target="https://youtu.be/FQAQO90LoQ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ADMINISTRACION DE BASE DE DATOS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3.2 –REPORTE DE PRACTICA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19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52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</a:pPr>
            <a:r>
              <a:rPr lang="es-MX" dirty="0"/>
              <a:t>Las pruebas de software permiten verificar el correcto funcionamiento de aplicaciones y microservicios antes de su implementación final. En esta práctica se realizaron pruebas funcionales y unitarias sobre microservicios desarrollados con Spring Boot, validando operaciones CRUD, comunicación entre servicios y conexión con bases de datos MySQL y PostgreSQL. Para ello se utilizaron herramientas como Bruno, Postman, </a:t>
            </a:r>
            <a:r>
              <a:rPr lang="es-MX" dirty="0" err="1"/>
              <a:t>JUnit</a:t>
            </a:r>
            <a:r>
              <a:rPr lang="es-MX" dirty="0"/>
              <a:t> y </a:t>
            </a:r>
            <a:r>
              <a:rPr lang="es-MX" dirty="0" err="1"/>
              <a:t>Mockito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Objetivo</a:t>
            </a:r>
          </a:p>
          <a:p>
            <a:pPr marL="0" indent="0" algn="just">
              <a:buNone/>
            </a:pPr>
            <a:r>
              <a:rPr lang="es-MX" dirty="0"/>
              <a:t>Verificar el correcto funcionamiento de los microservicios desarrollados en Spring Boot mediante pruebas funcionales y unitarias utilizando herramientas como Postman, Bruno, </a:t>
            </a:r>
            <a:r>
              <a:rPr lang="es-MX" dirty="0" err="1"/>
              <a:t>JUnit</a:t>
            </a:r>
            <a:r>
              <a:rPr lang="es-MX" dirty="0"/>
              <a:t> y </a:t>
            </a:r>
            <a:r>
              <a:rPr lang="es-MX" dirty="0" err="1"/>
              <a:t>Mockito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 err="1">
                <a:solidFill>
                  <a:schemeClr val="accent1"/>
                </a:solidFill>
              </a:rPr>
              <a:t>justificacion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Las pruebas de software son fundamentales para detectar errores y garantizar el correcto funcionamiento de los sistemas desarrollados. Mediante estas pruebas es posible validar la comunicación entre microservicios, comprobar el acceso a bases de datos y asegurar la estabilidad de las operaciones implementadas en el sistema.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2DEFE-3EC3-F039-0178-77FFF60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Pruebas de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8ED643-2B30-C46C-6BA0-95859BE1E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Se realizaron pruebas de software para validar el correcto funcionamiento de los microservicios desarrollados con Spring Boot. Las pruebas permitieron comprobar operaciones CRUD, comunicación entre servicios y funcionamiento de </a:t>
            </a:r>
            <a:r>
              <a:rPr lang="es-MX" dirty="0" err="1"/>
              <a:t>endpoints</a:t>
            </a:r>
            <a:r>
              <a:rPr lang="es-MX" dirty="0"/>
              <a:t> REST mediante herramientas especializadas.</a:t>
            </a:r>
          </a:p>
        </p:txBody>
      </p:sp>
    </p:spTree>
    <p:extLst>
      <p:ext uri="{BB962C8B-B14F-4D97-AF65-F5344CB8AC3E}">
        <p14:creationId xmlns:p14="http://schemas.microsoft.com/office/powerpoint/2010/main" val="204842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CA7C1-CB96-8313-4D7A-883B24BF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405" y="135526"/>
            <a:ext cx="10515600" cy="1325563"/>
          </a:xfrm>
        </p:spPr>
        <p:txBody>
          <a:bodyPr/>
          <a:lstStyle/>
          <a:p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Pruebas</a:t>
            </a:r>
            <a:r>
              <a:rPr lang="es-MX" dirty="0"/>
              <a:t> </a:t>
            </a:r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POSTMAN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D0468406-A970-A65E-75D0-42BCEAA5F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6321" y="1101495"/>
            <a:ext cx="3451957" cy="19417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1A91E99-B479-D1C1-D9DD-A4926F884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811" y="3028652"/>
            <a:ext cx="3449601" cy="19404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1400BD-D3CC-B6C7-5A3F-E53E637331E9}"/>
              </a:ext>
            </a:extLst>
          </p:cNvPr>
          <p:cNvSpPr txBox="1"/>
          <p:nvPr/>
        </p:nvSpPr>
        <p:spPr>
          <a:xfrm>
            <a:off x="954406" y="1300360"/>
            <a:ext cx="2871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Crear un curso</a:t>
            </a:r>
          </a:p>
          <a:p>
            <a:pPr algn="just"/>
            <a:r>
              <a:rPr lang="es-MX" dirty="0"/>
              <a:t>Inserta un nuevo curso en la base de datos PostgreSQL.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48DB06-9F3F-0C6F-569A-2E8B971D2716}"/>
              </a:ext>
            </a:extLst>
          </p:cNvPr>
          <p:cNvSpPr txBox="1"/>
          <p:nvPr/>
        </p:nvSpPr>
        <p:spPr>
          <a:xfrm>
            <a:off x="2310894" y="3561060"/>
            <a:ext cx="2871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 Ver todos los cursos</a:t>
            </a:r>
          </a:p>
          <a:p>
            <a:pPr algn="just"/>
            <a:r>
              <a:rPr lang="es-MX" dirty="0"/>
              <a:t>retorna la lista completa de cursos registrados.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D1F212-5D8E-D609-0E5F-3217897AB475}"/>
              </a:ext>
            </a:extLst>
          </p:cNvPr>
          <p:cNvSpPr txBox="1"/>
          <p:nvPr/>
        </p:nvSpPr>
        <p:spPr>
          <a:xfrm>
            <a:off x="4522470" y="5522145"/>
            <a:ext cx="2852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Crear un estudiante</a:t>
            </a:r>
          </a:p>
          <a:p>
            <a:pPr algn="just"/>
            <a:r>
              <a:rPr lang="es-MX" dirty="0"/>
              <a:t>Inserta un nuevo estudiante en la base de datos MySQL.</a:t>
            </a:r>
          </a:p>
          <a:p>
            <a:pPr algn="just"/>
            <a:endParaRPr lang="es-MX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60C2E6B-7725-AB14-373E-121814625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595" y="4969052"/>
            <a:ext cx="3449599" cy="19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8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EC4752DC-A0CA-BA29-D30C-5CF22FCF267F}"/>
              </a:ext>
            </a:extLst>
          </p:cNvPr>
          <p:cNvSpPr txBox="1"/>
          <p:nvPr/>
        </p:nvSpPr>
        <p:spPr>
          <a:xfrm>
            <a:off x="321945" y="1028700"/>
            <a:ext cx="2735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Ver todos los estudiantes</a:t>
            </a:r>
          </a:p>
          <a:p>
            <a:r>
              <a:rPr lang="es-MX" dirty="0"/>
              <a:t>Retorna la lista completa de estudiantes registrados.</a:t>
            </a:r>
          </a:p>
          <a:p>
            <a:r>
              <a:rPr lang="es-MX" dirty="0"/>
              <a:t> 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D64364E-37D3-569D-C6DB-13845CE44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54979"/>
            <a:ext cx="3449600" cy="19404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DA95160-CD24-12BE-8B14-F3E134FBE4FE}"/>
              </a:ext>
            </a:extLst>
          </p:cNvPr>
          <p:cNvSpPr txBox="1"/>
          <p:nvPr/>
        </p:nvSpPr>
        <p:spPr>
          <a:xfrm>
            <a:off x="951725" y="2229029"/>
            <a:ext cx="31249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Ver estudiantes de un curso (prueba la comunicación </a:t>
            </a:r>
            <a:r>
              <a:rPr lang="es-MX" dirty="0" err="1"/>
              <a:t>Feign</a:t>
            </a:r>
            <a:r>
              <a:rPr lang="es-MX" dirty="0"/>
              <a:t>)</a:t>
            </a:r>
          </a:p>
          <a:p>
            <a:r>
              <a:rPr lang="es-MX" dirty="0"/>
              <a:t>Consulta los estudiantes asignados a un curso usando comunicación entre microservicios vía </a:t>
            </a:r>
            <a:r>
              <a:rPr lang="es-MX" dirty="0" err="1"/>
              <a:t>Feign</a:t>
            </a:r>
            <a:r>
              <a:rPr lang="es-MX" dirty="0"/>
              <a:t> Client.</a:t>
            </a:r>
          </a:p>
          <a:p>
            <a:endParaRPr lang="es-MX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A335AFC-F6A6-78FF-A343-90AC59233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200" y="2095379"/>
            <a:ext cx="3449600" cy="19404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40FE6C8-8080-8E2E-C7B7-BB7B3512743F}"/>
              </a:ext>
            </a:extLst>
          </p:cNvPr>
          <p:cNvSpPr txBox="1"/>
          <p:nvPr/>
        </p:nvSpPr>
        <p:spPr>
          <a:xfrm>
            <a:off x="4630701" y="4478566"/>
            <a:ext cx="37528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pruebas por  Gateway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 por el puerto 8765 — Verifica que el  Gateway redirige correctamente las peticiones a cada microservicio.</a:t>
            </a:r>
          </a:p>
          <a:p>
            <a:pPr algn="just"/>
            <a:r>
              <a:rPr lang="es-MX" dirty="0"/>
              <a:t>http://localhost:8765/api/course/all</a:t>
            </a:r>
          </a:p>
          <a:p>
            <a:pPr algn="just"/>
            <a:r>
              <a:rPr lang="es-MX" dirty="0"/>
              <a:t>  http://localhost:8765/api/student/all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23EF2EF-380C-C0D0-3A51-F6036569F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2" y="2908667"/>
            <a:ext cx="3449601" cy="19404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95D1007-37D8-BD4D-9A31-947864AAF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952" y="4933604"/>
            <a:ext cx="3449600" cy="19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8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D917A-E442-3CB8-2732-8CD8DF6F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5373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Pruebas </a:t>
            </a:r>
            <a:r>
              <a:rPr lang="es-MX" sz="4800" b="1" dirty="0" err="1">
                <a:solidFill>
                  <a:schemeClr val="accent1"/>
                </a:solidFill>
                <a:ea typeface="+mn-ea"/>
                <a:cs typeface="+mn-cs"/>
              </a:rPr>
              <a:t>junit</a:t>
            </a:r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 y </a:t>
            </a:r>
            <a:r>
              <a:rPr lang="es-MX" sz="4800" b="1" dirty="0" err="1">
                <a:solidFill>
                  <a:schemeClr val="accent1"/>
                </a:solidFill>
                <a:ea typeface="+mn-ea"/>
                <a:cs typeface="+mn-cs"/>
              </a:rPr>
              <a:t>mockito</a:t>
            </a:r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93462C-3993-097F-950A-63D1F715B88A}"/>
              </a:ext>
            </a:extLst>
          </p:cNvPr>
          <p:cNvSpPr txBox="1"/>
          <p:nvPr/>
        </p:nvSpPr>
        <p:spPr>
          <a:xfrm>
            <a:off x="389467" y="3787259"/>
            <a:ext cx="57065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Las pruebas unitarias permitieron comprobar el correcto funcionamiento del microservicio desarrollado con Spring Boot. Se validaron operaciones como guardar, actualizar, eliminar y consultar registros, obteniendo una ejecución exitosa de todas las pruebas realizadas. Además, </a:t>
            </a:r>
            <a:r>
              <a:rPr lang="es-MX" dirty="0" err="1"/>
              <a:t>Mockito</a:t>
            </a:r>
            <a:r>
              <a:rPr lang="es-MX" dirty="0"/>
              <a:t> permitió simular el comportamiento de los repositorios sin necesidad de conectarse directamente a la base de datos.</a:t>
            </a:r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193C92-A8FE-6BE5-04B1-0B696A48A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935180"/>
            <a:ext cx="5019675" cy="28235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4D83D86-D973-82CB-DF4E-679292557425}"/>
              </a:ext>
            </a:extLst>
          </p:cNvPr>
          <p:cNvSpPr txBox="1"/>
          <p:nvPr/>
        </p:nvSpPr>
        <p:spPr>
          <a:xfrm>
            <a:off x="638175" y="120193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Para la creación de las pruebas unitarias se utilizó </a:t>
            </a:r>
            <a:r>
              <a:rPr lang="es-MX" dirty="0" err="1"/>
              <a:t>JUnit</a:t>
            </a:r>
            <a:r>
              <a:rPr lang="es-MX" dirty="0"/>
              <a:t> y </a:t>
            </a:r>
            <a:r>
              <a:rPr lang="es-MX" dirty="0" err="1"/>
              <a:t>Mockito</a:t>
            </a:r>
            <a:r>
              <a:rPr lang="es-MX" dirty="0"/>
              <a:t> dentro del entorno IntelliJ IDEA. Primero se generó la clase de prueba en la carpeta </a:t>
            </a:r>
            <a:r>
              <a:rPr lang="es-MX" dirty="0" err="1"/>
              <a:t>src</a:t>
            </a:r>
            <a:r>
              <a:rPr lang="es-MX" dirty="0"/>
              <a:t>/test/java, posteriormente se configuraron las anotaciones @Test, @Mock e @InjectMocks para simular el comportamiento de los repositorios y validar la lógica del servicio. Finalmente, se implementaron métodos de prueba para las operaciones CRUD, verificando que cada función del microservicio respondiera correctamente.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9C2117C-29C2-6CF3-A24F-5E8196D36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857" y="1032996"/>
            <a:ext cx="5019676" cy="282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8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0444C-D573-0A4B-94C9-2B3A385E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81082"/>
            <a:ext cx="10515600" cy="998046"/>
          </a:xfrm>
        </p:spPr>
        <p:txBody>
          <a:bodyPr/>
          <a:lstStyle/>
          <a:p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Pruebas</a:t>
            </a:r>
            <a:r>
              <a:rPr lang="es-MX" dirty="0"/>
              <a:t> </a:t>
            </a:r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del microservicio en Bruno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5714A965-0AEB-A923-F603-2C70A4CC2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520212"/>
              </p:ext>
            </p:extLst>
          </p:nvPr>
        </p:nvGraphicFramePr>
        <p:xfrm>
          <a:off x="904875" y="3210666"/>
          <a:ext cx="5253672" cy="313740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653">
                  <a:extLst>
                    <a:ext uri="{9D8B030D-6E8A-4147-A177-3AD203B41FA5}">
                      <a16:colId xmlns:a16="http://schemas.microsoft.com/office/drawing/2014/main" val="3596518734"/>
                    </a:ext>
                  </a:extLst>
                </a:gridCol>
                <a:gridCol w="2812794">
                  <a:extLst>
                    <a:ext uri="{9D8B030D-6E8A-4147-A177-3AD203B41FA5}">
                      <a16:colId xmlns:a16="http://schemas.microsoft.com/office/drawing/2014/main" val="2134456848"/>
                    </a:ext>
                  </a:extLst>
                </a:gridCol>
                <a:gridCol w="1751225">
                  <a:extLst>
                    <a:ext uri="{9D8B030D-6E8A-4147-A177-3AD203B41FA5}">
                      <a16:colId xmlns:a16="http://schemas.microsoft.com/office/drawing/2014/main" val="2349915287"/>
                    </a:ext>
                  </a:extLst>
                </a:gridCol>
              </a:tblGrid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Método 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003588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hlinkClick r:id="rId2"/>
                        </a:rPr>
                        <a:t>http://localhost:8090/api/student/all</a:t>
                      </a:r>
                      <a:endParaRPr lang="es-MX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Obtiene todos los registros de estudiantes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10216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hlinkClick r:id="rId3"/>
                        </a:rPr>
                        <a:t>http://localhost:8090/api/student/{id}</a:t>
                      </a:r>
                      <a:endParaRPr lang="es-MX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Obtiene un estudiante por su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784680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hlinkClick r:id="rId4"/>
                        </a:rPr>
                        <a:t>http://localhost:8090/api/student</a:t>
                      </a:r>
                      <a:endParaRPr lang="es-MX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Inserta un nuevo estudiante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111285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hlinkClick r:id="rId5"/>
                        </a:rPr>
                        <a:t>http://localhost:8090/api/student/{id}</a:t>
                      </a:r>
                      <a:endParaRPr lang="es-MX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Actualiza un estudiante existente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374100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>
                          <a:hlinkClick r:id="rId3"/>
                        </a:rPr>
                        <a:t>http://localhost:8000/api/student/{id}</a:t>
                      </a:r>
                      <a:endParaRPr lang="es-MX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Elimina un estudiante por su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9692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157D2D7-5DB5-A227-B25A-44F0240AC09E}"/>
              </a:ext>
            </a:extLst>
          </p:cNvPr>
          <p:cNvSpPr txBox="1"/>
          <p:nvPr/>
        </p:nvSpPr>
        <p:spPr>
          <a:xfrm>
            <a:off x="904875" y="1079128"/>
            <a:ext cx="5120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Bruno fue utilizado como herramienta de pruebas HTTP para validar el correcto funcionamiento de los </a:t>
            </a:r>
            <a:r>
              <a:rPr lang="es-MX" dirty="0" err="1"/>
              <a:t>endpoints</a:t>
            </a:r>
            <a:r>
              <a:rPr lang="es-MX" dirty="0"/>
              <a:t> del microservicio. Mediante solicitudes GET, POST, PUT y DELETE se verificó la comunicación con la base de datos y la respuesta correcta de cada operación CRUD implementada en Spring Boot.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DA7209C-35F4-D8A8-ADE0-5781593FA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647" y="1829693"/>
            <a:ext cx="5686425" cy="319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5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2CB16-BD95-0BDE-D9C1-576DEB42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  <a:ea typeface="+mn-ea"/>
                <a:cs typeface="+mn-cs"/>
              </a:rPr>
              <a:t>Actualización de registro (PUT) con bruno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D905BF-A465-D347-A470-58B164E38088}"/>
              </a:ext>
            </a:extLst>
          </p:cNvPr>
          <p:cNvSpPr txBox="1"/>
          <p:nvPr/>
        </p:nvSpPr>
        <p:spPr>
          <a:xfrm>
            <a:off x="838200" y="2638335"/>
            <a:ext cx="45053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Se realizó una actualización de registros utilizando el método PUT desde Bruno, modificando información existente dentro del microservicio Course y verificando la actualización correcta de los datos almacenados en PostgreSQL.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B7DFCF-BFA1-9865-57EB-4A6DA09E9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75" y="210343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8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CB9DFB-DD73-13F6-0556-C1F634F5A97A}"/>
              </a:ext>
            </a:extLst>
          </p:cNvPr>
          <p:cNvSpPr txBox="1"/>
          <p:nvPr/>
        </p:nvSpPr>
        <p:spPr>
          <a:xfrm>
            <a:off x="838199" y="2413338"/>
            <a:ext cx="10944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La práctica permitió aplicar pruebas de software sobre microservicios desarrollados con Spring Boot, verificando operaciones CRUD, conexión con bases de datos y comunicación entre servicios. Las herramientas utilizadas permitieron validar el funcionamiento correcto de los </a:t>
            </a:r>
            <a:r>
              <a:rPr lang="es-MX" dirty="0" err="1"/>
              <a:t>endpoints</a:t>
            </a:r>
            <a:r>
              <a:rPr lang="es-MX" dirty="0"/>
              <a:t> REST y detectar posibles errores durante la ejecución del sistema.</a:t>
            </a:r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24EC-CD38-C073-CDBA-5D847311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FUENTE DE INFORMACION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1AAE65-9562-9925-D276-7BEFB1317329}"/>
              </a:ext>
            </a:extLst>
          </p:cNvPr>
          <p:cNvSpPr txBox="1"/>
          <p:nvPr/>
        </p:nvSpPr>
        <p:spPr>
          <a:xfrm>
            <a:off x="1667116" y="2275677"/>
            <a:ext cx="89056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 Programador Nace. (2023, octubre 12). Spring Boot 3: Guía de Microservicios [Video]. YouTube. </a:t>
            </a:r>
            <a:r>
              <a:rPr lang="es-MX" dirty="0">
                <a:hlinkClick r:id="rId2"/>
              </a:rPr>
              <a:t>https://youtu.be/t0D4OPcugyI</a:t>
            </a:r>
            <a:endParaRPr lang="es-MX" dirty="0"/>
          </a:p>
          <a:p>
            <a:r>
              <a:rPr lang="es-MX" dirty="0"/>
              <a:t>El </a:t>
            </a:r>
            <a:r>
              <a:rPr lang="es-MX" dirty="0" err="1"/>
              <a:t>Faqih</a:t>
            </a:r>
            <a:r>
              <a:rPr lang="es-MX" dirty="0"/>
              <a:t>. (s.f.). Bruno API Client (Cliente API) [Video]. YouTube. </a:t>
            </a:r>
            <a:r>
              <a:rPr lang="es-MX" dirty="0">
                <a:hlinkClick r:id="rId3"/>
              </a:rPr>
              <a:t>https://youtu.be/OOTPARGWm08</a:t>
            </a:r>
            <a:endParaRPr lang="es-MX" dirty="0"/>
          </a:p>
          <a:p>
            <a:r>
              <a:rPr lang="es-MX" dirty="0" err="1"/>
              <a:t>Geek</a:t>
            </a:r>
            <a:r>
              <a:rPr lang="es-MX" dirty="0"/>
              <a:t> QA. (s.f.). Pruebas de </a:t>
            </a:r>
            <a:r>
              <a:rPr lang="es-MX" dirty="0" err="1"/>
              <a:t>APIs</a:t>
            </a:r>
            <a:r>
              <a:rPr lang="es-MX" dirty="0"/>
              <a:t> con POSTMAN  | Ejemplo 100% práctico [Video]. YouTube. </a:t>
            </a:r>
            <a:r>
              <a:rPr lang="es-MX" dirty="0">
                <a:hlinkClick r:id="rId4"/>
              </a:rPr>
              <a:t>https://youtu.be/FQAQO90LoQU</a:t>
            </a:r>
            <a:endParaRPr lang="es-MX" dirty="0"/>
          </a:p>
          <a:p>
            <a:r>
              <a:rPr lang="es-MX" dirty="0"/>
              <a:t>Aquino Villanueva, R. (2026). ABD-E-J-26. GitHub. </a:t>
            </a:r>
            <a:r>
              <a:rPr lang="es-MX" dirty="0">
                <a:hlinkClick r:id="rId5"/>
              </a:rPr>
              <a:t>https://github.com/rafaelrav8770/ABD-E-J-26.git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6335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861</Words>
  <Application>Microsoft Office PowerPoint</Application>
  <PresentationFormat>Panorámica</PresentationFormat>
  <Paragraphs>76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justificacion</vt:lpstr>
      <vt:lpstr>Pruebas de software</vt:lpstr>
      <vt:lpstr>Pruebas POSTMAN</vt:lpstr>
      <vt:lpstr>Presentación de PowerPoint</vt:lpstr>
      <vt:lpstr>Pruebas junit y mockito </vt:lpstr>
      <vt:lpstr>Pruebas del microservicio en Bruno</vt:lpstr>
      <vt:lpstr>Actualización de registro (PUT) con bruno</vt:lpstr>
      <vt:lpstr>Presentación de PowerPoint</vt:lpstr>
      <vt:lpstr>FUENTE DE INFORMACION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57</cp:revision>
  <dcterms:created xsi:type="dcterms:W3CDTF">2026-02-14T13:39:49Z</dcterms:created>
  <dcterms:modified xsi:type="dcterms:W3CDTF">2026-05-30T05:39:47Z</dcterms:modified>
</cp:coreProperties>
</file>